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84565"/>
  </p:normalViewPr>
  <p:slideViewPr>
    <p:cSldViewPr snapToGrid="0" snapToObjects="1">
      <p:cViewPr varScale="1">
        <p:scale>
          <a:sx n="134" d="100"/>
          <a:sy n="134" d="100"/>
        </p:scale>
        <p:origin x="776" y="184"/>
      </p:cViewPr>
      <p:guideLst/>
    </p:cSldViewPr>
  </p:slideViewPr>
  <p:notesTextViewPr>
    <p:cViewPr>
      <p:scale>
        <a:sx n="1" d="1"/>
        <a:sy n="1" d="1"/>
      </p:scale>
      <p:origin x="0" y="-639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2400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"Both features will demo on 12 October. What's actually at risk is running it </a:t>
            </a:r>
            <a:r>
              <a:rPr lang="en-GB" sz="1200" kern="1200" dirty="0">
                <a:solidFill>
                  <a:schemeClr val="tx1"/>
                </a:solidFill>
                <a:effectLst/>
                <a:latin typeface="+mn-lt"/>
                <a:ea typeface="+mn-ea"/>
                <a:cs typeface="+mn-cs"/>
              </a:rPr>
              <a:t>*</a:t>
            </a:r>
            <a:r>
              <a:rPr lang="en-GB" dirty="0"/>
              <a:t>unsupervised</a:t>
            </a:r>
            <a:r>
              <a:rPr lang="en-GB" sz="1200" kern="1200" dirty="0">
                <a:solidFill>
                  <a:schemeClr val="tx1"/>
                </a:solidFill>
                <a:effectLst/>
                <a:latin typeface="+mn-lt"/>
                <a:ea typeface="+mn-ea"/>
                <a:cs typeface="+mn-cs"/>
              </a:rPr>
              <a:t>*</a:t>
            </a:r>
            <a:r>
              <a:rPr lang="en-GB" dirty="0"/>
              <a:t> — and that's decided by something neither feature touches. You've read the repo, so I'd rather spend this session on the calls that are contestable than walk you through the plan.”</a:t>
            </a:r>
            <a:br>
              <a:rPr lang="en-GB" dirty="0"/>
            </a:br>
            <a:br>
              <a:rPr lang="en-GB" dirty="0"/>
            </a:br>
            <a:r>
              <a:rPr lang="en-US" dirty="0"/>
              <a:t>The three numbers are the whole story in miniature.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not read this slide out. Give them fifteen seconds to re-orient, say the one line about the ten-minute path, and move on. Its real job is to be the slide you flip back to when someone asks where something lives.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 is not that either chain is long. It is that they aren’t traced end to end, and they meet at the cell re-test. Note the float on the software chain — that is why a2 is not, in the end, the binding constraint.</a:t>
            </a:r>
          </a:p>
          <a:p>
            <a:endParaRPr lang="en-GB" dirty="0"/>
          </a:p>
          <a:p>
            <a:r>
              <a:rPr lang="en-GB" dirty="0"/>
              <a:t> The software side finishes early and then waits; the firmware side is the one that actually binds. They meet at the cell re-test, and everything after that is a ten-working-day external lead time we don't control.</a:t>
            </a:r>
          </a:p>
          <a:p>
            <a:endParaRPr lang="en-GB" dirty="0"/>
          </a:p>
          <a:p>
            <a:r>
              <a:rPr lang="en-GB" dirty="0"/>
              <a:t>3bands, 1 timeline: the software chain across the top, the firmware chain in the middle, and the gate they both feed at the bottom. The grey block on the software row is nine working days of float — that's why a2 finishing early doesn't actually help, because the firmware chain is what binds. The red line is the wall: the last day we can submit to the inspector and still have a signed-off cell on 12 October." </a:t>
            </a:r>
            <a:r>
              <a:rPr lang="en-GB" sz="1200" kern="1200" dirty="0">
                <a:solidFill>
                  <a:schemeClr val="tx1"/>
                </a:solidFill>
                <a:effectLst/>
                <a:latin typeface="+mn-lt"/>
                <a:ea typeface="+mn-ea"/>
                <a:cs typeface="+mn-cs"/>
              </a:rPr>
              <a:t>**</a:t>
            </a:r>
            <a:r>
              <a:rPr lang="en-GB" dirty="0"/>
              <a:t>If asked why the float is drawn at all:</a:t>
            </a:r>
            <a:r>
              <a:rPr lang="en-GB" sz="1200" kern="1200" dirty="0">
                <a:solidFill>
                  <a:schemeClr val="tx1"/>
                </a:solidFill>
                <a:effectLst/>
                <a:latin typeface="+mn-lt"/>
                <a:ea typeface="+mn-ea"/>
                <a:cs typeface="+mn-cs"/>
              </a:rPr>
              <a:t>**</a:t>
            </a:r>
            <a:r>
              <a:rPr lang="en-GB" dirty="0"/>
              <a:t> it's the only reserve on that path, and showing it stops anyone filling it with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One question to Chris in week one decides which plan we're running. Q-A asks whether the firmware can split; Q-B asks whether that split is worth having. I'll be straight with you — my first answer here was Plan A, and drawing the resources changed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cut has a number from the supplied data, not a judgement. The adjacency one is the sharpest: over-flagging is correct for a safety system and wrong for a cost-reduction tool, because over-flagging is the failure mode the feature was funded to prevent.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IW-L1-01 detail is worth having ready: its height changed 2700 to 2750 but weightKg stayed at 85, while every other resized panel had weight recalculated. Someone edited by hand. Nobody asked for that check; it falls out of the diff for free.</a:t>
            </a:r>
          </a:p>
          <a:p>
            <a:endParaRPr lang="en-US" dirty="0"/>
          </a:p>
          <a:p>
            <a:r>
              <a:rPr lang="en-GB" dirty="0"/>
              <a:t>Two things went in that weren't in the hand-over, and both fell out of running the fixtures rather than reading the briefs. Four panels genuinely need re-making; two just need re-queueing for nothing; one is standing in a building. And three separate blockers turned out to be one document nobody had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6, the run-state machine, was the closest runner-up. Rejected because its central question — what a remote stop does to a half-made panel — is already answered by the sample stream: the cell stops mid-panel and resumes from_panel_start. It costs one panel.</a:t>
            </a:r>
          </a:p>
          <a:p>
            <a:endParaRPr lang="en-US" dirty="0"/>
          </a:p>
          <a:p>
            <a:r>
              <a:rPr lang="en-GB" dirty="0"/>
              <a:t>"The brief asks for one slice. I took a2 and a3 because a3 had no owner and sat on the critical path — that's a lead's job, not a volunteer's. The second slice exists to settle an architectural disagreement with a passing test instead of a meeting. Can I show you it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is the one to volunteer. It is the assumption the entire firmware split rests on, and it is answerable with a phone call to the inspector rather than a design decision by me.</a:t>
            </a:r>
          </a:p>
          <a:p>
            <a:endParaRPr lang="en-US" dirty="0"/>
          </a:p>
          <a:p>
            <a:r>
              <a:rPr lang="en-GB" dirty="0"/>
              <a:t>"There are ten assumptions in the plan; these four decide the outcome. Each one is written so it can be proved wrong — if it can't be, it's a preference wearing a suit. A2 is the one I'd most like answered, and it's a phone call to the inspector rather than a design decision by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 plan does not stall waiting for answers. Six things start immediately, and the two questions that select the plan are answered inside week one.</a:t>
            </a:r>
          </a:p>
          <a:p>
            <a:endParaRPr lang="en-US" dirty="0"/>
          </a:p>
          <a:p>
            <a:r>
              <a:rPr lang="en-GB" dirty="0"/>
              <a:t>None of this waits on a decision. Six things start immediately, and the two questions that select the plan get answered inside week one. The point is that the plan doesn't stall while I'm waiting for anybody.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Naming your own weak points frames them; leaving them costs you the framing. The firmware split is genuinely the most exposed thing in the plan and saying so first is the strongest move available.</a:t>
            </a:r>
          </a:p>
          <a:p>
            <a:endParaRPr lang="en-US" dirty="0"/>
          </a:p>
          <a:p>
            <a:r>
              <a:rPr lang="en-GB" dirty="0"/>
              <a:t>I'd rather name these than have you find them. In order of exposure — and the first one is genuinely the most exposed thing in the whole plan. The firmware split is my invention; the principle behind it is sound, but the mechanism may not survive contact with someone who actually ships embedded releases.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these are real questions, not rhetorical ones. If they push on the two-slices point, the honest answer is that slice 2 exists to settle the previousSpec disagreement with a passing test rather than an argument.</a:t>
            </a:r>
          </a:p>
          <a:p>
            <a:endParaRPr lang="en-US" dirty="0"/>
          </a:p>
          <a:p>
            <a:r>
              <a:rPr lang="en-GB" dirty="0"/>
              <a:t>These are the calls I'd most like to be argued out of, and they're real questions rather than rhetorical ones. Every one of them is somewhere I made a decision without the person it affects in the room. Where would you start?</a:t>
            </a:r>
          </a:p>
          <a:p>
            <a:endParaRPr lang="en-GB" dirty="0"/>
          </a:p>
          <a:p>
            <a:endParaRPr lang="en-GB" dirty="0"/>
          </a:p>
          <a:p>
            <a:r>
              <a:rPr lang="en-US" dirty="0"/>
              <a:t>## Slide 11 — drafted replies</a:t>
            </a:r>
          </a:p>
          <a:p>
            <a:endParaRPr lang="en-US" dirty="0"/>
          </a:p>
          <a:p>
            <a:r>
              <a:rPr lang="en-US" dirty="0"/>
              <a:t>**How to answer all five:** concede the real part first, then give the case.</a:t>
            </a:r>
          </a:p>
          <a:p>
            <a:r>
              <a:rPr lang="en-US" dirty="0"/>
              <a:t>Leading with the </a:t>
            </a:r>
            <a:r>
              <a:rPr lang="en-US" dirty="0" err="1"/>
              <a:t>defence</a:t>
            </a:r>
            <a:r>
              <a:rPr lang="en-US" dirty="0"/>
              <a:t> makes a genuine question sound like an attack you're</a:t>
            </a:r>
          </a:p>
          <a:p>
            <a:r>
              <a:rPr lang="en-US" dirty="0"/>
              <a:t>parrying. Every one of these has something true in it.</a:t>
            </a:r>
          </a:p>
          <a:p>
            <a:endParaRPr lang="en-US" dirty="0"/>
          </a:p>
          <a:p>
            <a:r>
              <a:rPr lang="en-US" dirty="0"/>
              <a:t>---</a:t>
            </a:r>
          </a:p>
          <a:p>
            <a:endParaRPr lang="en-US" dirty="0"/>
          </a:p>
          <a:p>
            <a:r>
              <a:rPr lang="en-US" dirty="0"/>
              <a:t>### 1. Am I right to overrule Jo on the cutover?</a:t>
            </a:r>
          </a:p>
          <a:p>
            <a:endParaRPr lang="en-US" dirty="0"/>
          </a:p>
          <a:p>
            <a:r>
              <a:rPr lang="en-US" dirty="0"/>
              <a:t>"Jo's principle is correct — half-migrated *is* worse than either end, and I'd</a:t>
            </a:r>
          </a:p>
          <a:p>
            <a:r>
              <a:rPr lang="en-US" dirty="0"/>
              <a:t>argue the same thing in Jo's position. The disagreement isn't the principle,</a:t>
            </a:r>
          </a:p>
          <a:p>
            <a:r>
              <a:rPr lang="en-US" dirty="0"/>
              <a:t>it's whether it survives this calendar. Jo has 2.8 weeks of capacity before a</a:t>
            </a:r>
          </a:p>
          <a:p>
            <a:r>
              <a:rPr lang="en-US" dirty="0"/>
              <a:t>target that needs 4.5, and is away weeks four and five, so the week-three</a:t>
            </a:r>
          </a:p>
          <a:p>
            <a:r>
              <a:rPr lang="en-US" dirty="0"/>
              <a:t>cutover isn't a plan — it's a wish. And a single-PR cutover landing week seven</a:t>
            </a:r>
          </a:p>
          <a:p>
            <a:r>
              <a:rPr lang="en-US" dirty="0"/>
              <a:t>with seven weeks of new code on top is exactly the outcome Jo is warning about.</a:t>
            </a:r>
          </a:p>
          <a:p>
            <a:endParaRPr lang="en-US" dirty="0"/>
          </a:p>
          <a:p>
            <a:r>
              <a:rPr lang="en-US" dirty="0"/>
              <a:t>Where I'm weak: I've never seen the read paths and Jo has. That's why the</a:t>
            </a:r>
          </a:p>
          <a:p>
            <a:r>
              <a:rPr lang="en-US" dirty="0"/>
              <a:t>read-path inventory is week-one work — it's a day, and if the remainder is under</a:t>
            </a:r>
          </a:p>
          <a:p>
            <a:r>
              <a:rPr lang="en-US" dirty="0"/>
              <a:t>1.5 weeks then Jo's plan works and my adapter is over-engineering. The adapter</a:t>
            </a:r>
          </a:p>
          <a:p>
            <a:r>
              <a:rPr lang="en-US" dirty="0"/>
              <a:t>is two days and gets deleted at cutover, so the insurance is cheap either way."</a:t>
            </a:r>
          </a:p>
          <a:p>
            <a:endParaRPr lang="en-US" dirty="0"/>
          </a:p>
          <a:p>
            <a:r>
              <a:rPr lang="en-US" dirty="0"/>
              <a:t>---</a:t>
            </a:r>
          </a:p>
          <a:p>
            <a:endParaRPr lang="en-US" dirty="0"/>
          </a:p>
          <a:p>
            <a:r>
              <a:rPr lang="en-US" dirty="0"/>
              <a:t>### 2. Is PR-6 scope creep dressed as insight?</a:t>
            </a:r>
          </a:p>
          <a:p>
            <a:endParaRPr lang="en-US" dirty="0"/>
          </a:p>
          <a:p>
            <a:r>
              <a:rPr lang="en-US" dirty="0"/>
              <a:t>"Fair challenge, and I'd push back on one word: I didn't add scope, I moved it.</a:t>
            </a:r>
          </a:p>
          <a:p>
            <a:r>
              <a:rPr lang="en-US" dirty="0"/>
              <a:t>PR-5 already existed — surfacing cost before approval — it was just marked</a:t>
            </a:r>
          </a:p>
          <a:p>
            <a:r>
              <a:rPr lang="en-US" dirty="0"/>
              <a:t>*Should*. The whole business case is a money number, so shipping the mechanism</a:t>
            </a:r>
          </a:p>
          <a:p>
            <a:r>
              <a:rPr lang="en-US" dirty="0"/>
              <a:t>without it leaves the production manager exactly where she is today, with a</a:t>
            </a:r>
          </a:p>
          <a:p>
            <a:r>
              <a:rPr lang="en-US" dirty="0"/>
              <a:t>tidier list.</a:t>
            </a:r>
          </a:p>
          <a:p>
            <a:endParaRPr lang="en-US" dirty="0"/>
          </a:p>
          <a:p>
            <a:r>
              <a:rPr lang="en-US" dirty="0"/>
              <a:t>The fixture makes it concrete: two of the seven changed panels cost nothing to</a:t>
            </a:r>
          </a:p>
          <a:p>
            <a:r>
              <a:rPr lang="en-US" dirty="0"/>
              <a:t>fix. A tool that shows all seven as equally affected reproduces the waste it was</a:t>
            </a:r>
          </a:p>
          <a:p>
            <a:r>
              <a:rPr lang="en-US" dirty="0"/>
              <a:t>funded to prevent.</a:t>
            </a:r>
          </a:p>
          <a:p>
            <a:endParaRPr lang="en-US" dirty="0"/>
          </a:p>
          <a:p>
            <a:r>
              <a:rPr lang="en-US" dirty="0"/>
              <a:t>Where I'm weak: I promoted a Must story having never met the person who'd use</a:t>
            </a:r>
          </a:p>
          <a:p>
            <a:r>
              <a:rPr lang="en-US" dirty="0"/>
              <a:t>it. If Robin tells me she already knows the cost model well enough to decide</a:t>
            </a:r>
          </a:p>
          <a:p>
            <a:r>
              <a:rPr lang="en-US" dirty="0"/>
              <a:t>from status alone, I'd drop it — she does this by hand today, so that's</a:t>
            </a:r>
          </a:p>
          <a:p>
            <a:r>
              <a:rPr lang="en-US" dirty="0"/>
              <a:t>entirely plausible."</a:t>
            </a:r>
          </a:p>
          <a:p>
            <a:endParaRPr lang="en-US" dirty="0"/>
          </a:p>
          <a:p>
            <a:r>
              <a:rPr lang="en-US" dirty="0"/>
              <a:t>---</a:t>
            </a:r>
          </a:p>
          <a:p>
            <a:endParaRPr lang="en-US" dirty="0"/>
          </a:p>
          <a:p>
            <a:r>
              <a:rPr lang="en-US" dirty="0"/>
              <a:t>### 3. Should a2 really start on day one?</a:t>
            </a:r>
          </a:p>
          <a:p>
            <a:endParaRPr lang="en-US" dirty="0"/>
          </a:p>
          <a:p>
            <a:r>
              <a:rPr lang="en-US" dirty="0"/>
              <a:t>"Honestly — probably, but not for the reason I first gave. My original argument</a:t>
            </a:r>
          </a:p>
          <a:p>
            <a:r>
              <a:rPr lang="en-US" dirty="0"/>
              <a:t>was that a2 is the binding constraint. Once I admitted the firmware chain, that</a:t>
            </a:r>
          </a:p>
          <a:p>
            <a:r>
              <a:rPr lang="en-US" dirty="0"/>
              <a:t>stopped being true: a2 and a3 carry about nine working days of float. So the</a:t>
            </a:r>
          </a:p>
          <a:p>
            <a:r>
              <a:rPr lang="en-US" dirty="0"/>
              <a:t>first justification was wrong and I'd rather say that than defend it.</a:t>
            </a:r>
          </a:p>
          <a:p>
            <a:endParaRPr lang="en-US" dirty="0"/>
          </a:p>
          <a:p>
            <a:r>
              <a:rPr lang="en-US" dirty="0"/>
              <a:t>The reasons that survive are weaker but real. a3 needs rig time from Chris, who</a:t>
            </a:r>
          </a:p>
          <a:p>
            <a:r>
              <a:rPr lang="en-US" dirty="0"/>
              <a:t>is 0.8 FTE and on the commissioning site one day a week — scheduling it is</a:t>
            </a:r>
          </a:p>
          <a:p>
            <a:r>
              <a:rPr lang="en-US" dirty="0"/>
              <a:t>harder than doing it. And a2/a3 was the unowned work in the pack; picking it up</a:t>
            </a:r>
          </a:p>
          <a:p>
            <a:r>
              <a:rPr lang="en-US" dirty="0"/>
              <a:t>on day one is as much a signal as a schedule item.</a:t>
            </a:r>
          </a:p>
          <a:p>
            <a:endParaRPr lang="en-US" dirty="0"/>
          </a:p>
          <a:p>
            <a:r>
              <a:rPr lang="en-US" dirty="0"/>
              <a:t>If Chris says rig time books easily, the urgency drops and a2 could start in</a:t>
            </a:r>
          </a:p>
          <a:p>
            <a:r>
              <a:rPr lang="en-US" dirty="0"/>
              <a:t>week two at no cost."</a:t>
            </a:r>
          </a:p>
          <a:p>
            <a:endParaRPr lang="en-US" dirty="0"/>
          </a:p>
          <a:p>
            <a:r>
              <a:rPr lang="en-US" dirty="0"/>
              <a:t>---</a:t>
            </a:r>
          </a:p>
          <a:p>
            <a:endParaRPr lang="en-US" dirty="0"/>
          </a:p>
          <a:p>
            <a:r>
              <a:rPr lang="en-US" dirty="0"/>
              <a:t>### 4. Is two slices one too many?</a:t>
            </a:r>
          </a:p>
          <a:p>
            <a:endParaRPr lang="en-US" dirty="0"/>
          </a:p>
          <a:p>
            <a:r>
              <a:rPr lang="en-US" dirty="0"/>
              <a:t>"Probably, yes — and this is the weakest of my calls on volume.</a:t>
            </a:r>
          </a:p>
          <a:p>
            <a:endParaRPr lang="en-US" dirty="0"/>
          </a:p>
          <a:p>
            <a:r>
              <a:rPr lang="en-US" dirty="0"/>
              <a:t>The case for the second is that it isn't extra engineering for its own sake. It</a:t>
            </a:r>
          </a:p>
          <a:p>
            <a:r>
              <a:rPr lang="en-US" dirty="0"/>
              <a:t>settles the Alex-versus-Jo schema disagreement with a passing test instead of a</a:t>
            </a:r>
          </a:p>
          <a:p>
            <a:r>
              <a:rPr lang="en-US" dirty="0"/>
              <a:t>meeting, which is a leadership move rather than a coding one. If I can hand Alex</a:t>
            </a:r>
          </a:p>
          <a:p>
            <a:r>
              <a:rPr lang="en-US" dirty="0"/>
              <a:t>a working `</a:t>
            </a:r>
            <a:r>
              <a:rPr lang="en-US" dirty="0" err="1"/>
              <a:t>classifyRevision</a:t>
            </a:r>
            <a:r>
              <a:rPr lang="en-US" dirty="0"/>
              <a:t>(previous, next)` that never touches `</a:t>
            </a:r>
            <a:r>
              <a:rPr lang="en-US" dirty="0" err="1"/>
              <a:t>previousSpec</a:t>
            </a:r>
            <a:r>
              <a:rPr lang="en-US" dirty="0"/>
              <a:t>`,</a:t>
            </a:r>
          </a:p>
          <a:p>
            <a:r>
              <a:rPr lang="en-US" dirty="0"/>
              <a:t>that argument is over without anyone losing it.</a:t>
            </a:r>
          </a:p>
          <a:p>
            <a:endParaRPr lang="en-US" dirty="0"/>
          </a:p>
          <a:p>
            <a:r>
              <a:rPr lang="en-US" dirty="0"/>
              <a:t>But the brief said pick one and keep it small, and 223 tests across two slices</a:t>
            </a:r>
          </a:p>
          <a:p>
            <a:r>
              <a:rPr lang="en-US" dirty="0"/>
              <a:t>plus nine documents is not small. If part of what you're testing is whether I</a:t>
            </a:r>
          </a:p>
          <a:p>
            <a:r>
              <a:rPr lang="en-US" dirty="0"/>
              <a:t>can scope down under time pressure, I didn't pass that. I'll be straight about</a:t>
            </a:r>
          </a:p>
          <a:p>
            <a:r>
              <a:rPr lang="en-US" dirty="0"/>
              <a:t>my incentive too — in an interview I'd rather be asked why so much than why so</a:t>
            </a:r>
          </a:p>
          <a:p>
            <a:r>
              <a:rPr lang="en-US" dirty="0"/>
              <a:t>little, and that's my interest, not the company's. In a real week one, the</a:t>
            </a:r>
          </a:p>
          <a:p>
            <a:r>
              <a:rPr lang="en-US" dirty="0"/>
              <a:t>second slice waits."</a:t>
            </a:r>
          </a:p>
          <a:p>
            <a:endParaRPr lang="en-US" dirty="0"/>
          </a:p>
          <a:p>
            <a:r>
              <a:rPr lang="en-US" dirty="0"/>
              <a:t>---</a:t>
            </a:r>
          </a:p>
          <a:p>
            <a:endParaRPr lang="en-US" dirty="0"/>
          </a:p>
          <a:p>
            <a:r>
              <a:rPr lang="en-US" dirty="0"/>
              <a:t>### 5. Have I over-trusted a 29-event sample?</a:t>
            </a:r>
          </a:p>
          <a:p>
            <a:endParaRPr lang="en-US" dirty="0"/>
          </a:p>
          <a:p>
            <a:r>
              <a:rPr lang="en-US" dirty="0"/>
              <a:t>"Yes, in places — and Chris warned me. His words were 'same event shape,</a:t>
            </a:r>
          </a:p>
          <a:p>
            <a:r>
              <a:rPr lang="en-US" dirty="0"/>
              <a:t>different cadence.'</a:t>
            </a:r>
          </a:p>
          <a:p>
            <a:endParaRPr lang="en-US" dirty="0"/>
          </a:p>
          <a:p>
            <a:r>
              <a:rPr lang="en-US" dirty="0"/>
              <a:t>The split I'd draw: the *structural* findings hold regardless of cadence. Two</a:t>
            </a:r>
          </a:p>
          <a:p>
            <a:r>
              <a:rPr lang="en-US" dirty="0"/>
              <a:t>legitimate `</a:t>
            </a:r>
            <a:r>
              <a:rPr lang="en-US" dirty="0" err="1"/>
              <a:t>nailing.started</a:t>
            </a:r>
            <a:r>
              <a:rPr lang="en-US" dirty="0"/>
              <a:t>` events for the same panel, no sequence number, no</a:t>
            </a:r>
          </a:p>
          <a:p>
            <a:r>
              <a:rPr lang="en-US" dirty="0"/>
              <a:t>clock authority — those are schema defects and they'd still be true in a</a:t>
            </a:r>
          </a:p>
          <a:p>
            <a:r>
              <a:rPr lang="en-US" dirty="0"/>
              <a:t>thousand-event stream.</a:t>
            </a:r>
          </a:p>
          <a:p>
            <a:endParaRPr lang="en-US" dirty="0"/>
          </a:p>
          <a:p>
            <a:r>
              <a:rPr lang="en-US" dirty="0"/>
              <a:t>What I shouldn't have leaned on: buffer sizing, mean panel cycle, and the</a:t>
            </a:r>
          </a:p>
          <a:p>
            <a:r>
              <a:rPr lang="en-US" dirty="0"/>
              <a:t>`</a:t>
            </a:r>
            <a:r>
              <a:rPr lang="en-US" dirty="0" err="1"/>
              <a:t>cycleSeconds</a:t>
            </a:r>
            <a:r>
              <a:rPr lang="en-US" dirty="0"/>
              <a:t>` reconciliation. I caveated the buffer number and then quoted it</a:t>
            </a:r>
          </a:p>
          <a:p>
            <a:r>
              <a:rPr lang="en-US" dirty="0"/>
              <a:t>anyway. And the 388-second cycle drives a UI requirement — the stop wait-state</a:t>
            </a:r>
          </a:p>
          <a:p>
            <a:r>
              <a:rPr lang="en-US" dirty="0"/>
              <a:t>countdown — off three panels, two of which report *identical* </a:t>
            </a:r>
            <a:r>
              <a:rPr lang="en-US" dirty="0" err="1"/>
              <a:t>cycleSeconds</a:t>
            </a:r>
            <a:r>
              <a:rPr lang="en-US" dirty="0"/>
              <a:t>,</a:t>
            </a:r>
          </a:p>
          <a:p>
            <a:r>
              <a:rPr lang="en-US" dirty="0"/>
              <a:t>which smells synthetic. One real run in week two settles all three."</a:t>
            </a:r>
          </a:p>
          <a:p>
            <a:endParaRPr lang="en-US" dirty="0"/>
          </a:p>
          <a:p>
            <a:r>
              <a:rPr lang="en-US" dirty="0"/>
              <a:t>---</a:t>
            </a:r>
          </a:p>
          <a:p>
            <a:endParaRPr lang="en-US" dirty="0"/>
          </a:p>
          <a:p>
            <a:r>
              <a:rPr lang="en-US" dirty="0"/>
              <a:t>### 6. Volunteer this one — I under-weighted Q-B</a:t>
            </a:r>
          </a:p>
          <a:p>
            <a:endParaRPr lang="en-US" dirty="0"/>
          </a:p>
          <a:p>
            <a:r>
              <a:rPr lang="en-US" dirty="0"/>
              <a:t>"One I'd add. I framed Q-B as being about Fleet Monitor's integration time, and</a:t>
            </a:r>
          </a:p>
          <a:p>
            <a:r>
              <a:rPr lang="en-US" dirty="0"/>
              <a:t>it's bigger than that. Under Plan A, v4.2b deploys 1–2 October and sign-off</a:t>
            </a:r>
          </a:p>
          <a:p>
            <a:r>
              <a:rPr lang="en-US" dirty="0"/>
              <a:t>lands on the 7th — so it isn't landing after the inspector signs, it's landing</a:t>
            </a:r>
          </a:p>
          <a:p>
            <a:r>
              <a:rPr lang="en-US" dirty="0"/>
              <a:t>*during* their review window, after they have our evidence.</a:t>
            </a:r>
          </a:p>
          <a:p>
            <a:endParaRPr lang="en-US" dirty="0"/>
          </a:p>
          <a:p>
            <a:r>
              <a:rPr lang="en-US" dirty="0"/>
              <a:t>If run events ride in the early half, v4.2b never touches the cell before the</a:t>
            </a:r>
          </a:p>
          <a:p>
            <a:r>
              <a:rPr lang="en-US" dirty="0"/>
              <a:t>demo and that problem disappears entirely. So Q-B decides whether we modify the</a:t>
            </a:r>
          </a:p>
          <a:p>
            <a:r>
              <a:rPr lang="en-US" dirty="0"/>
              <a:t>machine while it's under review, not just how much integration time we get.</a:t>
            </a:r>
          </a:p>
          <a:p>
            <a:r>
              <a:rPr lang="en-US" dirty="0"/>
              <a:t>That's a stronger argument for Plan B than the one on slide 4 — Plan B carries</a:t>
            </a:r>
          </a:p>
          <a:p>
            <a:r>
              <a:rPr lang="en-US" dirty="0"/>
              <a:t>no version bet at 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present these. This slide exists so you can say 'that is in appendix C' and get there in one move.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a:effectLst/>
      </p:bgPr>
    </p:bg>
    <p:spTree>
      <p:nvGrpSpPr>
        <p:cNvPr id="1" name=""/>
        <p:cNvGrpSpPr/>
        <p:nvPr/>
      </p:nvGrpSpPr>
      <p:grpSpPr>
        <a:xfrm>
          <a:off x="0" y="0"/>
          <a:ext cx="0" cy="0"/>
          <a:chOff x="0" y="0"/>
          <a:chExt cx="0" cy="0"/>
        </a:xfrm>
      </p:grpSpPr>
      <p:sp>
        <p:nvSpPr>
          <p:cNvPr id="2" name="Text 0"/>
          <p:cNvSpPr/>
          <p:nvPr/>
        </p:nvSpPr>
        <p:spPr>
          <a:xfrm>
            <a:off x="640080" y="685800"/>
            <a:ext cx="10881360" cy="365760"/>
          </a:xfrm>
          <a:prstGeom prst="rect">
            <a:avLst/>
          </a:prstGeom>
          <a:noFill/>
          <a:ln/>
        </p:spPr>
        <p:txBody>
          <a:bodyPr wrap="square" lIns="0" tIns="0" rIns="0" bIns="0" rtlCol="0" anchor="ctr"/>
          <a:lstStyle/>
          <a:p>
            <a:pPr marL="0" indent="0">
              <a:buNone/>
            </a:pPr>
            <a:r>
              <a:rPr lang="en-US" sz="1500" b="1" kern="0" spc="300" dirty="0">
                <a:solidFill>
                  <a:srgbClr val="B8621B"/>
                </a:solidFill>
                <a:latin typeface="Calibri" pitchFamily="34" charset="0"/>
                <a:ea typeface="Calibri" pitchFamily="34" charset="-122"/>
                <a:cs typeface="Calibri" pitchFamily="34" charset="-120"/>
              </a:rPr>
              <a:t>AUAR</a:t>
            </a:r>
            <a:endParaRPr lang="en-US" sz="1500" dirty="0"/>
          </a:p>
        </p:txBody>
      </p:sp>
      <p:sp>
        <p:nvSpPr>
          <p:cNvPr id="3" name="Text 1"/>
          <p:cNvSpPr/>
          <p:nvPr/>
        </p:nvSpPr>
        <p:spPr>
          <a:xfrm>
            <a:off x="640080" y="1051560"/>
            <a:ext cx="10881360" cy="411480"/>
          </a:xfrm>
          <a:prstGeom prst="rect">
            <a:avLst/>
          </a:prstGeom>
          <a:noFill/>
          <a:ln/>
        </p:spPr>
        <p:txBody>
          <a:bodyPr wrap="square" lIns="0" tIns="0" rIns="0" bIns="0" rtlCol="0" anchor="ctr"/>
          <a:lstStyle/>
          <a:p>
            <a:pPr marL="0" indent="0">
              <a:buNone/>
            </a:pPr>
            <a:r>
              <a:rPr lang="en-US" sz="1600" dirty="0">
                <a:solidFill>
                  <a:srgbClr val="A8B0BC"/>
                </a:solidFill>
                <a:latin typeface="Calibri" pitchFamily="34" charset="0"/>
                <a:ea typeface="Calibri" pitchFamily="34" charset="-122"/>
                <a:cs typeface="Calibri" pitchFamily="34" charset="-120"/>
              </a:rPr>
              <a:t>Software Engineering Lead</a:t>
            </a:r>
            <a:endParaRPr lang="en-US" sz="1600" dirty="0"/>
          </a:p>
        </p:txBody>
      </p:sp>
      <p:sp>
        <p:nvSpPr>
          <p:cNvPr id="4" name="Text 2"/>
          <p:cNvSpPr/>
          <p:nvPr/>
        </p:nvSpPr>
        <p:spPr>
          <a:xfrm>
            <a:off x="640080" y="1828800"/>
            <a:ext cx="10424160" cy="6858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Both features demo on 12 October.</a:t>
            </a:r>
            <a:endParaRPr lang="en-US" sz="4000" dirty="0"/>
          </a:p>
        </p:txBody>
      </p:sp>
      <p:sp>
        <p:nvSpPr>
          <p:cNvPr id="5" name="Text 3"/>
          <p:cNvSpPr/>
          <p:nvPr/>
        </p:nvSpPr>
        <p:spPr>
          <a:xfrm>
            <a:off x="640080" y="2542032"/>
            <a:ext cx="10424160" cy="685800"/>
          </a:xfrm>
          <a:prstGeom prst="rect">
            <a:avLst/>
          </a:prstGeom>
          <a:noFill/>
          <a:ln/>
        </p:spPr>
        <p:txBody>
          <a:bodyPr wrap="square" lIns="0" tIns="0" rIns="0" bIns="0" rtlCol="0" anchor="ctr"/>
          <a:lstStyle/>
          <a:p>
            <a:pPr marL="0" indent="0">
              <a:buNone/>
            </a:pPr>
            <a:r>
              <a:rPr lang="en-US" sz="4000" b="1" i="1" dirty="0">
                <a:solidFill>
                  <a:srgbClr val="B8621B"/>
                </a:solidFill>
                <a:latin typeface="Cambria" pitchFamily="34" charset="0"/>
                <a:ea typeface="Cambria" pitchFamily="34" charset="-122"/>
                <a:cs typeface="Cambria" pitchFamily="34" charset="-120"/>
              </a:rPr>
              <a:t>At Risk: an unsupervised demo.</a:t>
            </a:r>
            <a:endParaRPr lang="en-US" sz="4000" i="1" dirty="0"/>
          </a:p>
        </p:txBody>
      </p:sp>
      <p:sp>
        <p:nvSpPr>
          <p:cNvPr id="6" name="Text 4"/>
          <p:cNvSpPr/>
          <p:nvPr/>
        </p:nvSpPr>
        <p:spPr>
          <a:xfrm>
            <a:off x="640080" y="3886200"/>
            <a:ext cx="10424160" cy="329184"/>
          </a:xfrm>
          <a:prstGeom prst="rect">
            <a:avLst/>
          </a:prstGeom>
          <a:noFill/>
          <a:ln/>
        </p:spPr>
        <p:txBody>
          <a:bodyPr wrap="square" lIns="0" tIns="0" rIns="0" bIns="0" rtlCol="0" anchor="ctr"/>
          <a:lstStyle/>
          <a:p>
            <a:pPr marL="0" indent="0">
              <a:buNone/>
            </a:pPr>
            <a:r>
              <a:rPr lang="en-US" sz="1500" dirty="0">
                <a:solidFill>
                  <a:srgbClr val="A8B0BC"/>
                </a:solidFill>
                <a:latin typeface="Calibri" pitchFamily="34" charset="0"/>
                <a:ea typeface="Calibri" pitchFamily="34" charset="-122"/>
                <a:cs typeface="Calibri" pitchFamily="34" charset="-120"/>
              </a:rPr>
              <a:t>Delivery plan · two build slices · the reasoning behind both</a:t>
            </a:r>
            <a:endParaRPr lang="en-US" sz="1500" dirty="0"/>
          </a:p>
        </p:txBody>
      </p:sp>
      <p:sp>
        <p:nvSpPr>
          <p:cNvPr id="7" name="Text 5"/>
          <p:cNvSpPr/>
          <p:nvPr/>
        </p:nvSpPr>
        <p:spPr>
          <a:xfrm>
            <a:off x="640080" y="4261104"/>
            <a:ext cx="10424160" cy="329184"/>
          </a:xfrm>
          <a:prstGeom prst="rect">
            <a:avLst/>
          </a:prstGeom>
          <a:noFill/>
          <a:ln/>
        </p:spPr>
        <p:txBody>
          <a:bodyPr wrap="square" lIns="0" tIns="0" rIns="0" bIns="0" rtlCol="0" anchor="ctr"/>
          <a:lstStyle/>
          <a:p>
            <a:pPr marL="0" indent="0">
              <a:buNone/>
            </a:pPr>
            <a:r>
              <a:rPr lang="en-US" sz="1500" i="1" dirty="0">
                <a:solidFill>
                  <a:srgbClr val="6E7A8A"/>
                </a:solidFill>
                <a:latin typeface="Calibri" pitchFamily="34" charset="0"/>
                <a:ea typeface="Calibri" pitchFamily="34" charset="-122"/>
                <a:cs typeface="Calibri" pitchFamily="34" charset="-120"/>
              </a:rPr>
              <a:t>You have read the repository. This session is for the calls that are contestable.</a:t>
            </a:r>
            <a:endParaRPr lang="en-US" sz="1500" dirty="0"/>
          </a:p>
        </p:txBody>
      </p:sp>
      <p:sp>
        <p:nvSpPr>
          <p:cNvPr id="8" name="Text 6"/>
          <p:cNvSpPr/>
          <p:nvPr/>
        </p:nvSpPr>
        <p:spPr>
          <a:xfrm>
            <a:off x="640080" y="4983480"/>
            <a:ext cx="3383280" cy="603504"/>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24</a:t>
            </a:r>
            <a:endParaRPr lang="en-US" sz="4000" dirty="0"/>
          </a:p>
        </p:txBody>
      </p:sp>
      <p:sp>
        <p:nvSpPr>
          <p:cNvPr id="9" name="Text 7"/>
          <p:cNvSpPr/>
          <p:nvPr/>
        </p:nvSpPr>
        <p:spPr>
          <a:xfrm>
            <a:off x="640080" y="5596128"/>
            <a:ext cx="3200400" cy="658368"/>
          </a:xfrm>
          <a:prstGeom prst="rect">
            <a:avLst/>
          </a:prstGeom>
          <a:noFill/>
          <a:ln/>
        </p:spPr>
        <p:txBody>
          <a:bodyPr wrap="square" lIns="0" tIns="0" rIns="0" bIns="0" rtlCol="0" anchor="t"/>
          <a:lstStyle/>
          <a:p>
            <a:pPr marL="0" indent="0">
              <a:buNone/>
            </a:pPr>
            <a:r>
              <a:rPr lang="en-US" sz="1200" dirty="0">
                <a:solidFill>
                  <a:srgbClr val="8892A0"/>
                </a:solidFill>
                <a:latin typeface="Calibri" pitchFamily="34" charset="0"/>
                <a:ea typeface="Calibri" pitchFamily="34" charset="-122"/>
                <a:cs typeface="Calibri" pitchFamily="34" charset="-120"/>
              </a:rPr>
              <a:t>working days of pure sequence to an unsupervised demo</a:t>
            </a:r>
            <a:endParaRPr lang="en-US" sz="1200" dirty="0"/>
          </a:p>
        </p:txBody>
      </p:sp>
      <p:sp>
        <p:nvSpPr>
          <p:cNvPr id="10" name="Text 8"/>
          <p:cNvSpPr/>
          <p:nvPr/>
        </p:nvSpPr>
        <p:spPr>
          <a:xfrm>
            <a:off x="4251960" y="4983480"/>
            <a:ext cx="3383280" cy="603504"/>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49%</a:t>
            </a:r>
            <a:endParaRPr lang="en-US" sz="4000" dirty="0"/>
          </a:p>
        </p:txBody>
      </p:sp>
      <p:sp>
        <p:nvSpPr>
          <p:cNvPr id="11" name="Text 9"/>
          <p:cNvSpPr/>
          <p:nvPr/>
        </p:nvSpPr>
        <p:spPr>
          <a:xfrm>
            <a:off x="4251960" y="5596128"/>
            <a:ext cx="3200400" cy="658368"/>
          </a:xfrm>
          <a:prstGeom prst="rect">
            <a:avLst/>
          </a:prstGeom>
          <a:noFill/>
          <a:ln/>
        </p:spPr>
        <p:txBody>
          <a:bodyPr wrap="square" lIns="0" tIns="0" rIns="0" bIns="0" rtlCol="0" anchor="t"/>
          <a:lstStyle/>
          <a:p>
            <a:pPr marL="0" indent="0">
              <a:buNone/>
            </a:pPr>
            <a:r>
              <a:rPr lang="en-US" sz="1200" dirty="0">
                <a:solidFill>
                  <a:srgbClr val="8892A0"/>
                </a:solidFill>
                <a:latin typeface="Calibri" pitchFamily="34" charset="0"/>
                <a:ea typeface="Calibri" pitchFamily="34" charset="-122"/>
                <a:cs typeface="Calibri" pitchFamily="34" charset="-120"/>
              </a:rPr>
              <a:t>over capacity as handed over, before anything goes wrong</a:t>
            </a:r>
            <a:endParaRPr lang="en-US" sz="1200" dirty="0"/>
          </a:p>
        </p:txBody>
      </p:sp>
      <p:sp>
        <p:nvSpPr>
          <p:cNvPr id="12" name="Text 10"/>
          <p:cNvSpPr/>
          <p:nvPr/>
        </p:nvSpPr>
        <p:spPr>
          <a:xfrm>
            <a:off x="7863840" y="4983480"/>
            <a:ext cx="3383280" cy="603504"/>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13" name="Text 11"/>
          <p:cNvSpPr/>
          <p:nvPr/>
        </p:nvSpPr>
        <p:spPr>
          <a:xfrm>
            <a:off x="7863840" y="5596128"/>
            <a:ext cx="3200400" cy="658368"/>
          </a:xfrm>
          <a:prstGeom prst="rect">
            <a:avLst/>
          </a:prstGeom>
          <a:noFill/>
          <a:ln/>
        </p:spPr>
        <p:txBody>
          <a:bodyPr wrap="square" lIns="0" tIns="0" rIns="0" bIns="0" rtlCol="0" anchor="t"/>
          <a:lstStyle/>
          <a:p>
            <a:pPr marL="0" indent="0">
              <a:buNone/>
            </a:pPr>
            <a:r>
              <a:rPr lang="en-US" sz="1200" dirty="0">
                <a:solidFill>
                  <a:srgbClr val="8892A0"/>
                </a:solidFill>
                <a:latin typeface="Calibri" pitchFamily="34" charset="0"/>
                <a:ea typeface="Calibri" pitchFamily="34" charset="-122"/>
                <a:cs typeface="Calibri" pitchFamily="34" charset="-120"/>
              </a:rPr>
              <a:t>question in week one decides the shape of the plan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640080" y="329184"/>
            <a:ext cx="10881360"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A quick recap</a:t>
            </a:r>
            <a:endParaRPr lang="en-US" sz="3000" dirty="0"/>
          </a:p>
        </p:txBody>
      </p:sp>
      <p:sp>
        <p:nvSpPr>
          <p:cNvPr id="3" name="Text 1"/>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A map of the argument, and where each part lives if you want to go back to it.</a:t>
            </a:r>
            <a:endParaRPr lang="en-US" sz="1400" dirty="0"/>
          </a:p>
        </p:txBody>
      </p:sp>
      <p:sp>
        <p:nvSpPr>
          <p:cNvPr id="4" name="Text 2"/>
          <p:cNvSpPr/>
          <p:nvPr/>
        </p:nvSpPr>
        <p:spPr>
          <a:xfrm>
            <a:off x="640080" y="1463040"/>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097280" y="1444752"/>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The critical path runs somewhere unexpected</a:t>
            </a:r>
            <a:endParaRPr lang="en-US" sz="1350" dirty="0"/>
          </a:p>
        </p:txBody>
      </p:sp>
      <p:sp>
        <p:nvSpPr>
          <p:cNvPr id="6" name="Text 4"/>
          <p:cNvSpPr/>
          <p:nvPr/>
        </p:nvSpPr>
        <p:spPr>
          <a:xfrm>
            <a:off x="1097280" y="1755648"/>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Two chains converge on the cell re-test. Neither was traced end to end, and the longer one ends outside the company.</a:t>
            </a:r>
            <a:endParaRPr lang="en-US" sz="1100" dirty="0"/>
          </a:p>
        </p:txBody>
      </p:sp>
      <p:sp>
        <p:nvSpPr>
          <p:cNvPr id="7" name="Text 5"/>
          <p:cNvSpPr/>
          <p:nvPr/>
        </p:nvSpPr>
        <p:spPr>
          <a:xfrm>
            <a:off x="1097280" y="2139696"/>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01-delivery-plan.md</a:t>
            </a:r>
            <a:endParaRPr lang="en-US" sz="900" dirty="0"/>
          </a:p>
        </p:txBody>
      </p:sp>
      <p:sp>
        <p:nvSpPr>
          <p:cNvPr id="8" name="Text 6"/>
          <p:cNvSpPr/>
          <p:nvPr/>
        </p:nvSpPr>
        <p:spPr>
          <a:xfrm>
            <a:off x="640080" y="2432304"/>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097280" y="2414016"/>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One question in week one decides the plan's shape</a:t>
            </a:r>
            <a:endParaRPr lang="en-US" sz="1350" dirty="0"/>
          </a:p>
        </p:txBody>
      </p:sp>
      <p:sp>
        <p:nvSpPr>
          <p:cNvPr id="10" name="Text 8"/>
          <p:cNvSpPr/>
          <p:nvPr/>
        </p:nvSpPr>
        <p:spPr>
          <a:xfrm>
            <a:off x="1097280" y="2724912"/>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Can firmware split so the stop path ships before the re-test and observability after? Plan A and Plan B branch from that answer.</a:t>
            </a:r>
            <a:endParaRPr lang="en-US" sz="1100" dirty="0"/>
          </a:p>
        </p:txBody>
      </p:sp>
      <p:sp>
        <p:nvSpPr>
          <p:cNvPr id="11" name="Text 9"/>
          <p:cNvSpPr/>
          <p:nvPr/>
        </p:nvSpPr>
        <p:spPr>
          <a:xfrm>
            <a:off x="1097280" y="3108960"/>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03-demo-date-branch.md</a:t>
            </a:r>
            <a:endParaRPr lang="en-US" sz="900" dirty="0"/>
          </a:p>
        </p:txBody>
      </p:sp>
      <p:sp>
        <p:nvSpPr>
          <p:cNvPr id="12" name="Text 10"/>
          <p:cNvSpPr/>
          <p:nvPr/>
        </p:nvSpPr>
        <p:spPr>
          <a:xfrm>
            <a:off x="640080" y="3401568"/>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3</a:t>
            </a:r>
            <a:endParaRPr lang="en-US" sz="2000" dirty="0"/>
          </a:p>
        </p:txBody>
      </p:sp>
      <p:sp>
        <p:nvSpPr>
          <p:cNvPr id="13" name="Text 11"/>
          <p:cNvSpPr/>
          <p:nvPr/>
        </p:nvSpPr>
        <p:spPr>
          <a:xfrm>
            <a:off x="1097280" y="3383280"/>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The cuts are arithmetic, not preference</a:t>
            </a:r>
            <a:endParaRPr lang="en-US" sz="1350" dirty="0"/>
          </a:p>
        </p:txBody>
      </p:sp>
      <p:sp>
        <p:nvSpPr>
          <p:cNvPr id="14" name="Text 12"/>
          <p:cNvSpPr/>
          <p:nvPr/>
        </p:nvSpPr>
        <p:spPr>
          <a:xfrm>
            <a:off x="1097280" y="3694176"/>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35.6 person-weeks of demand against 23.9. Every cut carries the number from the supplied data that justifies it.</a:t>
            </a:r>
            <a:endParaRPr lang="en-US" sz="1100" dirty="0"/>
          </a:p>
        </p:txBody>
      </p:sp>
      <p:sp>
        <p:nvSpPr>
          <p:cNvPr id="15" name="Text 13"/>
          <p:cNvSpPr/>
          <p:nvPr/>
        </p:nvSpPr>
        <p:spPr>
          <a:xfrm>
            <a:off x="1097280" y="4078224"/>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01 · 05-estimation-calibration.md</a:t>
            </a:r>
            <a:endParaRPr lang="en-US" sz="900" dirty="0"/>
          </a:p>
        </p:txBody>
      </p:sp>
      <p:sp>
        <p:nvSpPr>
          <p:cNvPr id="16" name="Text 14"/>
          <p:cNvSpPr/>
          <p:nvPr/>
        </p:nvSpPr>
        <p:spPr>
          <a:xfrm>
            <a:off x="640080" y="4370832"/>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4</a:t>
            </a:r>
            <a:endParaRPr lang="en-US" sz="2000" dirty="0"/>
          </a:p>
        </p:txBody>
      </p:sp>
      <p:sp>
        <p:nvSpPr>
          <p:cNvPr id="17" name="Text 15"/>
          <p:cNvSpPr/>
          <p:nvPr/>
        </p:nvSpPr>
        <p:spPr>
          <a:xfrm>
            <a:off x="1097280" y="4352544"/>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Two things added, both from running the fixtures</a:t>
            </a:r>
            <a:endParaRPr lang="en-US" sz="1350" dirty="0"/>
          </a:p>
        </p:txBody>
      </p:sp>
      <p:sp>
        <p:nvSpPr>
          <p:cNvPr id="18" name="Text 16"/>
          <p:cNvSpPr/>
          <p:nvPr/>
        </p:nvSpPr>
        <p:spPr>
          <a:xfrm>
            <a:off x="1097280" y="4663440"/>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Cost classification before approval, and the event schema contract that was missing. Neither was in the briefs.</a:t>
            </a:r>
            <a:endParaRPr lang="en-US" sz="1100" dirty="0"/>
          </a:p>
        </p:txBody>
      </p:sp>
      <p:sp>
        <p:nvSpPr>
          <p:cNvPr id="19" name="Text 17"/>
          <p:cNvSpPr/>
          <p:nvPr/>
        </p:nvSpPr>
        <p:spPr>
          <a:xfrm>
            <a:off x="1097280" y="5047488"/>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stories.md · firmware-event-schema-v4.2.md</a:t>
            </a:r>
            <a:endParaRPr lang="en-US" sz="900" dirty="0"/>
          </a:p>
        </p:txBody>
      </p:sp>
      <p:sp>
        <p:nvSpPr>
          <p:cNvPr id="20" name="Text 18"/>
          <p:cNvSpPr/>
          <p:nvPr/>
        </p:nvSpPr>
        <p:spPr>
          <a:xfrm>
            <a:off x="640080" y="5340096"/>
            <a:ext cx="384048" cy="347472"/>
          </a:xfrm>
          <a:prstGeom prst="rect">
            <a:avLst/>
          </a:prstGeom>
          <a:noFill/>
          <a:ln/>
        </p:spPr>
        <p:txBody>
          <a:bodyPr wrap="square" lIns="0" tIns="0" rIns="0" bIns="0" rtlCol="0" anchor="ctr"/>
          <a:lstStyle/>
          <a:p>
            <a:pPr marL="0" indent="0">
              <a:buNone/>
            </a:pPr>
            <a:r>
              <a:rPr lang="en-US" sz="2000" b="1" dirty="0">
                <a:solidFill>
                  <a:srgbClr val="B8621B"/>
                </a:solidFill>
                <a:latin typeface="Cambria" pitchFamily="34" charset="0"/>
                <a:ea typeface="Cambria" pitchFamily="34" charset="-122"/>
                <a:cs typeface="Cambria" pitchFamily="34" charset="-120"/>
              </a:rPr>
              <a:t>5</a:t>
            </a:r>
            <a:endParaRPr lang="en-US" sz="2000" dirty="0"/>
          </a:p>
        </p:txBody>
      </p:sp>
      <p:sp>
        <p:nvSpPr>
          <p:cNvPr id="21" name="Text 19"/>
          <p:cNvSpPr/>
          <p:nvPr/>
        </p:nvSpPr>
        <p:spPr>
          <a:xfrm>
            <a:off x="1097280" y="5321808"/>
            <a:ext cx="6858000" cy="292608"/>
          </a:xfrm>
          <a:prstGeom prst="rect">
            <a:avLst/>
          </a:prstGeom>
          <a:noFill/>
          <a:ln/>
        </p:spPr>
        <p:txBody>
          <a:bodyPr wrap="square" lIns="0" tIns="0" rIns="0" bIns="0" rtlCol="0" anchor="ctr"/>
          <a:lstStyle/>
          <a:p>
            <a:pPr marL="0" indent="0">
              <a:buNone/>
            </a:pPr>
            <a:r>
              <a:rPr lang="en-US" sz="1350" b="1" dirty="0">
                <a:solidFill>
                  <a:srgbClr val="1C1F26"/>
                </a:solidFill>
                <a:latin typeface="Calibri" pitchFamily="34" charset="0"/>
                <a:ea typeface="Calibri" pitchFamily="34" charset="-122"/>
                <a:cs typeface="Calibri" pitchFamily="34" charset="-120"/>
              </a:rPr>
              <a:t>Drawing the schedule found what writing it missed</a:t>
            </a:r>
            <a:endParaRPr lang="en-US" sz="1350" dirty="0"/>
          </a:p>
        </p:txBody>
      </p:sp>
      <p:sp>
        <p:nvSpPr>
          <p:cNvPr id="22" name="Text 20"/>
          <p:cNvSpPr/>
          <p:nvPr/>
        </p:nvSpPr>
        <p:spPr>
          <a:xfrm>
            <a:off x="1097280" y="5632704"/>
            <a:ext cx="6858000" cy="384048"/>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The resource pass turned up five things and reversed a recommendation. That reversal is in the repo, not tidied away.</a:t>
            </a:r>
            <a:endParaRPr lang="en-US" sz="1100" dirty="0"/>
          </a:p>
        </p:txBody>
      </p:sp>
      <p:sp>
        <p:nvSpPr>
          <p:cNvPr id="23" name="Text 21"/>
          <p:cNvSpPr/>
          <p:nvPr/>
        </p:nvSpPr>
        <p:spPr>
          <a:xfrm>
            <a:off x="1097280" y="6016752"/>
            <a:ext cx="6858000" cy="219456"/>
          </a:xfrm>
          <a:prstGeom prst="rect">
            <a:avLst/>
          </a:prstGeom>
          <a:noFill/>
          <a:ln/>
        </p:spPr>
        <p:txBody>
          <a:bodyPr wrap="square" lIns="0" tIns="0" rIns="0" bIns="0" rtlCol="0" anchor="ctr"/>
          <a:lstStyle/>
          <a:p>
            <a:pPr marL="0" indent="0">
              <a:buNone/>
            </a:pPr>
            <a:r>
              <a:rPr lang="en-US" sz="900" dirty="0">
                <a:solidFill>
                  <a:srgbClr val="B8621B"/>
                </a:solidFill>
                <a:latin typeface="Courier New" pitchFamily="34" charset="0"/>
                <a:ea typeface="Courier New" pitchFamily="34" charset="-122"/>
                <a:cs typeface="Courier New" pitchFamily="34" charset="-120"/>
              </a:rPr>
              <a:t>06-b-pass-robotics.md</a:t>
            </a:r>
            <a:endParaRPr lang="en-US" sz="900" dirty="0"/>
          </a:p>
        </p:txBody>
      </p:sp>
      <p:sp>
        <p:nvSpPr>
          <p:cNvPr id="24" name="Shape 22"/>
          <p:cNvSpPr/>
          <p:nvPr/>
        </p:nvSpPr>
        <p:spPr>
          <a:xfrm>
            <a:off x="8229600" y="1417320"/>
            <a:ext cx="3291840" cy="4160520"/>
          </a:xfrm>
          <a:prstGeom prst="rect">
            <a:avLst/>
          </a:prstGeom>
          <a:solidFill>
            <a:srgbClr val="FFFFFF"/>
          </a:solidFill>
          <a:ln w="12700">
            <a:solidFill>
              <a:srgbClr val="D8D2C9"/>
            </a:solidFill>
            <a:prstDash val="solid"/>
          </a:ln>
        </p:spPr>
        <p:txBody>
          <a:bodyPr/>
          <a:lstStyle/>
          <a:p>
            <a:endParaRPr lang="en-US"/>
          </a:p>
        </p:txBody>
      </p:sp>
      <p:sp>
        <p:nvSpPr>
          <p:cNvPr id="25" name="Text 23"/>
          <p:cNvSpPr/>
          <p:nvPr/>
        </p:nvSpPr>
        <p:spPr>
          <a:xfrm>
            <a:off x="8467344" y="1609344"/>
            <a:ext cx="2834640" cy="256032"/>
          </a:xfrm>
          <a:prstGeom prst="rect">
            <a:avLst/>
          </a:prstGeom>
          <a:noFill/>
          <a:ln/>
        </p:spPr>
        <p:txBody>
          <a:bodyPr wrap="square" lIns="0" tIns="0" rIns="0" bIns="0" rtlCol="0" anchor="ctr"/>
          <a:lstStyle/>
          <a:p>
            <a:pPr marL="0" indent="0">
              <a:buNone/>
            </a:pPr>
            <a:r>
              <a:rPr lang="en-US" sz="950" b="1" kern="0" spc="130" dirty="0">
                <a:solidFill>
                  <a:srgbClr val="6E7781"/>
                </a:solidFill>
                <a:latin typeface="Calibri" pitchFamily="34" charset="0"/>
                <a:ea typeface="Calibri" pitchFamily="34" charset="-122"/>
                <a:cs typeface="Calibri" pitchFamily="34" charset="-120"/>
              </a:rPr>
              <a:t>THE REPOSITORY</a:t>
            </a:r>
            <a:endParaRPr lang="en-US" sz="950" dirty="0"/>
          </a:p>
        </p:txBody>
      </p:sp>
      <p:sp>
        <p:nvSpPr>
          <p:cNvPr id="26" name="Text 24"/>
          <p:cNvSpPr/>
          <p:nvPr/>
        </p:nvSpPr>
        <p:spPr>
          <a:xfrm>
            <a:off x="8467344" y="1938528"/>
            <a:ext cx="1920240" cy="219456"/>
          </a:xfrm>
          <a:prstGeom prst="rect">
            <a:avLst/>
          </a:prstGeom>
          <a:noFill/>
          <a:ln/>
        </p:spPr>
        <p:txBody>
          <a:bodyPr wrap="square" lIns="0" tIns="0" rIns="0" bIns="0" rtlCol="0" anchor="ctr"/>
          <a:lstStyle/>
          <a:p>
            <a:pPr marL="0" indent="0">
              <a:buNone/>
            </a:pPr>
            <a:r>
              <a:rPr lang="en-US" sz="900" b="1" dirty="0">
                <a:solidFill>
                  <a:srgbClr val="1C1F26"/>
                </a:solidFill>
                <a:latin typeface="Courier New" pitchFamily="34" charset="0"/>
                <a:ea typeface="Courier New" pitchFamily="34" charset="-122"/>
                <a:cs typeface="Courier New" pitchFamily="34" charset="-120"/>
              </a:rPr>
              <a:t>README.md</a:t>
            </a:r>
            <a:endParaRPr lang="en-US" sz="900" dirty="0"/>
          </a:p>
        </p:txBody>
      </p:sp>
      <p:sp>
        <p:nvSpPr>
          <p:cNvPr id="27" name="Text 25"/>
          <p:cNvSpPr/>
          <p:nvPr/>
        </p:nvSpPr>
        <p:spPr>
          <a:xfrm>
            <a:off x="10351008" y="1938528"/>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reading order</a:t>
            </a:r>
            <a:endParaRPr lang="en-US" sz="850" dirty="0"/>
          </a:p>
        </p:txBody>
      </p:sp>
      <p:sp>
        <p:nvSpPr>
          <p:cNvPr id="28" name="Text 26"/>
          <p:cNvSpPr/>
          <p:nvPr/>
        </p:nvSpPr>
        <p:spPr>
          <a:xfrm>
            <a:off x="8467344" y="2194560"/>
            <a:ext cx="1920240" cy="219456"/>
          </a:xfrm>
          <a:prstGeom prst="rect">
            <a:avLst/>
          </a:prstGeom>
          <a:noFill/>
          <a:ln/>
        </p:spPr>
        <p:txBody>
          <a:bodyPr wrap="square" lIns="0" tIns="0" rIns="0" bIns="0" rtlCol="0" anchor="ctr"/>
          <a:lstStyle/>
          <a:p>
            <a:pPr marL="0" indent="0">
              <a:buNone/>
            </a:pPr>
            <a:r>
              <a:rPr lang="en-US" sz="900" b="1" dirty="0">
                <a:solidFill>
                  <a:srgbClr val="1C1F26"/>
                </a:solidFill>
                <a:latin typeface="Courier New" pitchFamily="34" charset="0"/>
                <a:ea typeface="Courier New" pitchFamily="34" charset="-122"/>
                <a:cs typeface="Courier New" pitchFamily="34" charset="-120"/>
              </a:rPr>
              <a:t>deliverables/</a:t>
            </a:r>
            <a:endParaRPr lang="en-US" sz="900" dirty="0"/>
          </a:p>
        </p:txBody>
      </p:sp>
      <p:sp>
        <p:nvSpPr>
          <p:cNvPr id="29" name="Text 27"/>
          <p:cNvSpPr/>
          <p:nvPr/>
        </p:nvSpPr>
        <p:spPr>
          <a:xfrm>
            <a:off x="10351008" y="2194560"/>
            <a:ext cx="960120" cy="219456"/>
          </a:xfrm>
          <a:prstGeom prst="rect">
            <a:avLst/>
          </a:prstGeom>
          <a:noFill/>
          <a:ln/>
        </p:spPr>
        <p:txBody>
          <a:bodyPr wrap="square" lIns="0" tIns="0" rIns="0" bIns="0" rtlCol="0" anchor="ctr"/>
          <a:lstStyle/>
          <a:p>
            <a:pPr marL="0" indent="0" algn="r">
              <a:buNone/>
            </a:pPr>
            <a:endParaRPr lang="en-US" sz="850" dirty="0"/>
          </a:p>
        </p:txBody>
      </p:sp>
      <p:sp>
        <p:nvSpPr>
          <p:cNvPr id="30" name="Text 28"/>
          <p:cNvSpPr/>
          <p:nvPr/>
        </p:nvSpPr>
        <p:spPr>
          <a:xfrm>
            <a:off x="8467344" y="2450592"/>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00  cto-response</a:t>
            </a:r>
            <a:endParaRPr lang="en-US" sz="900" dirty="0"/>
          </a:p>
        </p:txBody>
      </p:sp>
      <p:sp>
        <p:nvSpPr>
          <p:cNvPr id="31" name="Text 29"/>
          <p:cNvSpPr/>
          <p:nvPr/>
        </p:nvSpPr>
        <p:spPr>
          <a:xfrm>
            <a:off x="10351008" y="2450592"/>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reply</a:t>
            </a:r>
            <a:endParaRPr lang="en-US" sz="850" dirty="0"/>
          </a:p>
        </p:txBody>
      </p:sp>
      <p:sp>
        <p:nvSpPr>
          <p:cNvPr id="32" name="Text 30"/>
          <p:cNvSpPr/>
          <p:nvPr/>
        </p:nvSpPr>
        <p:spPr>
          <a:xfrm>
            <a:off x="8467344" y="2706624"/>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01  delivery-plan</a:t>
            </a:r>
            <a:endParaRPr lang="en-US" sz="900" dirty="0"/>
          </a:p>
        </p:txBody>
      </p:sp>
      <p:sp>
        <p:nvSpPr>
          <p:cNvPr id="33" name="Text 31"/>
          <p:cNvSpPr/>
          <p:nvPr/>
        </p:nvSpPr>
        <p:spPr>
          <a:xfrm>
            <a:off x="10351008" y="2706624"/>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plan</a:t>
            </a:r>
            <a:endParaRPr lang="en-US" sz="850" dirty="0"/>
          </a:p>
        </p:txBody>
      </p:sp>
      <p:sp>
        <p:nvSpPr>
          <p:cNvPr id="34" name="Text 32"/>
          <p:cNvSpPr/>
          <p:nvPr/>
        </p:nvSpPr>
        <p:spPr>
          <a:xfrm>
            <a:off x="8467344" y="2962656"/>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02  scope-decisions</a:t>
            </a:r>
            <a:endParaRPr lang="en-US" sz="900" dirty="0"/>
          </a:p>
        </p:txBody>
      </p:sp>
      <p:sp>
        <p:nvSpPr>
          <p:cNvPr id="35" name="Text 33"/>
          <p:cNvSpPr/>
          <p:nvPr/>
        </p:nvSpPr>
        <p:spPr>
          <a:xfrm>
            <a:off x="10351008" y="2962656"/>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12 calls</a:t>
            </a:r>
            <a:endParaRPr lang="en-US" sz="850" dirty="0"/>
          </a:p>
        </p:txBody>
      </p:sp>
      <p:sp>
        <p:nvSpPr>
          <p:cNvPr id="36" name="Text 34"/>
          <p:cNvSpPr/>
          <p:nvPr/>
        </p:nvSpPr>
        <p:spPr>
          <a:xfrm>
            <a:off x="8467344" y="3218688"/>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03  demo-date-branch</a:t>
            </a:r>
            <a:endParaRPr lang="en-US" sz="900" dirty="0"/>
          </a:p>
        </p:txBody>
      </p:sp>
      <p:sp>
        <p:nvSpPr>
          <p:cNvPr id="37" name="Text 35"/>
          <p:cNvSpPr/>
          <p:nvPr/>
        </p:nvSpPr>
        <p:spPr>
          <a:xfrm>
            <a:off x="10351008" y="3218688"/>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A / B</a:t>
            </a:r>
            <a:endParaRPr lang="en-US" sz="850" dirty="0"/>
          </a:p>
        </p:txBody>
      </p:sp>
      <p:sp>
        <p:nvSpPr>
          <p:cNvPr id="38" name="Text 36"/>
          <p:cNvSpPr/>
          <p:nvPr/>
        </p:nvSpPr>
        <p:spPr>
          <a:xfrm>
            <a:off x="8467344" y="3474720"/>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04  critical-path</a:t>
            </a:r>
            <a:endParaRPr lang="en-US" sz="900" dirty="0"/>
          </a:p>
        </p:txBody>
      </p:sp>
      <p:sp>
        <p:nvSpPr>
          <p:cNvPr id="39" name="Text 37"/>
          <p:cNvSpPr/>
          <p:nvPr/>
        </p:nvSpPr>
        <p:spPr>
          <a:xfrm>
            <a:off x="10351008" y="3474720"/>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diagram</a:t>
            </a:r>
            <a:endParaRPr lang="en-US" sz="850" dirty="0"/>
          </a:p>
        </p:txBody>
      </p:sp>
      <p:sp>
        <p:nvSpPr>
          <p:cNvPr id="40" name="Text 38"/>
          <p:cNvSpPr/>
          <p:nvPr/>
        </p:nvSpPr>
        <p:spPr>
          <a:xfrm>
            <a:off x="8467344" y="3730752"/>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05  estimation</a:t>
            </a:r>
            <a:endParaRPr lang="en-US" sz="900" dirty="0"/>
          </a:p>
        </p:txBody>
      </p:sp>
      <p:sp>
        <p:nvSpPr>
          <p:cNvPr id="41" name="Text 39"/>
          <p:cNvSpPr/>
          <p:nvPr/>
        </p:nvSpPr>
        <p:spPr>
          <a:xfrm>
            <a:off x="10351008" y="3730752"/>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multipliers</a:t>
            </a:r>
            <a:endParaRPr lang="en-US" sz="850" dirty="0"/>
          </a:p>
        </p:txBody>
      </p:sp>
      <p:sp>
        <p:nvSpPr>
          <p:cNvPr id="42" name="Text 40"/>
          <p:cNvSpPr/>
          <p:nvPr/>
        </p:nvSpPr>
        <p:spPr>
          <a:xfrm>
            <a:off x="8467344" y="3986784"/>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06  b-pass-robotics</a:t>
            </a:r>
            <a:endParaRPr lang="en-US" sz="900" dirty="0"/>
          </a:p>
        </p:txBody>
      </p:sp>
      <p:sp>
        <p:nvSpPr>
          <p:cNvPr id="43" name="Text 41"/>
          <p:cNvSpPr/>
          <p:nvPr/>
        </p:nvSpPr>
        <p:spPr>
          <a:xfrm>
            <a:off x="10351008" y="3986784"/>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pass</a:t>
            </a:r>
            <a:endParaRPr lang="en-US" sz="850" dirty="0"/>
          </a:p>
        </p:txBody>
      </p:sp>
      <p:sp>
        <p:nvSpPr>
          <p:cNvPr id="44" name="Text 42"/>
          <p:cNvSpPr/>
          <p:nvPr/>
        </p:nvSpPr>
        <p:spPr>
          <a:xfrm>
            <a:off x="8467344" y="4242816"/>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stories.md</a:t>
            </a:r>
            <a:endParaRPr lang="en-US" sz="900" dirty="0"/>
          </a:p>
        </p:txBody>
      </p:sp>
      <p:sp>
        <p:nvSpPr>
          <p:cNvPr id="45" name="Text 43"/>
          <p:cNvSpPr/>
          <p:nvPr/>
        </p:nvSpPr>
        <p:spPr>
          <a:xfrm>
            <a:off x="10351008" y="4242816"/>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revised set</a:t>
            </a:r>
            <a:endParaRPr lang="en-US" sz="850" dirty="0"/>
          </a:p>
        </p:txBody>
      </p:sp>
      <p:sp>
        <p:nvSpPr>
          <p:cNvPr id="46" name="Text 44"/>
          <p:cNvSpPr/>
          <p:nvPr/>
        </p:nvSpPr>
        <p:spPr>
          <a:xfrm>
            <a:off x="8467344" y="4498848"/>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firmware-schema</a:t>
            </a:r>
            <a:endParaRPr lang="en-US" sz="900" dirty="0"/>
          </a:p>
        </p:txBody>
      </p:sp>
      <p:sp>
        <p:nvSpPr>
          <p:cNvPr id="47" name="Text 45"/>
          <p:cNvSpPr/>
          <p:nvPr/>
        </p:nvSpPr>
        <p:spPr>
          <a:xfrm>
            <a:off x="10351008" y="4498848"/>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the contract</a:t>
            </a:r>
            <a:endParaRPr lang="en-US" sz="850" dirty="0"/>
          </a:p>
        </p:txBody>
      </p:sp>
      <p:sp>
        <p:nvSpPr>
          <p:cNvPr id="48" name="Text 46"/>
          <p:cNvSpPr/>
          <p:nvPr/>
        </p:nvSpPr>
        <p:spPr>
          <a:xfrm>
            <a:off x="8467344" y="4754880"/>
            <a:ext cx="1920240" cy="219456"/>
          </a:xfrm>
          <a:prstGeom prst="rect">
            <a:avLst/>
          </a:prstGeom>
          <a:noFill/>
          <a:ln/>
        </p:spPr>
        <p:txBody>
          <a:bodyPr wrap="square" lIns="0" tIns="0" rIns="0" bIns="0" rtlCol="0" anchor="ctr"/>
          <a:lstStyle/>
          <a:p>
            <a:pPr marL="0" indent="0">
              <a:buNone/>
            </a:pPr>
            <a:r>
              <a:rPr lang="en-US" sz="900" b="1" dirty="0">
                <a:solidFill>
                  <a:srgbClr val="1C1F26"/>
                </a:solidFill>
                <a:latin typeface="Courier New" pitchFamily="34" charset="0"/>
                <a:ea typeface="Courier New" pitchFamily="34" charset="-122"/>
                <a:cs typeface="Courier New" pitchFamily="34" charset="-120"/>
              </a:rPr>
              <a:t>code/</a:t>
            </a:r>
            <a:endParaRPr lang="en-US" sz="900" dirty="0"/>
          </a:p>
        </p:txBody>
      </p:sp>
      <p:sp>
        <p:nvSpPr>
          <p:cNvPr id="49" name="Text 47"/>
          <p:cNvSpPr/>
          <p:nvPr/>
        </p:nvSpPr>
        <p:spPr>
          <a:xfrm>
            <a:off x="10351008" y="4754880"/>
            <a:ext cx="960120" cy="219456"/>
          </a:xfrm>
          <a:prstGeom prst="rect">
            <a:avLst/>
          </a:prstGeom>
          <a:noFill/>
          <a:ln/>
        </p:spPr>
        <p:txBody>
          <a:bodyPr wrap="square" lIns="0" tIns="0" rIns="0" bIns="0" rtlCol="0" anchor="ctr"/>
          <a:lstStyle/>
          <a:p>
            <a:pPr marL="0" indent="0" algn="r">
              <a:buNone/>
            </a:pPr>
            <a:endParaRPr lang="en-US" sz="850" dirty="0"/>
          </a:p>
        </p:txBody>
      </p:sp>
      <p:sp>
        <p:nvSpPr>
          <p:cNvPr id="50" name="Text 48"/>
          <p:cNvSpPr/>
          <p:nvPr/>
        </p:nvSpPr>
        <p:spPr>
          <a:xfrm>
            <a:off x="8467344" y="5010912"/>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estop-audit</a:t>
            </a:r>
            <a:endParaRPr lang="en-US" sz="900" dirty="0"/>
          </a:p>
        </p:txBody>
      </p:sp>
      <p:sp>
        <p:nvSpPr>
          <p:cNvPr id="51" name="Text 49"/>
          <p:cNvSpPr/>
          <p:nvPr/>
        </p:nvSpPr>
        <p:spPr>
          <a:xfrm>
            <a:off x="10351008" y="5010912"/>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157 tests</a:t>
            </a:r>
            <a:endParaRPr lang="en-US" sz="850" dirty="0"/>
          </a:p>
        </p:txBody>
      </p:sp>
      <p:sp>
        <p:nvSpPr>
          <p:cNvPr id="52" name="Text 50"/>
          <p:cNvSpPr/>
          <p:nvPr/>
        </p:nvSpPr>
        <p:spPr>
          <a:xfrm>
            <a:off x="8467344" y="5266944"/>
            <a:ext cx="1920240" cy="219456"/>
          </a:xfrm>
          <a:prstGeom prst="rect">
            <a:avLst/>
          </a:prstGeom>
          <a:noFill/>
          <a:ln/>
        </p:spPr>
        <p:txBody>
          <a:bodyPr wrap="square" lIns="0" tIns="0" rIns="0" bIns="0" rtlCol="0" anchor="ctr"/>
          <a:lstStyle/>
          <a:p>
            <a:pPr marL="0" indent="0">
              <a:buNone/>
            </a:pPr>
            <a:r>
              <a:rPr lang="en-US" sz="900" dirty="0">
                <a:solidFill>
                  <a:srgbClr val="6E7781"/>
                </a:solidFill>
                <a:latin typeface="Courier New" pitchFamily="34" charset="0"/>
                <a:ea typeface="Courier New" pitchFamily="34" charset="-122"/>
                <a:cs typeface="Courier New" pitchFamily="34" charset="-120"/>
              </a:rPr>
              <a:t>  panel-revision-impact</a:t>
            </a:r>
            <a:endParaRPr lang="en-US" sz="900" dirty="0"/>
          </a:p>
        </p:txBody>
      </p:sp>
      <p:sp>
        <p:nvSpPr>
          <p:cNvPr id="53" name="Text 51"/>
          <p:cNvSpPr/>
          <p:nvPr/>
        </p:nvSpPr>
        <p:spPr>
          <a:xfrm>
            <a:off x="10351008" y="5266944"/>
            <a:ext cx="960120" cy="219456"/>
          </a:xfrm>
          <a:prstGeom prst="rect">
            <a:avLst/>
          </a:prstGeom>
          <a:noFill/>
          <a:ln/>
        </p:spPr>
        <p:txBody>
          <a:bodyPr wrap="square" lIns="0" tIns="0" rIns="0" bIns="0" rtlCol="0" anchor="ctr"/>
          <a:lstStyle/>
          <a:p>
            <a:pPr marL="0" indent="0" algn="r">
              <a:buNone/>
            </a:pPr>
            <a:r>
              <a:rPr lang="en-US" sz="850" dirty="0">
                <a:solidFill>
                  <a:srgbClr val="B8621B"/>
                </a:solidFill>
                <a:latin typeface="Calibri" pitchFamily="34" charset="0"/>
                <a:ea typeface="Calibri" pitchFamily="34" charset="-122"/>
                <a:cs typeface="Calibri" pitchFamily="34" charset="-120"/>
              </a:rPr>
              <a:t>66 tests</a:t>
            </a:r>
            <a:endParaRPr lang="en-US" sz="850" dirty="0"/>
          </a:p>
        </p:txBody>
      </p:sp>
      <p:sp>
        <p:nvSpPr>
          <p:cNvPr id="54" name="Text 52"/>
          <p:cNvSpPr/>
          <p:nvPr/>
        </p:nvSpPr>
        <p:spPr>
          <a:xfrm>
            <a:off x="640080" y="6309360"/>
            <a:ext cx="10881360" cy="292608"/>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Ten minutes: 00, then 04, then 03. That is the plan; everything else is the working.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Two chains, one gate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Neither was traced end to end in the hand-over, and they converge on one event.</a:t>
            </a:r>
            <a:endParaRPr lang="en-US" sz="1400" dirty="0"/>
          </a:p>
        </p:txBody>
      </p:sp>
      <p:sp>
        <p:nvSpPr>
          <p:cNvPr id="6" name="Text 4"/>
          <p:cNvSpPr/>
          <p:nvPr/>
        </p:nvSpPr>
        <p:spPr>
          <a:xfrm>
            <a:off x="640080" y="1298448"/>
            <a:ext cx="4572000" cy="237744"/>
          </a:xfrm>
          <a:prstGeom prst="rect">
            <a:avLst/>
          </a:prstGeom>
          <a:noFill/>
          <a:ln/>
        </p:spPr>
        <p:txBody>
          <a:bodyPr wrap="square" lIns="0" tIns="0" rIns="0" bIns="0" rtlCol="0" anchor="ctr"/>
          <a:lstStyle/>
          <a:p>
            <a:pPr marL="0" indent="0">
              <a:buNone/>
            </a:pPr>
            <a:r>
              <a:rPr lang="en-US" sz="1050" b="1" kern="0" spc="120" dirty="0">
                <a:solidFill>
                  <a:srgbClr val="6E7781"/>
                </a:solidFill>
                <a:latin typeface="Calibri" pitchFamily="34" charset="0"/>
                <a:ea typeface="Calibri" pitchFamily="34" charset="-122"/>
                <a:cs typeface="Calibri" pitchFamily="34" charset="-120"/>
              </a:rPr>
              <a:t>SOFTWARE CHAIN</a:t>
            </a:r>
            <a:endParaRPr lang="en-US" sz="1050" dirty="0"/>
          </a:p>
        </p:txBody>
      </p:sp>
      <p:sp>
        <p:nvSpPr>
          <p:cNvPr id="7" name="Shape 5"/>
          <p:cNvSpPr/>
          <p:nvPr/>
        </p:nvSpPr>
        <p:spPr>
          <a:xfrm>
            <a:off x="822960" y="1591056"/>
            <a:ext cx="1508760" cy="402336"/>
          </a:xfrm>
          <a:prstGeom prst="rect">
            <a:avLst/>
          </a:prstGeom>
          <a:solidFill>
            <a:srgbClr val="A32020"/>
          </a:solidFill>
          <a:ln/>
        </p:spPr>
        <p:txBody>
          <a:bodyPr/>
          <a:lstStyle/>
          <a:p>
            <a:endParaRPr lang="en-US"/>
          </a:p>
        </p:txBody>
      </p:sp>
      <p:sp>
        <p:nvSpPr>
          <p:cNvPr id="8" name="Text 6"/>
          <p:cNvSpPr/>
          <p:nvPr/>
        </p:nvSpPr>
        <p:spPr>
          <a:xfrm>
            <a:off x="877824" y="1591056"/>
            <a:ext cx="139903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a2  e-stop logging</a:t>
            </a:r>
            <a:endParaRPr lang="en-US" sz="1050" dirty="0"/>
          </a:p>
        </p:txBody>
      </p:sp>
      <p:sp>
        <p:nvSpPr>
          <p:cNvPr id="9" name="Shape 7"/>
          <p:cNvSpPr/>
          <p:nvPr/>
        </p:nvSpPr>
        <p:spPr>
          <a:xfrm>
            <a:off x="2331720" y="1591056"/>
            <a:ext cx="1508760" cy="402336"/>
          </a:xfrm>
          <a:prstGeom prst="rect">
            <a:avLst/>
          </a:prstGeom>
          <a:solidFill>
            <a:srgbClr val="A32020"/>
          </a:solidFill>
          <a:ln/>
        </p:spPr>
        <p:txBody>
          <a:bodyPr/>
          <a:lstStyle/>
          <a:p>
            <a:endParaRPr lang="en-US"/>
          </a:p>
        </p:txBody>
      </p:sp>
      <p:sp>
        <p:nvSpPr>
          <p:cNvPr id="10" name="Text 8"/>
          <p:cNvSpPr/>
          <p:nvPr/>
        </p:nvSpPr>
        <p:spPr>
          <a:xfrm>
            <a:off x="2386584" y="1591056"/>
            <a:ext cx="139903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a3  stop response</a:t>
            </a:r>
            <a:endParaRPr lang="en-US" sz="1050" dirty="0"/>
          </a:p>
        </p:txBody>
      </p:sp>
      <p:sp>
        <p:nvSpPr>
          <p:cNvPr id="11" name="Shape 9"/>
          <p:cNvSpPr/>
          <p:nvPr/>
        </p:nvSpPr>
        <p:spPr>
          <a:xfrm>
            <a:off x="3840480" y="1591056"/>
            <a:ext cx="2011680" cy="402336"/>
          </a:xfrm>
          <a:prstGeom prst="rect">
            <a:avLst/>
          </a:prstGeom>
          <a:solidFill>
            <a:srgbClr val="C9C2B6"/>
          </a:solidFill>
          <a:ln/>
        </p:spPr>
        <p:txBody>
          <a:bodyPr/>
          <a:lstStyle/>
          <a:p>
            <a:endParaRPr lang="en-US"/>
          </a:p>
        </p:txBody>
      </p:sp>
      <p:sp>
        <p:nvSpPr>
          <p:cNvPr id="12" name="Text 10"/>
          <p:cNvSpPr/>
          <p:nvPr/>
        </p:nvSpPr>
        <p:spPr>
          <a:xfrm>
            <a:off x="3895344" y="1591056"/>
            <a:ext cx="1901952" cy="402336"/>
          </a:xfrm>
          <a:prstGeom prst="rect">
            <a:avLst/>
          </a:prstGeom>
          <a:noFill/>
          <a:ln/>
        </p:spPr>
        <p:txBody>
          <a:bodyPr wrap="square" lIns="0" tIns="0" rIns="0" bIns="0" rtlCol="0" anchor="ctr"/>
          <a:lstStyle/>
          <a:p>
            <a:pPr marL="0" indent="0">
              <a:buNone/>
            </a:pPr>
            <a:r>
              <a:rPr lang="en-US" sz="1050" dirty="0">
                <a:solidFill>
                  <a:srgbClr val="1C1F26"/>
                </a:solidFill>
                <a:latin typeface="Calibri" pitchFamily="34" charset="0"/>
                <a:ea typeface="Calibri" pitchFamily="34" charset="-122"/>
                <a:cs typeface="Calibri" pitchFamily="34" charset="-120"/>
              </a:rPr>
              <a:t>float — 9 days reserve</a:t>
            </a:r>
            <a:endParaRPr lang="en-US" sz="1050" dirty="0"/>
          </a:p>
        </p:txBody>
      </p:sp>
      <p:sp>
        <p:nvSpPr>
          <p:cNvPr id="13" name="Text 11"/>
          <p:cNvSpPr/>
          <p:nvPr/>
        </p:nvSpPr>
        <p:spPr>
          <a:xfrm>
            <a:off x="640080" y="2157984"/>
            <a:ext cx="4572000" cy="237744"/>
          </a:xfrm>
          <a:prstGeom prst="rect">
            <a:avLst/>
          </a:prstGeom>
          <a:noFill/>
          <a:ln/>
        </p:spPr>
        <p:txBody>
          <a:bodyPr wrap="square" lIns="0" tIns="0" rIns="0" bIns="0" rtlCol="0" anchor="ctr"/>
          <a:lstStyle/>
          <a:p>
            <a:pPr marL="0" indent="0">
              <a:buNone/>
            </a:pPr>
            <a:r>
              <a:rPr lang="en-US" sz="1050" b="1" kern="0" spc="120" dirty="0">
                <a:solidFill>
                  <a:srgbClr val="6E7781"/>
                </a:solidFill>
                <a:latin typeface="Calibri" pitchFamily="34" charset="0"/>
                <a:ea typeface="Calibri" pitchFamily="34" charset="-122"/>
                <a:cs typeface="Calibri" pitchFamily="34" charset="-120"/>
              </a:rPr>
              <a:t>FIRMWARE CHAIN — binding</a:t>
            </a:r>
            <a:endParaRPr lang="en-US" sz="1050" dirty="0"/>
          </a:p>
        </p:txBody>
      </p:sp>
      <p:sp>
        <p:nvSpPr>
          <p:cNvPr id="14" name="Shape 12"/>
          <p:cNvSpPr/>
          <p:nvPr/>
        </p:nvSpPr>
        <p:spPr>
          <a:xfrm>
            <a:off x="3337560" y="2450592"/>
            <a:ext cx="1257300" cy="402336"/>
          </a:xfrm>
          <a:prstGeom prst="rect">
            <a:avLst/>
          </a:prstGeom>
          <a:solidFill>
            <a:srgbClr val="B8621B"/>
          </a:solidFill>
          <a:ln/>
        </p:spPr>
        <p:txBody>
          <a:bodyPr/>
          <a:lstStyle/>
          <a:p>
            <a:endParaRPr lang="en-US"/>
          </a:p>
        </p:txBody>
      </p:sp>
      <p:sp>
        <p:nvSpPr>
          <p:cNvPr id="15" name="Text 13"/>
          <p:cNvSpPr/>
          <p:nvPr/>
        </p:nvSpPr>
        <p:spPr>
          <a:xfrm>
            <a:off x="3392424" y="2450592"/>
            <a:ext cx="114757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v4.2a  stop path</a:t>
            </a:r>
            <a:endParaRPr lang="en-US" sz="1050" dirty="0"/>
          </a:p>
        </p:txBody>
      </p:sp>
      <p:sp>
        <p:nvSpPr>
          <p:cNvPr id="16" name="Shape 14"/>
          <p:cNvSpPr/>
          <p:nvPr/>
        </p:nvSpPr>
        <p:spPr>
          <a:xfrm>
            <a:off x="4594860" y="2450592"/>
            <a:ext cx="628650" cy="402336"/>
          </a:xfrm>
          <a:prstGeom prst="rect">
            <a:avLst/>
          </a:prstGeom>
          <a:solidFill>
            <a:srgbClr val="B8621B"/>
          </a:solidFill>
          <a:ln/>
        </p:spPr>
        <p:txBody>
          <a:bodyPr/>
          <a:lstStyle/>
          <a:p>
            <a:endParaRPr lang="en-US"/>
          </a:p>
        </p:txBody>
      </p:sp>
      <p:sp>
        <p:nvSpPr>
          <p:cNvPr id="17" name="Text 15"/>
          <p:cNvSpPr/>
          <p:nvPr/>
        </p:nvSpPr>
        <p:spPr>
          <a:xfrm>
            <a:off x="4649724" y="2450592"/>
            <a:ext cx="51892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bench</a:t>
            </a:r>
            <a:endParaRPr lang="en-US" sz="1050" dirty="0"/>
          </a:p>
        </p:txBody>
      </p:sp>
      <p:sp>
        <p:nvSpPr>
          <p:cNvPr id="18" name="Shape 16"/>
          <p:cNvSpPr/>
          <p:nvPr/>
        </p:nvSpPr>
        <p:spPr>
          <a:xfrm>
            <a:off x="5223510" y="2450592"/>
            <a:ext cx="628650" cy="402336"/>
          </a:xfrm>
          <a:prstGeom prst="rect">
            <a:avLst/>
          </a:prstGeom>
          <a:solidFill>
            <a:srgbClr val="B8621B"/>
          </a:solidFill>
          <a:ln/>
        </p:spPr>
        <p:txBody>
          <a:bodyPr/>
          <a:lstStyle/>
          <a:p>
            <a:endParaRPr lang="en-US"/>
          </a:p>
        </p:txBody>
      </p:sp>
      <p:sp>
        <p:nvSpPr>
          <p:cNvPr id="19" name="Text 17"/>
          <p:cNvSpPr/>
          <p:nvPr/>
        </p:nvSpPr>
        <p:spPr>
          <a:xfrm>
            <a:off x="5278374" y="2450592"/>
            <a:ext cx="51892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deploy</a:t>
            </a:r>
            <a:endParaRPr lang="en-US" sz="1050" dirty="0"/>
          </a:p>
        </p:txBody>
      </p:sp>
      <p:sp>
        <p:nvSpPr>
          <p:cNvPr id="20" name="Text 18"/>
          <p:cNvSpPr/>
          <p:nvPr/>
        </p:nvSpPr>
        <p:spPr>
          <a:xfrm>
            <a:off x="640080" y="3017520"/>
            <a:ext cx="4572000" cy="237744"/>
          </a:xfrm>
          <a:prstGeom prst="rect">
            <a:avLst/>
          </a:prstGeom>
          <a:noFill/>
          <a:ln/>
        </p:spPr>
        <p:txBody>
          <a:bodyPr wrap="square" lIns="0" tIns="0" rIns="0" bIns="0" rtlCol="0" anchor="ctr"/>
          <a:lstStyle/>
          <a:p>
            <a:pPr marL="0" indent="0">
              <a:buNone/>
            </a:pPr>
            <a:r>
              <a:rPr lang="en-US" sz="1050" b="1" kern="0" spc="120" dirty="0">
                <a:solidFill>
                  <a:srgbClr val="6E7781"/>
                </a:solidFill>
                <a:latin typeface="Calibri" pitchFamily="34" charset="0"/>
                <a:ea typeface="Calibri" pitchFamily="34" charset="-122"/>
                <a:cs typeface="Calibri" pitchFamily="34" charset="-120"/>
              </a:rPr>
              <a:t>THE GATE</a:t>
            </a:r>
            <a:endParaRPr lang="en-US" sz="1050" dirty="0"/>
          </a:p>
        </p:txBody>
      </p:sp>
      <p:sp>
        <p:nvSpPr>
          <p:cNvPr id="21" name="Shape 19"/>
          <p:cNvSpPr/>
          <p:nvPr/>
        </p:nvSpPr>
        <p:spPr>
          <a:xfrm>
            <a:off x="5852160" y="3310128"/>
            <a:ext cx="1257300" cy="402336"/>
          </a:xfrm>
          <a:prstGeom prst="rect">
            <a:avLst/>
          </a:prstGeom>
          <a:solidFill>
            <a:srgbClr val="A32020"/>
          </a:solidFill>
          <a:ln/>
        </p:spPr>
        <p:txBody>
          <a:bodyPr/>
          <a:lstStyle/>
          <a:p>
            <a:endParaRPr lang="en-US"/>
          </a:p>
        </p:txBody>
      </p:sp>
      <p:sp>
        <p:nvSpPr>
          <p:cNvPr id="22" name="Text 20"/>
          <p:cNvSpPr/>
          <p:nvPr/>
        </p:nvSpPr>
        <p:spPr>
          <a:xfrm>
            <a:off x="5907024" y="3310128"/>
            <a:ext cx="114757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a5  cell re-test</a:t>
            </a:r>
            <a:endParaRPr lang="en-US" sz="1050" dirty="0"/>
          </a:p>
        </p:txBody>
      </p:sp>
      <p:sp>
        <p:nvSpPr>
          <p:cNvPr id="23" name="Shape 21"/>
          <p:cNvSpPr/>
          <p:nvPr/>
        </p:nvSpPr>
        <p:spPr>
          <a:xfrm>
            <a:off x="7360920" y="3310128"/>
            <a:ext cx="2514600" cy="402336"/>
          </a:xfrm>
          <a:prstGeom prst="rect">
            <a:avLst/>
          </a:prstGeom>
          <a:solidFill>
            <a:srgbClr val="1C1F26"/>
          </a:solidFill>
          <a:ln/>
        </p:spPr>
        <p:txBody>
          <a:bodyPr/>
          <a:lstStyle/>
          <a:p>
            <a:endParaRPr lang="en-US"/>
          </a:p>
        </p:txBody>
      </p:sp>
      <p:sp>
        <p:nvSpPr>
          <p:cNvPr id="24" name="Text 22"/>
          <p:cNvSpPr/>
          <p:nvPr/>
        </p:nvSpPr>
        <p:spPr>
          <a:xfrm>
            <a:off x="7415784" y="3310128"/>
            <a:ext cx="2404872" cy="40233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a7  inspector — EXTERNAL, 10 working days</a:t>
            </a:r>
            <a:endParaRPr lang="en-US" sz="1050" dirty="0"/>
          </a:p>
        </p:txBody>
      </p:sp>
      <p:sp>
        <p:nvSpPr>
          <p:cNvPr id="25" name="Text 23"/>
          <p:cNvSpPr/>
          <p:nvPr/>
        </p:nvSpPr>
        <p:spPr>
          <a:xfrm>
            <a:off x="3017520" y="2011680"/>
            <a:ext cx="822960" cy="365760"/>
          </a:xfrm>
          <a:prstGeom prst="rect">
            <a:avLst/>
          </a:prstGeom>
          <a:noFill/>
          <a:ln/>
        </p:spPr>
        <p:txBody>
          <a:bodyPr wrap="square" lIns="0" tIns="0" rIns="0" bIns="0" rtlCol="0" anchor="ctr"/>
          <a:lstStyle/>
          <a:p>
            <a:pPr marL="0" indent="0" algn="ctr">
              <a:buNone/>
            </a:pPr>
            <a:r>
              <a:rPr lang="en-US" sz="900" dirty="0">
                <a:solidFill>
                  <a:srgbClr val="6E7781"/>
                </a:solidFill>
                <a:latin typeface="Calibri" pitchFamily="34" charset="0"/>
                <a:ea typeface="Calibri" pitchFamily="34" charset="-122"/>
                <a:cs typeface="Calibri" pitchFamily="34" charset="-120"/>
              </a:rPr>
              <a:t>boards</a:t>
            </a:r>
            <a:endParaRPr lang="en-US" sz="900" dirty="0"/>
          </a:p>
          <a:p>
            <a:pPr marL="0" indent="0" algn="ctr">
              <a:buNone/>
            </a:pPr>
            <a:r>
              <a:rPr lang="en-US" sz="900" dirty="0">
                <a:solidFill>
                  <a:srgbClr val="6E7781"/>
                </a:solidFill>
                <a:latin typeface="Calibri" pitchFamily="34" charset="0"/>
                <a:ea typeface="Calibri" pitchFamily="34" charset="-122"/>
                <a:cs typeface="Calibri" pitchFamily="34" charset="-120"/>
              </a:rPr>
              <a:t>arrive</a:t>
            </a:r>
            <a:endParaRPr lang="en-US" sz="900" dirty="0"/>
          </a:p>
        </p:txBody>
      </p:sp>
      <p:sp>
        <p:nvSpPr>
          <p:cNvPr id="26" name="Shape 24"/>
          <p:cNvSpPr/>
          <p:nvPr/>
        </p:nvSpPr>
        <p:spPr>
          <a:xfrm>
            <a:off x="7235190" y="1426464"/>
            <a:ext cx="22860" cy="2395728"/>
          </a:xfrm>
          <a:prstGeom prst="rect">
            <a:avLst/>
          </a:prstGeom>
          <a:solidFill>
            <a:srgbClr val="A32020"/>
          </a:solidFill>
          <a:ln/>
        </p:spPr>
        <p:txBody>
          <a:bodyPr/>
          <a:lstStyle/>
          <a:p>
            <a:endParaRPr lang="en-US"/>
          </a:p>
        </p:txBody>
      </p:sp>
      <p:sp>
        <p:nvSpPr>
          <p:cNvPr id="27" name="Text 25"/>
          <p:cNvSpPr/>
          <p:nvPr/>
        </p:nvSpPr>
        <p:spPr>
          <a:xfrm>
            <a:off x="6549390" y="3895344"/>
            <a:ext cx="1371600" cy="457200"/>
          </a:xfrm>
          <a:prstGeom prst="rect">
            <a:avLst/>
          </a:prstGeom>
          <a:noFill/>
          <a:ln/>
        </p:spPr>
        <p:txBody>
          <a:bodyPr wrap="square" lIns="0" tIns="0" rIns="0" bIns="0" rtlCol="0" anchor="ctr"/>
          <a:lstStyle/>
          <a:p>
            <a:pPr marL="0" indent="0" algn="ctr">
              <a:buNone/>
            </a:pPr>
            <a:r>
              <a:rPr lang="en-US" sz="950" b="1" dirty="0">
                <a:solidFill>
                  <a:srgbClr val="A32020"/>
                </a:solidFill>
                <a:latin typeface="Calibri" pitchFamily="34" charset="0"/>
                <a:ea typeface="Calibri" pitchFamily="34" charset="-122"/>
                <a:cs typeface="Calibri" pitchFamily="34" charset="-120"/>
              </a:rPr>
              <a:t>THE WALL</a:t>
            </a:r>
            <a:endParaRPr lang="en-US" sz="950" dirty="0"/>
          </a:p>
          <a:p>
            <a:pPr marL="0" indent="0" algn="ctr">
              <a:buNone/>
            </a:pPr>
            <a:r>
              <a:rPr lang="en-US" sz="950" b="1" dirty="0">
                <a:solidFill>
                  <a:srgbClr val="A32020"/>
                </a:solidFill>
                <a:latin typeface="Calibri" pitchFamily="34" charset="0"/>
                <a:ea typeface="Calibri" pitchFamily="34" charset="-122"/>
                <a:cs typeface="Calibri" pitchFamily="34" charset="-120"/>
              </a:rPr>
              <a:t>Wed 23 Sep</a:t>
            </a:r>
            <a:endParaRPr lang="en-US" sz="950" dirty="0"/>
          </a:p>
        </p:txBody>
      </p:sp>
      <p:sp>
        <p:nvSpPr>
          <p:cNvPr id="28" name="Shape 26"/>
          <p:cNvSpPr/>
          <p:nvPr/>
        </p:nvSpPr>
        <p:spPr>
          <a:xfrm>
            <a:off x="10755630" y="1426464"/>
            <a:ext cx="22860" cy="2395728"/>
          </a:xfrm>
          <a:prstGeom prst="rect">
            <a:avLst/>
          </a:prstGeom>
          <a:solidFill>
            <a:srgbClr val="1C1F26"/>
          </a:solidFill>
          <a:ln/>
        </p:spPr>
        <p:txBody>
          <a:bodyPr/>
          <a:lstStyle/>
          <a:p>
            <a:endParaRPr lang="en-US"/>
          </a:p>
        </p:txBody>
      </p:sp>
      <p:sp>
        <p:nvSpPr>
          <p:cNvPr id="29" name="Text 27"/>
          <p:cNvSpPr/>
          <p:nvPr/>
        </p:nvSpPr>
        <p:spPr>
          <a:xfrm>
            <a:off x="9932670" y="3895344"/>
            <a:ext cx="1371600" cy="457200"/>
          </a:xfrm>
          <a:prstGeom prst="rect">
            <a:avLst/>
          </a:prstGeom>
          <a:noFill/>
          <a:ln/>
        </p:spPr>
        <p:txBody>
          <a:bodyPr wrap="square" lIns="0" tIns="0" rIns="0" bIns="0" rtlCol="0" anchor="ctr"/>
          <a:lstStyle/>
          <a:p>
            <a:pPr marL="0" indent="0" algn="ctr">
              <a:buNone/>
            </a:pPr>
            <a:r>
              <a:rPr lang="en-US" sz="950" b="1" dirty="0">
                <a:solidFill>
                  <a:srgbClr val="1C1F26"/>
                </a:solidFill>
                <a:latin typeface="Calibri" pitchFamily="34" charset="0"/>
                <a:ea typeface="Calibri" pitchFamily="34" charset="-122"/>
                <a:cs typeface="Calibri" pitchFamily="34" charset="-120"/>
              </a:rPr>
              <a:t>DEMO</a:t>
            </a:r>
            <a:endParaRPr lang="en-US" sz="950" dirty="0"/>
          </a:p>
          <a:p>
            <a:pPr marL="0" indent="0" algn="ctr">
              <a:buNone/>
            </a:pPr>
            <a:r>
              <a:rPr lang="en-US" sz="950" b="1" dirty="0">
                <a:solidFill>
                  <a:srgbClr val="1C1F26"/>
                </a:solidFill>
                <a:latin typeface="Calibri" pitchFamily="34" charset="0"/>
                <a:ea typeface="Calibri" pitchFamily="34" charset="-122"/>
                <a:cs typeface="Calibri" pitchFamily="34" charset="-120"/>
              </a:rPr>
              <a:t>Mon 12 Oct</a:t>
            </a:r>
            <a:endParaRPr lang="en-US" sz="950" dirty="0"/>
          </a:p>
        </p:txBody>
      </p:sp>
      <p:sp>
        <p:nvSpPr>
          <p:cNvPr id="30" name="Shape 28"/>
          <p:cNvSpPr/>
          <p:nvPr/>
        </p:nvSpPr>
        <p:spPr>
          <a:xfrm>
            <a:off x="640080" y="4709160"/>
            <a:ext cx="5349240" cy="1371600"/>
          </a:xfrm>
          <a:prstGeom prst="rect">
            <a:avLst/>
          </a:prstGeom>
          <a:solidFill>
            <a:srgbClr val="FFFFFF"/>
          </a:solidFill>
          <a:ln w="12700">
            <a:solidFill>
              <a:srgbClr val="D8D2C9"/>
            </a:solidFill>
            <a:prstDash val="solid"/>
          </a:ln>
        </p:spPr>
        <p:txBody>
          <a:bodyPr/>
          <a:lstStyle/>
          <a:p>
            <a:endParaRPr lang="en-US"/>
          </a:p>
        </p:txBody>
      </p:sp>
      <p:sp>
        <p:nvSpPr>
          <p:cNvPr id="31" name="Text 29"/>
          <p:cNvSpPr/>
          <p:nvPr/>
        </p:nvSpPr>
        <p:spPr>
          <a:xfrm>
            <a:off x="859536" y="4864608"/>
            <a:ext cx="4937760" cy="384048"/>
          </a:xfrm>
          <a:prstGeom prst="rect">
            <a:avLst/>
          </a:prstGeom>
          <a:noFill/>
          <a:ln/>
        </p:spPr>
        <p:txBody>
          <a:bodyPr wrap="square" lIns="0" tIns="0" rIns="0" bIns="0" rtlCol="0" anchor="ctr"/>
          <a:lstStyle/>
          <a:p>
            <a:pPr marL="0" indent="0">
              <a:buNone/>
            </a:pPr>
            <a:r>
              <a:rPr lang="en-US" sz="1500" b="1" dirty="0">
                <a:solidFill>
                  <a:srgbClr val="1C1F26"/>
                </a:solidFill>
                <a:latin typeface="Cambria" pitchFamily="34" charset="0"/>
                <a:ea typeface="Cambria" pitchFamily="34" charset="-122"/>
                <a:cs typeface="Cambria" pitchFamily="34" charset="-120"/>
              </a:rPr>
              <a:t>The inspection chain is easy to under-read</a:t>
            </a:r>
            <a:endParaRPr lang="en-US" sz="1500" dirty="0"/>
          </a:p>
        </p:txBody>
      </p:sp>
      <p:sp>
        <p:nvSpPr>
          <p:cNvPr id="32" name="Text 30"/>
          <p:cNvSpPr/>
          <p:nvPr/>
        </p:nvSpPr>
        <p:spPr>
          <a:xfrm>
            <a:off x="859536" y="5285232"/>
            <a:ext cx="4937760" cy="65836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It looks like a list of small actions. End to end it is 24 working days of sequence, and the last 10 are an external lead time we do not control.</a:t>
            </a:r>
            <a:endParaRPr lang="en-US" sz="1150" dirty="0"/>
          </a:p>
        </p:txBody>
      </p:sp>
      <p:sp>
        <p:nvSpPr>
          <p:cNvPr id="33" name="Shape 31"/>
          <p:cNvSpPr/>
          <p:nvPr/>
        </p:nvSpPr>
        <p:spPr>
          <a:xfrm>
            <a:off x="6172200" y="4709160"/>
            <a:ext cx="5349240" cy="1371600"/>
          </a:xfrm>
          <a:prstGeom prst="rect">
            <a:avLst/>
          </a:prstGeom>
          <a:solidFill>
            <a:srgbClr val="FFFFFF"/>
          </a:solidFill>
          <a:ln w="12700">
            <a:solidFill>
              <a:srgbClr val="D8D2C9"/>
            </a:solidFill>
            <a:prstDash val="solid"/>
          </a:ln>
        </p:spPr>
        <p:txBody>
          <a:bodyPr/>
          <a:lstStyle/>
          <a:p>
            <a:endParaRPr lang="en-US"/>
          </a:p>
        </p:txBody>
      </p:sp>
      <p:sp>
        <p:nvSpPr>
          <p:cNvPr id="34" name="Text 32"/>
          <p:cNvSpPr/>
          <p:nvPr/>
        </p:nvSpPr>
        <p:spPr>
          <a:xfrm>
            <a:off x="6391656" y="4864608"/>
            <a:ext cx="4937760" cy="384048"/>
          </a:xfrm>
          <a:prstGeom prst="rect">
            <a:avLst/>
          </a:prstGeom>
          <a:noFill/>
          <a:ln/>
        </p:spPr>
        <p:txBody>
          <a:bodyPr wrap="square" lIns="0" tIns="0" rIns="0" bIns="0" rtlCol="0" anchor="ctr"/>
          <a:lstStyle/>
          <a:p>
            <a:pPr marL="0" indent="0">
              <a:buNone/>
            </a:pPr>
            <a:r>
              <a:rPr lang="en-US" sz="1500" b="1" dirty="0">
                <a:solidFill>
                  <a:srgbClr val="1C1F26"/>
                </a:solidFill>
                <a:latin typeface="Cambria" pitchFamily="34" charset="0"/>
                <a:ea typeface="Cambria" pitchFamily="34" charset="-122"/>
                <a:cs typeface="Cambria" pitchFamily="34" charset="-120"/>
              </a:rPr>
              <a:t>The firmware chain has two readings</a:t>
            </a:r>
            <a:endParaRPr lang="en-US" sz="1500" dirty="0"/>
          </a:p>
        </p:txBody>
      </p:sp>
      <p:sp>
        <p:nvSpPr>
          <p:cNvPr id="35" name="Text 33"/>
          <p:cNvSpPr/>
          <p:nvPr/>
        </p:nvSpPr>
        <p:spPr>
          <a:xfrm>
            <a:off x="6391656" y="5285232"/>
            <a:ext cx="4937760" cy="65836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The summary lands it at week 5; the detailed breakdown (2.5w + 1.0w + 0.5w from week 3) lands it at week 7. Worth reconciling early — this plan assumes the longer one.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One question decides the shape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Asked in week one, before anyone has built anything. Not discovered in week six.</a:t>
            </a:r>
            <a:endParaRPr lang="en-US" sz="1400" dirty="0"/>
          </a:p>
        </p:txBody>
      </p:sp>
      <p:sp>
        <p:nvSpPr>
          <p:cNvPr id="6" name="Shape 4"/>
          <p:cNvSpPr/>
          <p:nvPr/>
        </p:nvSpPr>
        <p:spPr>
          <a:xfrm>
            <a:off x="640080" y="1371600"/>
            <a:ext cx="10881360" cy="1133856"/>
          </a:xfrm>
          <a:prstGeom prst="rect">
            <a:avLst/>
          </a:prstGeom>
          <a:solidFill>
            <a:srgbClr val="FFFFFF"/>
          </a:solidFill>
          <a:ln w="12700">
            <a:solidFill>
              <a:srgbClr val="B8621B"/>
            </a:solidFill>
            <a:prstDash val="solid"/>
          </a:ln>
        </p:spPr>
        <p:txBody>
          <a:bodyPr/>
          <a:lstStyle/>
          <a:p>
            <a:endParaRPr lang="en-US"/>
          </a:p>
        </p:txBody>
      </p:sp>
      <p:sp>
        <p:nvSpPr>
          <p:cNvPr id="7" name="Text 5"/>
          <p:cNvSpPr/>
          <p:nvPr/>
        </p:nvSpPr>
        <p:spPr>
          <a:xfrm>
            <a:off x="914400" y="1517904"/>
            <a:ext cx="10332720" cy="365760"/>
          </a:xfrm>
          <a:prstGeom prst="rect">
            <a:avLst/>
          </a:prstGeom>
          <a:noFill/>
          <a:ln/>
        </p:spPr>
        <p:txBody>
          <a:bodyPr wrap="square" lIns="0" tIns="0" rIns="0" bIns="0" rtlCol="0" anchor="ctr"/>
          <a:lstStyle/>
          <a:p>
            <a:pPr marL="0" indent="0">
              <a:buNone/>
            </a:pPr>
            <a:r>
              <a:rPr lang="en-US" sz="1400" b="1" dirty="0">
                <a:solidFill>
                  <a:srgbClr val="B8621B"/>
                </a:solidFill>
                <a:latin typeface="Calibri" pitchFamily="34" charset="0"/>
                <a:ea typeface="Calibri" pitchFamily="34" charset="-122"/>
                <a:cs typeface="Calibri" pitchFamily="34" charset="-120"/>
              </a:rPr>
              <a:t>Q-A  </a:t>
            </a:r>
            <a:r>
              <a:rPr lang="en-US" sz="1400" dirty="0">
                <a:solidFill>
                  <a:srgbClr val="1C1F26"/>
                </a:solidFill>
                <a:latin typeface="Calibri" pitchFamily="34" charset="0"/>
                <a:ea typeface="Calibri" pitchFamily="34" charset="-122"/>
                <a:cs typeface="Calibri" pitchFamily="34" charset="-120"/>
              </a:rPr>
              <a:t>Can v4.2 split so the stop path ships first and observability ships after sign-off?</a:t>
            </a:r>
            <a:endParaRPr lang="en-US" sz="1400" dirty="0"/>
          </a:p>
        </p:txBody>
      </p:sp>
      <p:sp>
        <p:nvSpPr>
          <p:cNvPr id="8" name="Text 6"/>
          <p:cNvSpPr/>
          <p:nvPr/>
        </p:nvSpPr>
        <p:spPr>
          <a:xfrm>
            <a:off x="914400" y="1883664"/>
            <a:ext cx="10332720" cy="365760"/>
          </a:xfrm>
          <a:prstGeom prst="rect">
            <a:avLst/>
          </a:prstGeom>
          <a:noFill/>
          <a:ln/>
        </p:spPr>
        <p:txBody>
          <a:bodyPr wrap="square" lIns="0" tIns="0" rIns="0" bIns="0" rtlCol="0" anchor="ctr"/>
          <a:lstStyle/>
          <a:p>
            <a:pPr marL="0" indent="0">
              <a:buNone/>
            </a:pPr>
            <a:r>
              <a:rPr lang="en-US" sz="1400" b="1" dirty="0">
                <a:solidFill>
                  <a:srgbClr val="B8621B"/>
                </a:solidFill>
                <a:latin typeface="Calibri" pitchFamily="34" charset="0"/>
                <a:ea typeface="Calibri" pitchFamily="34" charset="-122"/>
                <a:cs typeface="Calibri" pitchFamily="34" charset="-120"/>
              </a:rPr>
              <a:t>Q-B  </a:t>
            </a:r>
            <a:r>
              <a:rPr lang="en-US" sz="1400" dirty="0">
                <a:solidFill>
                  <a:srgbClr val="1C1F26"/>
                </a:solidFill>
                <a:latin typeface="Calibri" pitchFamily="34" charset="0"/>
                <a:ea typeface="Calibri" pitchFamily="34" charset="-122"/>
                <a:cs typeface="Calibri" pitchFamily="34" charset="-120"/>
              </a:rPr>
              <a:t>Can the run-event stream ride in the early half without extending its build?</a:t>
            </a:r>
            <a:endParaRPr lang="en-US" sz="1400" dirty="0"/>
          </a:p>
        </p:txBody>
      </p:sp>
      <p:sp>
        <p:nvSpPr>
          <p:cNvPr id="9" name="Text 7"/>
          <p:cNvSpPr/>
          <p:nvPr/>
        </p:nvSpPr>
        <p:spPr>
          <a:xfrm>
            <a:off x="914400" y="2212848"/>
            <a:ext cx="10332720" cy="27432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Q-A asks whether the split is possible. Q-B asks whether it is worth having.</a:t>
            </a:r>
            <a:endParaRPr lang="en-US" sz="1150" dirty="0"/>
          </a:p>
        </p:txBody>
      </p:sp>
      <p:sp>
        <p:nvSpPr>
          <p:cNvPr id="10" name="Shape 8"/>
          <p:cNvSpPr/>
          <p:nvPr/>
        </p:nvSpPr>
        <p:spPr>
          <a:xfrm>
            <a:off x="640080" y="2724912"/>
            <a:ext cx="5349240" cy="2487168"/>
          </a:xfrm>
          <a:prstGeom prst="rect">
            <a:avLst/>
          </a:prstGeom>
          <a:solidFill>
            <a:srgbClr val="FFFFFF"/>
          </a:solidFill>
          <a:ln w="12700">
            <a:solidFill>
              <a:srgbClr val="D8D2C9"/>
            </a:solidFill>
            <a:prstDash val="solid"/>
          </a:ln>
        </p:spPr>
        <p:txBody>
          <a:bodyPr/>
          <a:lstStyle/>
          <a:p>
            <a:endParaRPr lang="en-US"/>
          </a:p>
        </p:txBody>
      </p:sp>
      <p:sp>
        <p:nvSpPr>
          <p:cNvPr id="11" name="Shape 9"/>
          <p:cNvSpPr/>
          <p:nvPr/>
        </p:nvSpPr>
        <p:spPr>
          <a:xfrm>
            <a:off x="640080" y="2724912"/>
            <a:ext cx="5349240" cy="420624"/>
          </a:xfrm>
          <a:prstGeom prst="rect">
            <a:avLst/>
          </a:prstGeom>
          <a:solidFill>
            <a:srgbClr val="B8621B"/>
          </a:solidFill>
          <a:ln/>
        </p:spPr>
        <p:txBody>
          <a:bodyPr/>
          <a:lstStyle/>
          <a:p>
            <a:endParaRPr lang="en-US"/>
          </a:p>
        </p:txBody>
      </p:sp>
      <p:sp>
        <p:nvSpPr>
          <p:cNvPr id="12" name="Text 10"/>
          <p:cNvSpPr/>
          <p:nvPr/>
        </p:nvSpPr>
        <p:spPr>
          <a:xfrm>
            <a:off x="859536" y="2724912"/>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PLAN A — split works</a:t>
            </a:r>
            <a:endParaRPr lang="en-US" sz="1250" dirty="0"/>
          </a:p>
        </p:txBody>
      </p:sp>
      <p:sp>
        <p:nvSpPr>
          <p:cNvPr id="13" name="Text 11"/>
          <p:cNvSpPr/>
          <p:nvPr/>
        </p:nvSpPr>
        <p:spPr>
          <a:xfrm>
            <a:off x="859536" y="3255264"/>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Demo 12 Oct</a:t>
            </a:r>
            <a:endParaRPr lang="en-US" sz="1150" dirty="0"/>
          </a:p>
        </p:txBody>
      </p:sp>
      <p:sp>
        <p:nvSpPr>
          <p:cNvPr id="14" name="Text 12"/>
          <p:cNvSpPr/>
          <p:nvPr/>
        </p:nvSpPr>
        <p:spPr>
          <a:xfrm>
            <a:off x="4023360" y="3255264"/>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Unsupervised</a:t>
            </a:r>
            <a:endParaRPr lang="en-US" sz="1150" dirty="0"/>
          </a:p>
        </p:txBody>
      </p:sp>
      <p:sp>
        <p:nvSpPr>
          <p:cNvPr id="15" name="Text 13"/>
          <p:cNvSpPr/>
          <p:nvPr/>
        </p:nvSpPr>
        <p:spPr>
          <a:xfrm>
            <a:off x="859536" y="3639312"/>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Certificate</a:t>
            </a:r>
            <a:endParaRPr lang="en-US" sz="1150" dirty="0"/>
          </a:p>
        </p:txBody>
      </p:sp>
      <p:sp>
        <p:nvSpPr>
          <p:cNvPr id="16" name="Text 14"/>
          <p:cNvSpPr/>
          <p:nvPr/>
        </p:nvSpPr>
        <p:spPr>
          <a:xfrm>
            <a:off x="4023360" y="3639312"/>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Wed 7 Oct</a:t>
            </a:r>
            <a:endParaRPr lang="en-US" sz="1150" dirty="0"/>
          </a:p>
        </p:txBody>
      </p:sp>
      <p:sp>
        <p:nvSpPr>
          <p:cNvPr id="17" name="Text 15"/>
          <p:cNvSpPr/>
          <p:nvPr/>
        </p:nvSpPr>
        <p:spPr>
          <a:xfrm>
            <a:off x="859536" y="4023360"/>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Fleet Monitor real-cell integration</a:t>
            </a:r>
            <a:endParaRPr lang="en-US" sz="1150" dirty="0"/>
          </a:p>
        </p:txBody>
      </p:sp>
      <p:sp>
        <p:nvSpPr>
          <p:cNvPr id="18" name="Text 16"/>
          <p:cNvSpPr/>
          <p:nvPr/>
        </p:nvSpPr>
        <p:spPr>
          <a:xfrm>
            <a:off x="4023360" y="4023360"/>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1 week</a:t>
            </a:r>
            <a:endParaRPr lang="en-US" sz="1150" dirty="0"/>
          </a:p>
        </p:txBody>
      </p:sp>
      <p:sp>
        <p:nvSpPr>
          <p:cNvPr id="19" name="Text 17"/>
          <p:cNvSpPr/>
          <p:nvPr/>
        </p:nvSpPr>
        <p:spPr>
          <a:xfrm>
            <a:off x="859536" y="4407408"/>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FM-4 buffer</a:t>
            </a:r>
            <a:endParaRPr lang="en-US" sz="1150" dirty="0"/>
          </a:p>
        </p:txBody>
      </p:sp>
      <p:sp>
        <p:nvSpPr>
          <p:cNvPr id="20" name="Text 18"/>
          <p:cNvSpPr/>
          <p:nvPr/>
        </p:nvSpPr>
        <p:spPr>
          <a:xfrm>
            <a:off x="4023360" y="4407408"/>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Cut</a:t>
            </a:r>
            <a:endParaRPr lang="en-US" sz="1150" dirty="0"/>
          </a:p>
        </p:txBody>
      </p:sp>
      <p:sp>
        <p:nvSpPr>
          <p:cNvPr id="21" name="Text 19"/>
          <p:cNvSpPr/>
          <p:nvPr/>
        </p:nvSpPr>
        <p:spPr>
          <a:xfrm>
            <a:off x="859536" y="4791456"/>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Float on robotics chain</a:t>
            </a:r>
            <a:endParaRPr lang="en-US" sz="1150" dirty="0"/>
          </a:p>
        </p:txBody>
      </p:sp>
      <p:sp>
        <p:nvSpPr>
          <p:cNvPr id="22" name="Text 20"/>
          <p:cNvSpPr/>
          <p:nvPr/>
        </p:nvSpPr>
        <p:spPr>
          <a:xfrm>
            <a:off x="4023360" y="4791456"/>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~1 day</a:t>
            </a:r>
            <a:endParaRPr lang="en-US" sz="1150" dirty="0"/>
          </a:p>
        </p:txBody>
      </p:sp>
      <p:sp>
        <p:nvSpPr>
          <p:cNvPr id="23" name="Shape 21"/>
          <p:cNvSpPr/>
          <p:nvPr/>
        </p:nvSpPr>
        <p:spPr>
          <a:xfrm>
            <a:off x="6172200" y="2724912"/>
            <a:ext cx="5349240" cy="2487168"/>
          </a:xfrm>
          <a:prstGeom prst="rect">
            <a:avLst/>
          </a:prstGeom>
          <a:solidFill>
            <a:srgbClr val="FFFFFF"/>
          </a:solidFill>
          <a:ln w="12700">
            <a:solidFill>
              <a:srgbClr val="D8D2C9"/>
            </a:solidFill>
            <a:prstDash val="solid"/>
          </a:ln>
        </p:spPr>
        <p:txBody>
          <a:bodyPr/>
          <a:lstStyle/>
          <a:p>
            <a:endParaRPr lang="en-US"/>
          </a:p>
        </p:txBody>
      </p:sp>
      <p:sp>
        <p:nvSpPr>
          <p:cNvPr id="24" name="Shape 22"/>
          <p:cNvSpPr/>
          <p:nvPr/>
        </p:nvSpPr>
        <p:spPr>
          <a:xfrm>
            <a:off x="6172200" y="2724912"/>
            <a:ext cx="5349240" cy="420624"/>
          </a:xfrm>
          <a:prstGeom prst="rect">
            <a:avLst/>
          </a:prstGeom>
          <a:solidFill>
            <a:srgbClr val="1C1F26"/>
          </a:solidFill>
          <a:ln/>
        </p:spPr>
        <p:txBody>
          <a:bodyPr/>
          <a:lstStyle/>
          <a:p>
            <a:endParaRPr lang="en-US"/>
          </a:p>
        </p:txBody>
      </p:sp>
      <p:sp>
        <p:nvSpPr>
          <p:cNvPr id="25" name="Text 23"/>
          <p:cNvSpPr/>
          <p:nvPr/>
        </p:nvSpPr>
        <p:spPr>
          <a:xfrm>
            <a:off x="6391656" y="2724912"/>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PLAN B — split does not work</a:t>
            </a:r>
            <a:endParaRPr lang="en-US" sz="1250" dirty="0"/>
          </a:p>
        </p:txBody>
      </p:sp>
      <p:sp>
        <p:nvSpPr>
          <p:cNvPr id="26" name="Text 24"/>
          <p:cNvSpPr/>
          <p:nvPr/>
        </p:nvSpPr>
        <p:spPr>
          <a:xfrm>
            <a:off x="6391656" y="3255264"/>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Demo 12 Oct</a:t>
            </a:r>
            <a:endParaRPr lang="en-US" sz="1150" dirty="0"/>
          </a:p>
        </p:txBody>
      </p:sp>
      <p:sp>
        <p:nvSpPr>
          <p:cNvPr id="27" name="Text 25"/>
          <p:cNvSpPr/>
          <p:nvPr/>
        </p:nvSpPr>
        <p:spPr>
          <a:xfrm>
            <a:off x="9555480" y="3255264"/>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Supervised</a:t>
            </a:r>
            <a:endParaRPr lang="en-US" sz="1150" dirty="0"/>
          </a:p>
        </p:txBody>
      </p:sp>
      <p:sp>
        <p:nvSpPr>
          <p:cNvPr id="28" name="Text 26"/>
          <p:cNvSpPr/>
          <p:nvPr/>
        </p:nvSpPr>
        <p:spPr>
          <a:xfrm>
            <a:off x="6391656" y="3639312"/>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Certificate</a:t>
            </a:r>
            <a:endParaRPr lang="en-US" sz="1150" dirty="0"/>
          </a:p>
        </p:txBody>
      </p:sp>
      <p:sp>
        <p:nvSpPr>
          <p:cNvPr id="29" name="Text 27"/>
          <p:cNvSpPr/>
          <p:nvPr/>
        </p:nvSpPr>
        <p:spPr>
          <a:xfrm>
            <a:off x="9555480" y="3639312"/>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~Mon 2 Nov</a:t>
            </a:r>
            <a:endParaRPr lang="en-US" sz="1150" dirty="0"/>
          </a:p>
        </p:txBody>
      </p:sp>
      <p:sp>
        <p:nvSpPr>
          <p:cNvPr id="30" name="Text 28"/>
          <p:cNvSpPr/>
          <p:nvPr/>
        </p:nvSpPr>
        <p:spPr>
          <a:xfrm>
            <a:off x="6391656" y="4023360"/>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Fleet Monitor real-cell integration</a:t>
            </a:r>
            <a:endParaRPr lang="en-US" sz="1150" dirty="0"/>
          </a:p>
        </p:txBody>
      </p:sp>
      <p:sp>
        <p:nvSpPr>
          <p:cNvPr id="31" name="Text 29"/>
          <p:cNvSpPr/>
          <p:nvPr/>
        </p:nvSpPr>
        <p:spPr>
          <a:xfrm>
            <a:off x="9555480" y="4023360"/>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3+ weeks</a:t>
            </a:r>
            <a:endParaRPr lang="en-US" sz="1150" dirty="0"/>
          </a:p>
        </p:txBody>
      </p:sp>
      <p:sp>
        <p:nvSpPr>
          <p:cNvPr id="32" name="Text 30"/>
          <p:cNvSpPr/>
          <p:nvPr/>
        </p:nvSpPr>
        <p:spPr>
          <a:xfrm>
            <a:off x="6391656" y="4407408"/>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FM-4 buffer</a:t>
            </a:r>
            <a:endParaRPr lang="en-US" sz="1150" dirty="0"/>
          </a:p>
        </p:txBody>
      </p:sp>
      <p:sp>
        <p:nvSpPr>
          <p:cNvPr id="33" name="Text 31"/>
          <p:cNvSpPr/>
          <p:nvPr/>
        </p:nvSpPr>
        <p:spPr>
          <a:xfrm>
            <a:off x="9555480" y="4407408"/>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Ships</a:t>
            </a:r>
            <a:endParaRPr lang="en-US" sz="1150" dirty="0"/>
          </a:p>
        </p:txBody>
      </p:sp>
      <p:sp>
        <p:nvSpPr>
          <p:cNvPr id="34" name="Text 32"/>
          <p:cNvSpPr/>
          <p:nvPr/>
        </p:nvSpPr>
        <p:spPr>
          <a:xfrm>
            <a:off x="6391656" y="4791456"/>
            <a:ext cx="3200400" cy="310896"/>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Float on robotics chain</a:t>
            </a:r>
            <a:endParaRPr lang="en-US" sz="1150" dirty="0"/>
          </a:p>
        </p:txBody>
      </p:sp>
      <p:sp>
        <p:nvSpPr>
          <p:cNvPr id="35" name="Text 33"/>
          <p:cNvSpPr/>
          <p:nvPr/>
        </p:nvSpPr>
        <p:spPr>
          <a:xfrm>
            <a:off x="9555480" y="4791456"/>
            <a:ext cx="1737360" cy="310896"/>
          </a:xfrm>
          <a:prstGeom prst="rect">
            <a:avLst/>
          </a:prstGeom>
          <a:noFill/>
          <a:ln/>
        </p:spPr>
        <p:txBody>
          <a:bodyPr wrap="square" lIns="0" tIns="0" rIns="0" bIns="0" rtlCol="0" anchor="ctr"/>
          <a:lstStyle/>
          <a:p>
            <a:pPr marL="0" indent="0" algn="r">
              <a:buNone/>
            </a:pPr>
            <a:r>
              <a:rPr lang="en-US" sz="1150" b="1" dirty="0">
                <a:solidFill>
                  <a:srgbClr val="1C1F26"/>
                </a:solidFill>
                <a:latin typeface="Calibri" pitchFamily="34" charset="0"/>
                <a:ea typeface="Calibri" pitchFamily="34" charset="-122"/>
                <a:cs typeface="Calibri" pitchFamily="34" charset="-120"/>
              </a:rPr>
              <a:t>~2 weeks</a:t>
            </a:r>
            <a:endParaRPr lang="en-US" sz="1150" dirty="0"/>
          </a:p>
        </p:txBody>
      </p:sp>
      <p:sp>
        <p:nvSpPr>
          <p:cNvPr id="36" name="Shape 34"/>
          <p:cNvSpPr/>
          <p:nvPr/>
        </p:nvSpPr>
        <p:spPr>
          <a:xfrm>
            <a:off x="650128" y="5431536"/>
            <a:ext cx="10881360" cy="786384"/>
          </a:xfrm>
          <a:prstGeom prst="rect">
            <a:avLst/>
          </a:prstGeom>
          <a:solidFill>
            <a:srgbClr val="1C1F26"/>
          </a:solidFill>
          <a:ln w="12700">
            <a:solidFill>
              <a:srgbClr val="1C1F26"/>
            </a:solidFill>
            <a:prstDash val="solid"/>
          </a:ln>
        </p:spPr>
        <p:txBody>
          <a:bodyPr/>
          <a:lstStyle/>
          <a:p>
            <a:endParaRPr lang="en-US"/>
          </a:p>
        </p:txBody>
      </p:sp>
      <p:sp>
        <p:nvSpPr>
          <p:cNvPr id="37" name="Text 35"/>
          <p:cNvSpPr/>
          <p:nvPr/>
        </p:nvSpPr>
        <p:spPr>
          <a:xfrm>
            <a:off x="914400" y="5431536"/>
            <a:ext cx="10332720" cy="786384"/>
          </a:xfrm>
          <a:prstGeom prst="rect">
            <a:avLst/>
          </a:prstGeom>
          <a:noFill/>
          <a:ln/>
        </p:spPr>
        <p:txBody>
          <a:bodyPr wrap="square" lIns="0" tIns="0" rIns="0" bIns="0" rtlCol="0" anchor="ctr"/>
          <a:lstStyle/>
          <a:p>
            <a:pPr marL="0" indent="0">
              <a:buNone/>
            </a:pPr>
            <a:r>
              <a:rPr lang="en-US" sz="1250" b="1" dirty="0">
                <a:solidFill>
                  <a:srgbClr val="B8621B"/>
                </a:solidFill>
                <a:latin typeface="Calibri" pitchFamily="34" charset="0"/>
                <a:ea typeface="Calibri" pitchFamily="34" charset="-122"/>
                <a:cs typeface="Calibri" pitchFamily="34" charset="-120"/>
              </a:rPr>
              <a:t>Recommendation:  </a:t>
            </a:r>
            <a:r>
              <a:rPr lang="en-US" sz="1250" dirty="0">
                <a:solidFill>
                  <a:srgbClr val="FFFFFF"/>
                </a:solidFill>
                <a:latin typeface="Calibri" pitchFamily="34" charset="0"/>
                <a:ea typeface="Calibri" pitchFamily="34" charset="-122"/>
                <a:cs typeface="Calibri" pitchFamily="34" charset="-120"/>
              </a:rPr>
              <a:t>Plan B, unless both answers are yes. Plan A as originally scoped delivers an unsupervised demo of under-integrated software — and the under-integrated half is the feature the customer came for.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What gives, and the number behind each</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Demand as handed over: 35.6 person-weeks against 23.9 available. Roughly 49% over.</a:t>
            </a:r>
            <a:endParaRPr lang="en-US" sz="1400" dirty="0"/>
          </a:p>
        </p:txBody>
      </p:sp>
      <p:sp>
        <p:nvSpPr>
          <p:cNvPr id="6" name="Shape 4"/>
          <p:cNvSpPr/>
          <p:nvPr/>
        </p:nvSpPr>
        <p:spPr>
          <a:xfrm>
            <a:off x="640080" y="1481328"/>
            <a:ext cx="10881360" cy="1042416"/>
          </a:xfrm>
          <a:prstGeom prst="rect">
            <a:avLst/>
          </a:prstGeom>
          <a:solidFill>
            <a:srgbClr val="FFFFFF"/>
          </a:solidFill>
          <a:ln w="12700">
            <a:solidFill>
              <a:srgbClr val="D8D2C9"/>
            </a:solidFill>
            <a:prstDash val="solid"/>
          </a:ln>
        </p:spPr>
        <p:txBody>
          <a:bodyPr/>
          <a:lstStyle/>
          <a:p>
            <a:endParaRPr lang="en-US"/>
          </a:p>
        </p:txBody>
      </p:sp>
      <p:sp>
        <p:nvSpPr>
          <p:cNvPr id="7" name="Text 5"/>
          <p:cNvSpPr/>
          <p:nvPr/>
        </p:nvSpPr>
        <p:spPr>
          <a:xfrm>
            <a:off x="859536" y="1627632"/>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4.5</a:t>
            </a:r>
            <a:endParaRPr lang="en-US" sz="3000" dirty="0"/>
          </a:p>
        </p:txBody>
      </p:sp>
      <p:sp>
        <p:nvSpPr>
          <p:cNvPr id="8" name="Text 6"/>
          <p:cNvSpPr/>
          <p:nvPr/>
        </p:nvSpPr>
        <p:spPr>
          <a:xfrm>
            <a:off x="859536" y="2176272"/>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9" name="Text 7"/>
          <p:cNvSpPr/>
          <p:nvPr/>
        </p:nvSpPr>
        <p:spPr>
          <a:xfrm>
            <a:off x="2121408" y="1627632"/>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Build model migration cutover</a:t>
            </a:r>
            <a:endParaRPr lang="en-US" sz="1400" dirty="0"/>
          </a:p>
        </p:txBody>
      </p:sp>
      <p:sp>
        <p:nvSpPr>
          <p:cNvPr id="10" name="Text 8"/>
          <p:cNvSpPr/>
          <p:nvPr/>
        </p:nvSpPr>
        <p:spPr>
          <a:xfrm>
            <a:off x="2121408" y="1956816"/>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The week-3 target needs 4.5 calibrated weeks against 2.8 available before it, with weeks 4–5 out. Replaced by a read-only adapter; cutover moves to Q4.</a:t>
            </a:r>
            <a:endParaRPr lang="en-US" sz="1150" dirty="0"/>
          </a:p>
        </p:txBody>
      </p:sp>
      <p:sp>
        <p:nvSpPr>
          <p:cNvPr id="11" name="Shape 9"/>
          <p:cNvSpPr/>
          <p:nvPr/>
        </p:nvSpPr>
        <p:spPr>
          <a:xfrm>
            <a:off x="640080" y="2651760"/>
            <a:ext cx="10881360" cy="1042416"/>
          </a:xfrm>
          <a:prstGeom prst="rect">
            <a:avLst/>
          </a:prstGeom>
          <a:solidFill>
            <a:srgbClr val="FFFFFF"/>
          </a:solidFill>
          <a:ln w="12700">
            <a:solidFill>
              <a:srgbClr val="D8D2C9"/>
            </a:solidFill>
            <a:prstDash val="solid"/>
          </a:ln>
        </p:spPr>
        <p:txBody>
          <a:bodyPr/>
          <a:lstStyle/>
          <a:p>
            <a:endParaRPr lang="en-US"/>
          </a:p>
        </p:txBody>
      </p:sp>
      <p:sp>
        <p:nvSpPr>
          <p:cNvPr id="12" name="Text 10"/>
          <p:cNvSpPr/>
          <p:nvPr/>
        </p:nvSpPr>
        <p:spPr>
          <a:xfrm>
            <a:off x="859536" y="2798064"/>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2.3</a:t>
            </a:r>
            <a:endParaRPr lang="en-US" sz="3000" dirty="0"/>
          </a:p>
        </p:txBody>
      </p:sp>
      <p:sp>
        <p:nvSpPr>
          <p:cNvPr id="13" name="Text 11"/>
          <p:cNvSpPr/>
          <p:nvPr/>
        </p:nvSpPr>
        <p:spPr>
          <a:xfrm>
            <a:off x="859536" y="3346704"/>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14" name="Text 12"/>
          <p:cNvSpPr/>
          <p:nvPr/>
        </p:nvSpPr>
        <p:spPr>
          <a:xfrm>
            <a:off x="2121408" y="2798064"/>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Indirect effects, as designed</a:t>
            </a:r>
            <a:endParaRPr lang="en-US" sz="1400" dirty="0"/>
          </a:p>
        </p:txBody>
      </p:sp>
      <p:sp>
        <p:nvSpPr>
          <p:cNvPr id="15" name="Text 13"/>
          <p:cNvSpPr/>
          <p:nvPr/>
        </p:nvSpPr>
        <p:spPr>
          <a:xfrm>
            <a:off x="2121408" y="3127248"/>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Adjacency flags 13 of 20 panels on the real fixture, against a 12% waste baseline — it over-flags, which is the opposite of what the feature is for.</a:t>
            </a:r>
            <a:endParaRPr lang="en-US" sz="1150" dirty="0"/>
          </a:p>
        </p:txBody>
      </p:sp>
      <p:sp>
        <p:nvSpPr>
          <p:cNvPr id="16" name="Shape 14"/>
          <p:cNvSpPr/>
          <p:nvPr/>
        </p:nvSpPr>
        <p:spPr>
          <a:xfrm>
            <a:off x="640080" y="3822192"/>
            <a:ext cx="10881360" cy="1042416"/>
          </a:xfrm>
          <a:prstGeom prst="rect">
            <a:avLst/>
          </a:prstGeom>
          <a:solidFill>
            <a:srgbClr val="FFFFFF"/>
          </a:solidFill>
          <a:ln w="12700">
            <a:solidFill>
              <a:srgbClr val="D8D2C9"/>
            </a:solidFill>
            <a:prstDash val="solid"/>
          </a:ln>
        </p:spPr>
        <p:txBody>
          <a:bodyPr/>
          <a:lstStyle/>
          <a:p>
            <a:endParaRPr lang="en-US"/>
          </a:p>
        </p:txBody>
      </p:sp>
      <p:sp>
        <p:nvSpPr>
          <p:cNvPr id="17" name="Text 15"/>
          <p:cNvSpPr/>
          <p:nvPr/>
        </p:nvSpPr>
        <p:spPr>
          <a:xfrm>
            <a:off x="859536" y="3968496"/>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3.6</a:t>
            </a:r>
            <a:endParaRPr lang="en-US" sz="3000" dirty="0"/>
          </a:p>
        </p:txBody>
      </p:sp>
      <p:sp>
        <p:nvSpPr>
          <p:cNvPr id="18" name="Text 16"/>
          <p:cNvSpPr/>
          <p:nvPr/>
        </p:nvSpPr>
        <p:spPr>
          <a:xfrm>
            <a:off x="859536" y="4517136"/>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19" name="Text 17"/>
          <p:cNvSpPr/>
          <p:nvPr/>
        </p:nvSpPr>
        <p:spPr>
          <a:xfrm>
            <a:off x="2121408" y="3968496"/>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Run-progress estimator</a:t>
            </a:r>
            <a:endParaRPr lang="en-US" sz="1400" dirty="0"/>
          </a:p>
        </p:txBody>
      </p:sp>
      <p:sp>
        <p:nvSpPr>
          <p:cNvPr id="20" name="Text 18"/>
          <p:cNvSpPr/>
          <p:nvPr/>
        </p:nvSpPr>
        <p:spPr>
          <a:xfrm>
            <a:off x="2121408" y="4297680"/>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cycleSeconds does not reconcile with wall clock — 388s reported against 376s elapsed. Derive from panel counts instead.</a:t>
            </a:r>
            <a:endParaRPr lang="en-US" sz="1150" dirty="0"/>
          </a:p>
        </p:txBody>
      </p:sp>
      <p:sp>
        <p:nvSpPr>
          <p:cNvPr id="21" name="Shape 19"/>
          <p:cNvSpPr/>
          <p:nvPr/>
        </p:nvSpPr>
        <p:spPr>
          <a:xfrm>
            <a:off x="640080" y="4992624"/>
            <a:ext cx="10881360" cy="1042416"/>
          </a:xfrm>
          <a:prstGeom prst="rect">
            <a:avLst/>
          </a:prstGeom>
          <a:solidFill>
            <a:srgbClr val="FFFFFF"/>
          </a:solidFill>
          <a:ln w="12700">
            <a:solidFill>
              <a:srgbClr val="D8D2C9"/>
            </a:solidFill>
            <a:prstDash val="solid"/>
          </a:ln>
        </p:spPr>
        <p:txBody>
          <a:bodyPr/>
          <a:lstStyle/>
          <a:p>
            <a:endParaRPr lang="en-US"/>
          </a:p>
        </p:txBody>
      </p:sp>
      <p:sp>
        <p:nvSpPr>
          <p:cNvPr id="22" name="Text 20"/>
          <p:cNvSpPr/>
          <p:nvPr/>
        </p:nvSpPr>
        <p:spPr>
          <a:xfrm>
            <a:off x="859536" y="5138928"/>
            <a:ext cx="1051560" cy="566928"/>
          </a:xfrm>
          <a:prstGeom prst="rect">
            <a:avLst/>
          </a:prstGeom>
          <a:noFill/>
          <a:ln/>
        </p:spPr>
        <p:txBody>
          <a:bodyPr wrap="square" lIns="0" tIns="0" rIns="0" bIns="0" rtlCol="0" anchor="ctr"/>
          <a:lstStyle/>
          <a:p>
            <a:pPr marL="0" indent="0" algn="ctr">
              <a:buNone/>
            </a:pPr>
            <a:r>
              <a:rPr lang="en-US" sz="3000" b="1" dirty="0">
                <a:solidFill>
                  <a:srgbClr val="B8621B"/>
                </a:solidFill>
                <a:latin typeface="Cambria" pitchFamily="34" charset="0"/>
                <a:ea typeface="Cambria" pitchFamily="34" charset="-122"/>
                <a:cs typeface="Cambria" pitchFamily="34" charset="-120"/>
              </a:rPr>
              <a:t>0.7</a:t>
            </a:r>
            <a:endParaRPr lang="en-US" sz="3000" dirty="0"/>
          </a:p>
        </p:txBody>
      </p:sp>
      <p:sp>
        <p:nvSpPr>
          <p:cNvPr id="23" name="Text 21"/>
          <p:cNvSpPr/>
          <p:nvPr/>
        </p:nvSpPr>
        <p:spPr>
          <a:xfrm>
            <a:off x="859536" y="5687568"/>
            <a:ext cx="1051560" cy="219456"/>
          </a:xfrm>
          <a:prstGeom prst="rect">
            <a:avLst/>
          </a:prstGeom>
          <a:noFill/>
          <a:ln/>
        </p:spPr>
        <p:txBody>
          <a:bodyPr wrap="square" lIns="0" tIns="0" rIns="0" bIns="0" rtlCol="0" anchor="ctr"/>
          <a:lstStyle/>
          <a:p>
            <a:pPr marL="0" indent="0" algn="ctr">
              <a:buNone/>
            </a:pPr>
            <a:r>
              <a:rPr lang="en-US" sz="950" dirty="0">
                <a:solidFill>
                  <a:srgbClr val="6E7781"/>
                </a:solidFill>
                <a:latin typeface="Calibri" pitchFamily="34" charset="0"/>
                <a:ea typeface="Calibri" pitchFamily="34" charset="-122"/>
                <a:cs typeface="Calibri" pitchFamily="34" charset="-120"/>
              </a:rPr>
              <a:t>wks</a:t>
            </a:r>
            <a:endParaRPr lang="en-US" sz="950" dirty="0"/>
          </a:p>
        </p:txBody>
      </p:sp>
      <p:sp>
        <p:nvSpPr>
          <p:cNvPr id="24" name="Text 22"/>
          <p:cNvSpPr/>
          <p:nvPr/>
        </p:nvSpPr>
        <p:spPr>
          <a:xfrm>
            <a:off x="2121408" y="5138928"/>
            <a:ext cx="9052560" cy="310896"/>
          </a:xfrm>
          <a:prstGeom prst="rect">
            <a:avLst/>
          </a:prstGeom>
          <a:noFill/>
          <a:ln/>
        </p:spPr>
        <p:txBody>
          <a:bodyPr wrap="square" lIns="0" tIns="0" rIns="0" bIns="0" rtlCol="0" anchor="ctr"/>
          <a:lstStyle/>
          <a:p>
            <a:pPr marL="0" indent="0">
              <a:buNone/>
            </a:pPr>
            <a:r>
              <a:rPr lang="en-US" sz="1400" b="1" dirty="0">
                <a:solidFill>
                  <a:srgbClr val="1C1F26"/>
                </a:solidFill>
                <a:latin typeface="Calibri" pitchFamily="34" charset="0"/>
                <a:ea typeface="Calibri" pitchFamily="34" charset="-122"/>
                <a:cs typeface="Calibri" pitchFamily="34" charset="-120"/>
              </a:rPr>
              <a:t>Operator sign-in (a4)</a:t>
            </a:r>
            <a:endParaRPr lang="en-US" sz="1400" dirty="0"/>
          </a:p>
        </p:txBody>
      </p:sp>
      <p:sp>
        <p:nvSpPr>
          <p:cNvPr id="25" name="Text 23"/>
          <p:cNvSpPr/>
          <p:nvPr/>
        </p:nvSpPr>
        <p:spPr>
          <a:xfrm>
            <a:off x="2121408" y="5468112"/>
            <a:ext cx="9052560" cy="45720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The only inspection action that does not block unsupervised running. run.started may already carry the data.</a:t>
            </a:r>
            <a:endParaRPr lang="en-US" sz="1150" dirty="0"/>
          </a:p>
        </p:txBody>
      </p:sp>
      <p:sp>
        <p:nvSpPr>
          <p:cNvPr id="26" name="Text 24"/>
          <p:cNvSpPr/>
          <p:nvPr/>
        </p:nvSpPr>
        <p:spPr>
          <a:xfrm>
            <a:off x="640080" y="6236208"/>
            <a:ext cx="10881360" cy="292608"/>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After cuts: ~21.4 against 23.9. About 10% slack, so the release valves are pre-agreed rather than found later.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What I added, and why it came from the data</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Neither was in the hand-over. Both fall out of reading the fixtures.</a:t>
            </a:r>
            <a:endParaRPr lang="en-US" sz="1400" dirty="0"/>
          </a:p>
        </p:txBody>
      </p:sp>
      <p:sp>
        <p:nvSpPr>
          <p:cNvPr id="6" name="Shape 4"/>
          <p:cNvSpPr/>
          <p:nvPr/>
        </p:nvSpPr>
        <p:spPr>
          <a:xfrm>
            <a:off x="640080" y="1417320"/>
            <a:ext cx="5349240" cy="3703320"/>
          </a:xfrm>
          <a:prstGeom prst="rect">
            <a:avLst/>
          </a:prstGeom>
          <a:solidFill>
            <a:srgbClr val="FFFFFF"/>
          </a:solidFill>
          <a:ln w="12700">
            <a:solidFill>
              <a:srgbClr val="D8D2C9"/>
            </a:solidFill>
            <a:prstDash val="solid"/>
          </a:ln>
        </p:spPr>
        <p:txBody>
          <a:bodyPr/>
          <a:lstStyle/>
          <a:p>
            <a:endParaRPr lang="en-US"/>
          </a:p>
        </p:txBody>
      </p:sp>
      <p:sp>
        <p:nvSpPr>
          <p:cNvPr id="7" name="Shape 5"/>
          <p:cNvSpPr/>
          <p:nvPr/>
        </p:nvSpPr>
        <p:spPr>
          <a:xfrm>
            <a:off x="640080" y="1417320"/>
            <a:ext cx="5349240" cy="420624"/>
          </a:xfrm>
          <a:prstGeom prst="rect">
            <a:avLst/>
          </a:prstGeom>
          <a:solidFill>
            <a:srgbClr val="B8621B"/>
          </a:solidFill>
          <a:ln/>
        </p:spPr>
        <p:txBody>
          <a:bodyPr/>
          <a:lstStyle/>
          <a:p>
            <a:endParaRPr lang="en-US"/>
          </a:p>
        </p:txBody>
      </p:sp>
      <p:sp>
        <p:nvSpPr>
          <p:cNvPr id="8" name="Text 6"/>
          <p:cNvSpPr/>
          <p:nvPr/>
        </p:nvSpPr>
        <p:spPr>
          <a:xfrm>
            <a:off x="859536" y="1417320"/>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PR-6  Impact and cost assessment</a:t>
            </a:r>
            <a:endParaRPr lang="en-US" sz="1250" dirty="0"/>
          </a:p>
        </p:txBody>
      </p:sp>
      <p:sp>
        <p:nvSpPr>
          <p:cNvPr id="9" name="Text 7"/>
          <p:cNvSpPr/>
          <p:nvPr/>
        </p:nvSpPr>
        <p:spPr>
          <a:xfrm>
            <a:off x="859536" y="1956816"/>
            <a:ext cx="4937760" cy="56692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Seven of twenty panels changed between r3 and r4. Their recoverability differs completely — and that difference is the whole feature.</a:t>
            </a:r>
            <a:endParaRPr lang="en-US" sz="1150" dirty="0"/>
          </a:p>
        </p:txBody>
      </p:sp>
      <p:sp>
        <p:nvSpPr>
          <p:cNvPr id="10" name="Text 8"/>
          <p:cNvSpPr/>
          <p:nvPr/>
        </p:nvSpPr>
        <p:spPr>
          <a:xfrm>
            <a:off x="859536" y="2615184"/>
            <a:ext cx="173736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4 manufactured</a:t>
            </a:r>
            <a:endParaRPr lang="en-US" sz="1200" dirty="0"/>
          </a:p>
        </p:txBody>
      </p:sp>
      <p:sp>
        <p:nvSpPr>
          <p:cNvPr id="11" name="Text 9"/>
          <p:cNvSpPr/>
          <p:nvPr/>
        </p:nvSpPr>
        <p:spPr>
          <a:xfrm>
            <a:off x="2651760" y="2615184"/>
            <a:ext cx="1097280" cy="310896"/>
          </a:xfrm>
          <a:prstGeom prst="rect">
            <a:avLst/>
          </a:prstGeom>
          <a:noFill/>
          <a:ln/>
        </p:spPr>
        <p:txBody>
          <a:bodyPr wrap="square" lIns="0" tIns="0" rIns="0" bIns="0" rtlCol="0" anchor="ctr"/>
          <a:lstStyle/>
          <a:p>
            <a:pPr marL="0" indent="0">
              <a:buNone/>
            </a:pPr>
            <a:r>
              <a:rPr lang="en-US" sz="1200" b="1" dirty="0">
                <a:solidFill>
                  <a:srgbClr val="A32020"/>
                </a:solidFill>
                <a:latin typeface="Calibri" pitchFamily="34" charset="0"/>
                <a:ea typeface="Calibri" pitchFamily="34" charset="-122"/>
                <a:cs typeface="Calibri" pitchFamily="34" charset="-120"/>
              </a:rPr>
              <a:t>£720</a:t>
            </a:r>
            <a:endParaRPr lang="en-US" sz="1200" dirty="0"/>
          </a:p>
        </p:txBody>
      </p:sp>
      <p:sp>
        <p:nvSpPr>
          <p:cNvPr id="12" name="Text 10"/>
          <p:cNvSpPr/>
          <p:nvPr/>
        </p:nvSpPr>
        <p:spPr>
          <a:xfrm>
            <a:off x="3794760" y="2615184"/>
            <a:ext cx="2011680" cy="310896"/>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must be re-made</a:t>
            </a:r>
            <a:endParaRPr lang="en-US" sz="1100" dirty="0"/>
          </a:p>
        </p:txBody>
      </p:sp>
      <p:sp>
        <p:nvSpPr>
          <p:cNvPr id="13" name="Text 11"/>
          <p:cNvSpPr/>
          <p:nvPr/>
        </p:nvSpPr>
        <p:spPr>
          <a:xfrm>
            <a:off x="859536" y="3182112"/>
            <a:ext cx="173736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2 planned</a:t>
            </a:r>
            <a:endParaRPr lang="en-US" sz="1200" dirty="0"/>
          </a:p>
        </p:txBody>
      </p:sp>
      <p:sp>
        <p:nvSpPr>
          <p:cNvPr id="14" name="Text 12"/>
          <p:cNvSpPr/>
          <p:nvPr/>
        </p:nvSpPr>
        <p:spPr>
          <a:xfrm>
            <a:off x="2651760" y="3182112"/>
            <a:ext cx="1097280" cy="310896"/>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£0</a:t>
            </a:r>
            <a:endParaRPr lang="en-US" sz="1200" dirty="0"/>
          </a:p>
        </p:txBody>
      </p:sp>
      <p:sp>
        <p:nvSpPr>
          <p:cNvPr id="15" name="Text 13"/>
          <p:cNvSpPr/>
          <p:nvPr/>
        </p:nvSpPr>
        <p:spPr>
          <a:xfrm>
            <a:off x="3794760" y="3182112"/>
            <a:ext cx="2011680" cy="310896"/>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just re-queue</a:t>
            </a:r>
            <a:endParaRPr lang="en-US" sz="1100" dirty="0"/>
          </a:p>
        </p:txBody>
      </p:sp>
      <p:sp>
        <p:nvSpPr>
          <p:cNvPr id="16" name="Text 14"/>
          <p:cNvSpPr/>
          <p:nvPr/>
        </p:nvSpPr>
        <p:spPr>
          <a:xfrm>
            <a:off x="859536" y="3749040"/>
            <a:ext cx="173736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1 installed</a:t>
            </a:r>
            <a:endParaRPr lang="en-US" sz="1200" dirty="0"/>
          </a:p>
        </p:txBody>
      </p:sp>
      <p:sp>
        <p:nvSpPr>
          <p:cNvPr id="17" name="Text 15"/>
          <p:cNvSpPr/>
          <p:nvPr/>
        </p:nvSpPr>
        <p:spPr>
          <a:xfrm>
            <a:off x="2651760" y="3749040"/>
            <a:ext cx="1097280" cy="310896"/>
          </a:xfrm>
          <a:prstGeom prst="rect">
            <a:avLst/>
          </a:prstGeom>
          <a:noFill/>
          <a:ln/>
        </p:spPr>
        <p:txBody>
          <a:bodyPr wrap="square" lIns="0" tIns="0" rIns="0" bIns="0" rtlCol="0" anchor="ctr"/>
          <a:lstStyle/>
          <a:p>
            <a:pPr marL="0" indent="0">
              <a:buNone/>
            </a:pPr>
            <a:r>
              <a:rPr lang="en-US" sz="1200" b="1" dirty="0">
                <a:solidFill>
                  <a:srgbClr val="1C1F26"/>
                </a:solidFill>
                <a:latin typeface="Calibri" pitchFamily="34" charset="0"/>
                <a:ea typeface="Calibri" pitchFamily="34" charset="-122"/>
                <a:cs typeface="Calibri" pitchFamily="34" charset="-120"/>
              </a:rPr>
              <a:t>escalate</a:t>
            </a:r>
            <a:endParaRPr lang="en-US" sz="1200" dirty="0"/>
          </a:p>
        </p:txBody>
      </p:sp>
      <p:sp>
        <p:nvSpPr>
          <p:cNvPr id="18" name="Text 16"/>
          <p:cNvSpPr/>
          <p:nvPr/>
        </p:nvSpPr>
        <p:spPr>
          <a:xfrm>
            <a:off x="3794760" y="3749040"/>
            <a:ext cx="2011680" cy="310896"/>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standing in a building</a:t>
            </a:r>
            <a:endParaRPr lang="en-US" sz="1100" dirty="0"/>
          </a:p>
        </p:txBody>
      </p:sp>
      <p:sp>
        <p:nvSpPr>
          <p:cNvPr id="19" name="Text 17"/>
          <p:cNvSpPr/>
          <p:nvPr/>
        </p:nvSpPr>
        <p:spPr>
          <a:xfrm>
            <a:off x="859536" y="4370832"/>
            <a:ext cx="4937760" cy="64008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 tool that shows all seven as equally "affected" reproduces the £430-per-build waste it exists to prevent. The only story that surfaced money was marked Should.</a:t>
            </a:r>
            <a:endParaRPr lang="en-US" sz="1150" dirty="0"/>
          </a:p>
        </p:txBody>
      </p:sp>
      <p:sp>
        <p:nvSpPr>
          <p:cNvPr id="20" name="Shape 18"/>
          <p:cNvSpPr/>
          <p:nvPr/>
        </p:nvSpPr>
        <p:spPr>
          <a:xfrm>
            <a:off x="6172200" y="1417320"/>
            <a:ext cx="5349240" cy="3703320"/>
          </a:xfrm>
          <a:prstGeom prst="rect">
            <a:avLst/>
          </a:prstGeom>
          <a:solidFill>
            <a:srgbClr val="FFFFFF"/>
          </a:solidFill>
          <a:ln w="12700">
            <a:solidFill>
              <a:srgbClr val="D8D2C9"/>
            </a:solidFill>
            <a:prstDash val="solid"/>
          </a:ln>
        </p:spPr>
        <p:txBody>
          <a:bodyPr/>
          <a:lstStyle/>
          <a:p>
            <a:endParaRPr lang="en-US"/>
          </a:p>
        </p:txBody>
      </p:sp>
      <p:sp>
        <p:nvSpPr>
          <p:cNvPr id="21" name="Shape 19"/>
          <p:cNvSpPr/>
          <p:nvPr/>
        </p:nvSpPr>
        <p:spPr>
          <a:xfrm>
            <a:off x="6172200" y="1417320"/>
            <a:ext cx="5349240" cy="420624"/>
          </a:xfrm>
          <a:prstGeom prst="rect">
            <a:avLst/>
          </a:prstGeom>
          <a:solidFill>
            <a:srgbClr val="1C1F26"/>
          </a:solidFill>
          <a:ln/>
        </p:spPr>
        <p:txBody>
          <a:bodyPr/>
          <a:lstStyle/>
          <a:p>
            <a:endParaRPr lang="en-US"/>
          </a:p>
        </p:txBody>
      </p:sp>
      <p:sp>
        <p:nvSpPr>
          <p:cNvPr id="22" name="Text 20"/>
          <p:cNvSpPr/>
          <p:nvPr/>
        </p:nvSpPr>
        <p:spPr>
          <a:xfrm>
            <a:off x="6391656" y="1417320"/>
            <a:ext cx="4937760" cy="42062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Firmware v4.2 event schema contract</a:t>
            </a:r>
            <a:endParaRPr lang="en-US" sz="1250" dirty="0"/>
          </a:p>
        </p:txBody>
      </p:sp>
      <p:sp>
        <p:nvSpPr>
          <p:cNvPr id="23" name="Text 21"/>
          <p:cNvSpPr/>
          <p:nvPr/>
        </p:nvSpPr>
        <p:spPr>
          <a:xfrm>
            <a:off x="6391656" y="1956816"/>
            <a:ext cx="4937760" cy="56692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Three separate blockers turn out to be one missing document. What the controller must emit was never written down — only what it must do.</a:t>
            </a:r>
            <a:endParaRPr lang="en-US" sz="1150" dirty="0"/>
          </a:p>
        </p:txBody>
      </p:sp>
      <p:sp>
        <p:nvSpPr>
          <p:cNvPr id="24" name="Text 22"/>
          <p:cNvSpPr/>
          <p:nvPr/>
        </p:nvSpPr>
        <p:spPr>
          <a:xfrm>
            <a:off x="6391656" y="2615184"/>
            <a:ext cx="2651760" cy="310896"/>
          </a:xfrm>
          <a:prstGeom prst="rect">
            <a:avLst/>
          </a:prstGeom>
          <a:noFill/>
          <a:ln/>
        </p:spPr>
        <p:txBody>
          <a:bodyPr wrap="square" lIns="0" tIns="0" rIns="0" bIns="0" rtlCol="0" anchor="ctr"/>
          <a:lstStyle/>
          <a:p>
            <a:pPr marL="0" indent="0">
              <a:buNone/>
            </a:pPr>
            <a:r>
              <a:rPr lang="en-US" sz="1150" b="1" dirty="0">
                <a:solidFill>
                  <a:srgbClr val="1C1F26"/>
                </a:solidFill>
                <a:latin typeface="Calibri" pitchFamily="34" charset="0"/>
                <a:ea typeface="Calibri" pitchFamily="34" charset="-122"/>
                <a:cs typeface="Calibri" pitchFamily="34" charset="-120"/>
              </a:rPr>
              <a:t>FM-4  buffer and reconcile</a:t>
            </a:r>
            <a:endParaRPr lang="en-US" sz="1150" dirty="0"/>
          </a:p>
        </p:txBody>
      </p:sp>
      <p:sp>
        <p:nvSpPr>
          <p:cNvPr id="25" name="Text 23"/>
          <p:cNvSpPr/>
          <p:nvPr/>
        </p:nvSpPr>
        <p:spPr>
          <a:xfrm>
            <a:off x="9098280" y="2615184"/>
            <a:ext cx="2240280" cy="31089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Blocked → fully fixed</a:t>
            </a:r>
            <a:endParaRPr lang="en-US" sz="1100" dirty="0"/>
          </a:p>
        </p:txBody>
      </p:sp>
      <p:sp>
        <p:nvSpPr>
          <p:cNvPr id="26" name="Text 24"/>
          <p:cNvSpPr/>
          <p:nvPr/>
        </p:nvSpPr>
        <p:spPr>
          <a:xfrm>
            <a:off x="6391656" y="3182112"/>
            <a:ext cx="2651760" cy="310896"/>
          </a:xfrm>
          <a:prstGeom prst="rect">
            <a:avLst/>
          </a:prstGeom>
          <a:noFill/>
          <a:ln/>
        </p:spPr>
        <p:txBody>
          <a:bodyPr wrap="square" lIns="0" tIns="0" rIns="0" bIns="0" rtlCol="0" anchor="ctr"/>
          <a:lstStyle/>
          <a:p>
            <a:pPr marL="0" indent="0">
              <a:buNone/>
            </a:pPr>
            <a:r>
              <a:rPr lang="en-US" sz="1150" b="1" dirty="0">
                <a:solidFill>
                  <a:srgbClr val="1C1F26"/>
                </a:solidFill>
                <a:latin typeface="Calibri" pitchFamily="34" charset="0"/>
                <a:ea typeface="Calibri" pitchFamily="34" charset="-122"/>
                <a:cs typeface="Calibri" pitchFamily="34" charset="-120"/>
              </a:rPr>
              <a:t>a2  e-stop audit log</a:t>
            </a:r>
            <a:endParaRPr lang="en-US" sz="1150" dirty="0"/>
          </a:p>
        </p:txBody>
      </p:sp>
      <p:sp>
        <p:nvSpPr>
          <p:cNvPr id="27" name="Text 25"/>
          <p:cNvSpPr/>
          <p:nvPr/>
        </p:nvSpPr>
        <p:spPr>
          <a:xfrm>
            <a:off x="9098280" y="3182112"/>
            <a:ext cx="2240280" cy="31089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Buildable now → improved</a:t>
            </a:r>
            <a:endParaRPr lang="en-US" sz="1100" dirty="0"/>
          </a:p>
        </p:txBody>
      </p:sp>
      <p:sp>
        <p:nvSpPr>
          <p:cNvPr id="28" name="Text 26"/>
          <p:cNvSpPr/>
          <p:nvPr/>
        </p:nvSpPr>
        <p:spPr>
          <a:xfrm>
            <a:off x="6391656" y="3749040"/>
            <a:ext cx="2651760" cy="310896"/>
          </a:xfrm>
          <a:prstGeom prst="rect">
            <a:avLst/>
          </a:prstGeom>
          <a:noFill/>
          <a:ln/>
        </p:spPr>
        <p:txBody>
          <a:bodyPr wrap="square" lIns="0" tIns="0" rIns="0" bIns="0" rtlCol="0" anchor="ctr"/>
          <a:lstStyle/>
          <a:p>
            <a:pPr marL="0" indent="0">
              <a:buNone/>
            </a:pPr>
            <a:r>
              <a:rPr lang="en-US" sz="1150" b="1" dirty="0">
                <a:solidFill>
                  <a:srgbClr val="1C1F26"/>
                </a:solidFill>
                <a:latin typeface="Calibri" pitchFamily="34" charset="0"/>
                <a:ea typeface="Calibri" pitchFamily="34" charset="-122"/>
                <a:cs typeface="Calibri" pitchFamily="34" charset="-120"/>
              </a:rPr>
              <a:t>a3  per-axis stop timing</a:t>
            </a:r>
            <a:endParaRPr lang="en-US" sz="1150" dirty="0"/>
          </a:p>
        </p:txBody>
      </p:sp>
      <p:sp>
        <p:nvSpPr>
          <p:cNvPr id="29" name="Text 27"/>
          <p:cNvSpPr/>
          <p:nvPr/>
        </p:nvSpPr>
        <p:spPr>
          <a:xfrm>
            <a:off x="9098280" y="3749040"/>
            <a:ext cx="2240280" cy="31089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Needs a new event type</a:t>
            </a:r>
            <a:endParaRPr lang="en-US" sz="1100" dirty="0"/>
          </a:p>
        </p:txBody>
      </p:sp>
      <p:sp>
        <p:nvSpPr>
          <p:cNvPr id="30" name="Text 28"/>
          <p:cNvSpPr/>
          <p:nvPr/>
        </p:nvSpPr>
        <p:spPr>
          <a:xfrm>
            <a:off x="6391656" y="4370832"/>
            <a:ext cx="4937760" cy="64008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One document, three blockers, three different resolutions — I was wrong to say it fixed all three. It must be agreed before boards land in week 3, because there is no v4.3 before the demo.</a:t>
            </a:r>
            <a:endParaRPr lang="en-US" sz="1150" dirty="0"/>
          </a:p>
        </p:txBody>
      </p:sp>
      <p:sp>
        <p:nvSpPr>
          <p:cNvPr id="31" name="Text 29"/>
          <p:cNvSpPr/>
          <p:nvPr/>
        </p:nvSpPr>
        <p:spPr>
          <a:xfrm>
            <a:off x="640080" y="5321808"/>
            <a:ext cx="10881360" cy="310896"/>
          </a:xfrm>
          <a:prstGeom prst="rect">
            <a:avLst/>
          </a:prstGeom>
          <a:noFill/>
          <a:ln/>
        </p:spPr>
        <p:txBody>
          <a:bodyPr wrap="square" lIns="0" tIns="0" rIns="0" bIns="0" rtlCol="0" anchor="ctr"/>
          <a:lstStyle/>
          <a:p>
            <a:pPr marL="0" indent="0">
              <a:buNone/>
            </a:pPr>
            <a:r>
              <a:rPr lang="en-US" sz="1200" i="1" dirty="0">
                <a:solidFill>
                  <a:srgbClr val="6E7781"/>
                </a:solidFill>
                <a:latin typeface="Calibri" pitchFamily="34" charset="0"/>
                <a:ea typeface="Calibri" pitchFamily="34" charset="-122"/>
                <a:cs typeface="Calibri" pitchFamily="34" charset="-120"/>
              </a:rPr>
              <a:t>Both findings came from running the fixture data rather than reading the briefs.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What I built, and why not the obvious one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The brief asks for one slice. The second settles an architectural disagreement in code.</a:t>
            </a:r>
            <a:endParaRPr lang="en-US" sz="1400" dirty="0"/>
          </a:p>
        </p:txBody>
      </p:sp>
      <p:sp>
        <p:nvSpPr>
          <p:cNvPr id="6" name="Shape 4"/>
          <p:cNvSpPr/>
          <p:nvPr/>
        </p:nvSpPr>
        <p:spPr>
          <a:xfrm>
            <a:off x="640080" y="1417320"/>
            <a:ext cx="5349240" cy="4206240"/>
          </a:xfrm>
          <a:prstGeom prst="rect">
            <a:avLst/>
          </a:prstGeom>
          <a:solidFill>
            <a:srgbClr val="FFFFFF"/>
          </a:solidFill>
          <a:ln w="12700">
            <a:solidFill>
              <a:srgbClr val="D8D2C9"/>
            </a:solidFill>
            <a:prstDash val="solid"/>
          </a:ln>
        </p:spPr>
        <p:txBody>
          <a:bodyPr/>
          <a:lstStyle/>
          <a:p>
            <a:endParaRPr lang="en-US"/>
          </a:p>
        </p:txBody>
      </p:sp>
      <p:sp>
        <p:nvSpPr>
          <p:cNvPr id="7" name="Text 5"/>
          <p:cNvSpPr/>
          <p:nvPr/>
        </p:nvSpPr>
        <p:spPr>
          <a:xfrm>
            <a:off x="859536" y="1591056"/>
            <a:ext cx="4937760" cy="256032"/>
          </a:xfrm>
          <a:prstGeom prst="rect">
            <a:avLst/>
          </a:prstGeom>
          <a:noFill/>
          <a:ln/>
        </p:spPr>
        <p:txBody>
          <a:bodyPr wrap="square" lIns="0" tIns="0" rIns="0" bIns="0" rtlCol="0" anchor="ctr"/>
          <a:lstStyle/>
          <a:p>
            <a:pPr marL="0" indent="0">
              <a:buNone/>
            </a:pPr>
            <a:r>
              <a:rPr lang="en-US" sz="1000" b="1" kern="0" spc="140" dirty="0">
                <a:solidFill>
                  <a:srgbClr val="A32020"/>
                </a:solidFill>
                <a:latin typeface="Calibri" pitchFamily="34" charset="0"/>
                <a:ea typeface="Calibri" pitchFamily="34" charset="-122"/>
                <a:cs typeface="Calibri" pitchFamily="34" charset="-120"/>
              </a:rPr>
              <a:t>SLICE 1 · PYTHON · 157 TESTS</a:t>
            </a:r>
            <a:endParaRPr lang="en-US" sz="1000" dirty="0"/>
          </a:p>
        </p:txBody>
      </p:sp>
      <p:sp>
        <p:nvSpPr>
          <p:cNvPr id="8" name="Text 6"/>
          <p:cNvSpPr/>
          <p:nvPr/>
        </p:nvSpPr>
        <p:spPr>
          <a:xfrm>
            <a:off x="859536" y="1883664"/>
            <a:ext cx="4937760" cy="384048"/>
          </a:xfrm>
          <a:prstGeom prst="rect">
            <a:avLst/>
          </a:prstGeom>
          <a:noFill/>
          <a:ln/>
        </p:spPr>
        <p:txBody>
          <a:bodyPr wrap="square" lIns="0" tIns="0" rIns="0" bIns="0" rtlCol="0" anchor="ctr"/>
          <a:lstStyle/>
          <a:p>
            <a:pPr marL="0" indent="0">
              <a:buNone/>
            </a:pPr>
            <a:r>
              <a:rPr lang="en-US" sz="1900" b="1" dirty="0">
                <a:solidFill>
                  <a:srgbClr val="1C1F26"/>
                </a:solidFill>
                <a:latin typeface="Cambria" pitchFamily="34" charset="0"/>
                <a:ea typeface="Cambria" pitchFamily="34" charset="-122"/>
                <a:cs typeface="Cambria" pitchFamily="34" charset="-120"/>
              </a:rPr>
              <a:t>E-stop audit and stop-response</a:t>
            </a:r>
            <a:endParaRPr lang="en-US" sz="1900" dirty="0"/>
          </a:p>
        </p:txBody>
      </p:sp>
      <p:sp>
        <p:nvSpPr>
          <p:cNvPr id="9" name="Text 7"/>
          <p:cNvSpPr/>
          <p:nvPr/>
        </p:nvSpPr>
        <p:spPr>
          <a:xfrm>
            <a:off x="859536" y="2286000"/>
            <a:ext cx="4937760" cy="27432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Inspection actions a2 and a3</a:t>
            </a:r>
            <a:endParaRPr lang="en-US" sz="1150" dirty="0"/>
          </a:p>
        </p:txBody>
      </p:sp>
      <p:sp>
        <p:nvSpPr>
          <p:cNvPr id="10" name="Shape 8"/>
          <p:cNvSpPr/>
          <p:nvPr/>
        </p:nvSpPr>
        <p:spPr>
          <a:xfrm>
            <a:off x="877824" y="2807208"/>
            <a:ext cx="91440" cy="91440"/>
          </a:xfrm>
          <a:prstGeom prst="rect">
            <a:avLst/>
          </a:prstGeom>
          <a:solidFill>
            <a:srgbClr val="A32020"/>
          </a:solidFill>
          <a:ln/>
        </p:spPr>
        <p:txBody>
          <a:bodyPr/>
          <a:lstStyle/>
          <a:p>
            <a:endParaRPr lang="en-US"/>
          </a:p>
        </p:txBody>
      </p:sp>
      <p:sp>
        <p:nvSpPr>
          <p:cNvPr id="11" name="Text 9"/>
          <p:cNvSpPr/>
          <p:nvPr/>
        </p:nvSpPr>
        <p:spPr>
          <a:xfrm>
            <a:off x="1115568" y="2724912"/>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a2 is the first link in the chain that gates the unsupervised demo.</a:t>
            </a:r>
            <a:endParaRPr lang="en-US" sz="1150" dirty="0"/>
          </a:p>
        </p:txBody>
      </p:sp>
      <p:sp>
        <p:nvSpPr>
          <p:cNvPr id="12" name="Shape 10"/>
          <p:cNvSpPr/>
          <p:nvPr/>
        </p:nvSpPr>
        <p:spPr>
          <a:xfrm>
            <a:off x="877824" y="3410712"/>
            <a:ext cx="91440" cy="91440"/>
          </a:xfrm>
          <a:prstGeom prst="rect">
            <a:avLst/>
          </a:prstGeom>
          <a:solidFill>
            <a:srgbClr val="A32020"/>
          </a:solidFill>
          <a:ln/>
        </p:spPr>
        <p:txBody>
          <a:bodyPr/>
          <a:lstStyle/>
          <a:p>
            <a:endParaRPr lang="en-US"/>
          </a:p>
        </p:txBody>
      </p:sp>
      <p:sp>
        <p:nvSpPr>
          <p:cNvPr id="13" name="Text 11"/>
          <p:cNvSpPr/>
          <p:nvPr/>
        </p:nvSpPr>
        <p:spPr>
          <a:xfrm>
            <a:off x="1115568" y="3328416"/>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a3 had no owner — the hand-over reads "Not agreed".</a:t>
            </a:r>
            <a:endParaRPr lang="en-US" sz="1150" dirty="0"/>
          </a:p>
        </p:txBody>
      </p:sp>
      <p:sp>
        <p:nvSpPr>
          <p:cNvPr id="14" name="Shape 12"/>
          <p:cNvSpPr/>
          <p:nvPr/>
        </p:nvSpPr>
        <p:spPr>
          <a:xfrm>
            <a:off x="877824" y="4014216"/>
            <a:ext cx="91440" cy="91440"/>
          </a:xfrm>
          <a:prstGeom prst="rect">
            <a:avLst/>
          </a:prstGeom>
          <a:solidFill>
            <a:srgbClr val="A32020"/>
          </a:solidFill>
          <a:ln/>
        </p:spPr>
        <p:txBody>
          <a:bodyPr/>
          <a:lstStyle/>
          <a:p>
            <a:endParaRPr lang="en-US"/>
          </a:p>
        </p:txBody>
      </p:sp>
      <p:sp>
        <p:nvSpPr>
          <p:cNvPr id="15" name="Text 13"/>
          <p:cNvSpPr/>
          <p:nvPr/>
        </p:nvSpPr>
        <p:spPr>
          <a:xfrm>
            <a:off x="1115568" y="3931920"/>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Sits across the software/robotics boundary, where a lead should be.</a:t>
            </a:r>
            <a:endParaRPr lang="en-US" sz="1150" dirty="0"/>
          </a:p>
        </p:txBody>
      </p:sp>
      <p:sp>
        <p:nvSpPr>
          <p:cNvPr id="16" name="Text 14"/>
          <p:cNvSpPr/>
          <p:nvPr/>
        </p:nvSpPr>
        <p:spPr>
          <a:xfrm>
            <a:off x="859536" y="4700016"/>
            <a:ext cx="4937760" cy="749808"/>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Records a ≤1s resolution limit rather than false precision. Per-axis deltas are not derivable: six axes, one event, one timestamp.</a:t>
            </a:r>
            <a:endParaRPr lang="en-US" sz="1050" dirty="0"/>
          </a:p>
        </p:txBody>
      </p:sp>
      <p:sp>
        <p:nvSpPr>
          <p:cNvPr id="17" name="Shape 15"/>
          <p:cNvSpPr/>
          <p:nvPr/>
        </p:nvSpPr>
        <p:spPr>
          <a:xfrm>
            <a:off x="6172200" y="1417320"/>
            <a:ext cx="5349240" cy="4206240"/>
          </a:xfrm>
          <a:prstGeom prst="rect">
            <a:avLst/>
          </a:prstGeom>
          <a:solidFill>
            <a:srgbClr val="FFFFFF"/>
          </a:solidFill>
          <a:ln w="12700">
            <a:solidFill>
              <a:srgbClr val="D8D2C9"/>
            </a:solidFill>
            <a:prstDash val="solid"/>
          </a:ln>
        </p:spPr>
        <p:txBody>
          <a:bodyPr/>
          <a:lstStyle/>
          <a:p>
            <a:endParaRPr lang="en-US"/>
          </a:p>
        </p:txBody>
      </p:sp>
      <p:sp>
        <p:nvSpPr>
          <p:cNvPr id="18" name="Text 16"/>
          <p:cNvSpPr/>
          <p:nvPr/>
        </p:nvSpPr>
        <p:spPr>
          <a:xfrm>
            <a:off x="6391656" y="1591056"/>
            <a:ext cx="4937760" cy="256032"/>
          </a:xfrm>
          <a:prstGeom prst="rect">
            <a:avLst/>
          </a:prstGeom>
          <a:noFill/>
          <a:ln/>
        </p:spPr>
        <p:txBody>
          <a:bodyPr wrap="square" lIns="0" tIns="0" rIns="0" bIns="0" rtlCol="0" anchor="ctr"/>
          <a:lstStyle/>
          <a:p>
            <a:pPr marL="0" indent="0">
              <a:buNone/>
            </a:pPr>
            <a:r>
              <a:rPr lang="en-US" sz="1000" b="1" kern="0" spc="140" dirty="0">
                <a:solidFill>
                  <a:srgbClr val="B8621B"/>
                </a:solidFill>
                <a:latin typeface="Calibri" pitchFamily="34" charset="0"/>
                <a:ea typeface="Calibri" pitchFamily="34" charset="-122"/>
                <a:cs typeface="Calibri" pitchFamily="34" charset="-120"/>
              </a:rPr>
              <a:t>SLICE 2 · TYPESCRIPT · 66 TESTS</a:t>
            </a:r>
            <a:endParaRPr lang="en-US" sz="1000" dirty="0"/>
          </a:p>
        </p:txBody>
      </p:sp>
      <p:sp>
        <p:nvSpPr>
          <p:cNvPr id="19" name="Text 17"/>
          <p:cNvSpPr/>
          <p:nvPr/>
        </p:nvSpPr>
        <p:spPr>
          <a:xfrm>
            <a:off x="6391656" y="1883664"/>
            <a:ext cx="4937760" cy="384048"/>
          </a:xfrm>
          <a:prstGeom prst="rect">
            <a:avLst/>
          </a:prstGeom>
          <a:noFill/>
          <a:ln/>
        </p:spPr>
        <p:txBody>
          <a:bodyPr wrap="square" lIns="0" tIns="0" rIns="0" bIns="0" rtlCol="0" anchor="ctr"/>
          <a:lstStyle/>
          <a:p>
            <a:pPr marL="0" indent="0">
              <a:buNone/>
            </a:pPr>
            <a:r>
              <a:rPr lang="en-US" sz="1900" b="1" dirty="0">
                <a:solidFill>
                  <a:srgbClr val="1C1F26"/>
                </a:solidFill>
                <a:latin typeface="Cambria" pitchFamily="34" charset="0"/>
                <a:ea typeface="Cambria" pitchFamily="34" charset="-122"/>
                <a:cs typeface="Cambria" pitchFamily="34" charset="-120"/>
              </a:rPr>
              <a:t>Revision impact and cost</a:t>
            </a:r>
            <a:endParaRPr lang="en-US" sz="1900" dirty="0"/>
          </a:p>
        </p:txBody>
      </p:sp>
      <p:sp>
        <p:nvSpPr>
          <p:cNvPr id="20" name="Text 18"/>
          <p:cNvSpPr/>
          <p:nvPr/>
        </p:nvSpPr>
        <p:spPr>
          <a:xfrm>
            <a:off x="6391656" y="2286000"/>
            <a:ext cx="4937760" cy="27432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Stories PR-1 and PR-6</a:t>
            </a:r>
            <a:endParaRPr lang="en-US" sz="1150" dirty="0"/>
          </a:p>
        </p:txBody>
      </p:sp>
      <p:sp>
        <p:nvSpPr>
          <p:cNvPr id="21" name="Shape 19"/>
          <p:cNvSpPr/>
          <p:nvPr/>
        </p:nvSpPr>
        <p:spPr>
          <a:xfrm>
            <a:off x="6409944" y="2807208"/>
            <a:ext cx="91440" cy="91440"/>
          </a:xfrm>
          <a:prstGeom prst="rect">
            <a:avLst/>
          </a:prstGeom>
          <a:solidFill>
            <a:srgbClr val="B8621B"/>
          </a:solidFill>
          <a:ln/>
        </p:spPr>
        <p:txBody>
          <a:bodyPr/>
          <a:lstStyle/>
          <a:p>
            <a:endParaRPr lang="en-US"/>
          </a:p>
        </p:txBody>
      </p:sp>
      <p:sp>
        <p:nvSpPr>
          <p:cNvPr id="22" name="Text 20"/>
          <p:cNvSpPr/>
          <p:nvPr/>
        </p:nvSpPr>
        <p:spPr>
          <a:xfrm>
            <a:off x="6647688" y="2724912"/>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The money is in classification, not detection.</a:t>
            </a:r>
            <a:endParaRPr lang="en-US" sz="1150" dirty="0"/>
          </a:p>
        </p:txBody>
      </p:sp>
      <p:sp>
        <p:nvSpPr>
          <p:cNvPr id="23" name="Shape 21"/>
          <p:cNvSpPr/>
          <p:nvPr/>
        </p:nvSpPr>
        <p:spPr>
          <a:xfrm>
            <a:off x="6409944" y="3410712"/>
            <a:ext cx="91440" cy="91440"/>
          </a:xfrm>
          <a:prstGeom prst="rect">
            <a:avLst/>
          </a:prstGeom>
          <a:solidFill>
            <a:srgbClr val="B8621B"/>
          </a:solidFill>
          <a:ln/>
        </p:spPr>
        <p:txBody>
          <a:bodyPr/>
          <a:lstStyle/>
          <a:p>
            <a:endParaRPr lang="en-US"/>
          </a:p>
        </p:txBody>
      </p:sp>
      <p:sp>
        <p:nvSpPr>
          <p:cNvPr id="24" name="Text 22"/>
          <p:cNvSpPr/>
          <p:nvPr/>
        </p:nvSpPr>
        <p:spPr>
          <a:xfrm>
            <a:off x="6647688" y="3328416"/>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A pure function over two whole builds — no schema mutation.</a:t>
            </a:r>
            <a:endParaRPr lang="en-US" sz="1150" dirty="0"/>
          </a:p>
        </p:txBody>
      </p:sp>
      <p:sp>
        <p:nvSpPr>
          <p:cNvPr id="25" name="Shape 23"/>
          <p:cNvSpPr/>
          <p:nvPr/>
        </p:nvSpPr>
        <p:spPr>
          <a:xfrm>
            <a:off x="6409944" y="4014216"/>
            <a:ext cx="91440" cy="91440"/>
          </a:xfrm>
          <a:prstGeom prst="rect">
            <a:avLst/>
          </a:prstGeom>
          <a:solidFill>
            <a:srgbClr val="B8621B"/>
          </a:solidFill>
          <a:ln/>
        </p:spPr>
        <p:txBody>
          <a:bodyPr/>
          <a:lstStyle/>
          <a:p>
            <a:endParaRPr lang="en-US"/>
          </a:p>
        </p:txBody>
      </p:sp>
      <p:sp>
        <p:nvSpPr>
          <p:cNvPr id="26" name="Text 24"/>
          <p:cNvSpPr/>
          <p:nvPr/>
        </p:nvSpPr>
        <p:spPr>
          <a:xfrm>
            <a:off x="6647688" y="3931920"/>
            <a:ext cx="4663440" cy="548640"/>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If it works without previousSpec, that argument is over.</a:t>
            </a:r>
            <a:endParaRPr lang="en-US" sz="1150" dirty="0"/>
          </a:p>
        </p:txBody>
      </p:sp>
      <p:sp>
        <p:nvSpPr>
          <p:cNvPr id="27" name="Text 25"/>
          <p:cNvSpPr/>
          <p:nvPr/>
        </p:nvSpPr>
        <p:spPr>
          <a:xfrm>
            <a:off x="6391656" y="4700016"/>
            <a:ext cx="4937760" cy="749808"/>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The alternative was adding revision and previousSpec to PanelSpec, which supports diffing only one step back and would need rewriting at cutover. A pure function needs neither.</a:t>
            </a:r>
            <a:endParaRPr lang="en-US" sz="1050" dirty="0"/>
          </a:p>
        </p:txBody>
      </p:sp>
      <p:sp>
        <p:nvSpPr>
          <p:cNvPr id="28" name="Text 26"/>
          <p:cNvSpPr/>
          <p:nvPr/>
        </p:nvSpPr>
        <p:spPr>
          <a:xfrm>
            <a:off x="640080" y="5833872"/>
            <a:ext cx="10881360" cy="457200"/>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Not built: the telemetry buffer (not buildable on the current schema — the deliverable was the contract), any UI (Sam's work), estimation tooling (ships nothing on 12 Oct).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The assumptions that carry weight</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Each written so it can be proved wrong. Ten in the plan; these four decide the outcome.</a:t>
            </a:r>
            <a:endParaRPr lang="en-US" sz="1400" dirty="0"/>
          </a:p>
        </p:txBody>
      </p:sp>
      <p:sp>
        <p:nvSpPr>
          <p:cNvPr id="6" name="Shape 4"/>
          <p:cNvSpPr/>
          <p:nvPr/>
        </p:nvSpPr>
        <p:spPr>
          <a:xfrm>
            <a:off x="640080" y="1463040"/>
            <a:ext cx="10881360" cy="1060704"/>
          </a:xfrm>
          <a:prstGeom prst="rect">
            <a:avLst/>
          </a:prstGeom>
          <a:solidFill>
            <a:srgbClr val="FFFFFF"/>
          </a:solidFill>
          <a:ln w="12700">
            <a:solidFill>
              <a:srgbClr val="D8D2C9"/>
            </a:solidFill>
            <a:prstDash val="solid"/>
          </a:ln>
        </p:spPr>
        <p:txBody>
          <a:bodyPr/>
          <a:lstStyle/>
          <a:p>
            <a:endParaRPr lang="en-US"/>
          </a:p>
        </p:txBody>
      </p:sp>
      <p:sp>
        <p:nvSpPr>
          <p:cNvPr id="7" name="Text 5"/>
          <p:cNvSpPr/>
          <p:nvPr/>
        </p:nvSpPr>
        <p:spPr>
          <a:xfrm>
            <a:off x="841248" y="1627632"/>
            <a:ext cx="658368" cy="384048"/>
          </a:xfrm>
          <a:prstGeom prst="rect">
            <a:avLst/>
          </a:prstGeom>
          <a:noFill/>
          <a:ln/>
        </p:spPr>
        <p:txBody>
          <a:bodyPr wrap="square" lIns="0" tIns="0" rIns="0" bIns="0" rtlCol="0" anchor="ctr"/>
          <a:lstStyle/>
          <a:p>
            <a:pPr marL="0" indent="0" algn="ctr">
              <a:buNone/>
            </a:pPr>
            <a:r>
              <a:rPr lang="en-US" sz="2000" b="1" dirty="0">
                <a:solidFill>
                  <a:srgbClr val="A32020"/>
                </a:solidFill>
                <a:latin typeface="Cambria" pitchFamily="34" charset="0"/>
                <a:ea typeface="Cambria" pitchFamily="34" charset="-122"/>
                <a:cs typeface="Cambria" pitchFamily="34" charset="-120"/>
              </a:rPr>
              <a:t>A1</a:t>
            </a:r>
            <a:endParaRPr lang="en-US" sz="2000" dirty="0"/>
          </a:p>
        </p:txBody>
      </p:sp>
      <p:sp>
        <p:nvSpPr>
          <p:cNvPr id="8" name="Text 6"/>
          <p:cNvSpPr/>
          <p:nvPr/>
        </p:nvSpPr>
        <p:spPr>
          <a:xfrm>
            <a:off x="1609344" y="161848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a3's measurement comes from Chris's rig, not from v4.2 firmware timing</a:t>
            </a:r>
            <a:endParaRPr lang="en-US" sz="1250" dirty="0"/>
          </a:p>
        </p:txBody>
      </p:sp>
      <p:sp>
        <p:nvSpPr>
          <p:cNvPr id="9" name="Text 7"/>
          <p:cNvSpPr/>
          <p:nvPr/>
        </p:nvSpPr>
        <p:spPr>
          <a:xfrm>
            <a:off x="6949440" y="160934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10" name="Text 8"/>
          <p:cNvSpPr/>
          <p:nvPr/>
        </p:nvSpPr>
        <p:spPr>
          <a:xfrm>
            <a:off x="6949440" y="182880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The chain cannot complete before 12 Oct. Unsupervised is off, full stop.</a:t>
            </a:r>
            <a:endParaRPr lang="en-US" sz="1100" dirty="0"/>
          </a:p>
        </p:txBody>
      </p:sp>
      <p:sp>
        <p:nvSpPr>
          <p:cNvPr id="11" name="Shape 9"/>
          <p:cNvSpPr/>
          <p:nvPr/>
        </p:nvSpPr>
        <p:spPr>
          <a:xfrm>
            <a:off x="640080" y="2651760"/>
            <a:ext cx="10881360" cy="1060704"/>
          </a:xfrm>
          <a:prstGeom prst="rect">
            <a:avLst/>
          </a:prstGeom>
          <a:solidFill>
            <a:srgbClr val="FFFFFF"/>
          </a:solidFill>
          <a:ln w="12700">
            <a:solidFill>
              <a:srgbClr val="D8D2C9"/>
            </a:solidFill>
            <a:prstDash val="solid"/>
          </a:ln>
        </p:spPr>
        <p:txBody>
          <a:bodyPr/>
          <a:lstStyle/>
          <a:p>
            <a:endParaRPr lang="en-US"/>
          </a:p>
        </p:txBody>
      </p:sp>
      <p:sp>
        <p:nvSpPr>
          <p:cNvPr id="12" name="Text 10"/>
          <p:cNvSpPr/>
          <p:nvPr/>
        </p:nvSpPr>
        <p:spPr>
          <a:xfrm>
            <a:off x="841248" y="2816352"/>
            <a:ext cx="658368" cy="384048"/>
          </a:xfrm>
          <a:prstGeom prst="rect">
            <a:avLst/>
          </a:prstGeom>
          <a:noFill/>
          <a:ln/>
        </p:spPr>
        <p:txBody>
          <a:bodyPr wrap="square" lIns="0" tIns="0" rIns="0" bIns="0" rtlCol="0" anchor="ctr"/>
          <a:lstStyle/>
          <a:p>
            <a:pPr marL="0" indent="0" algn="ctr">
              <a:buNone/>
            </a:pPr>
            <a:r>
              <a:rPr lang="en-US" sz="2000" b="1" dirty="0">
                <a:solidFill>
                  <a:srgbClr val="B8621B"/>
                </a:solidFill>
                <a:latin typeface="Cambria" pitchFamily="34" charset="0"/>
                <a:ea typeface="Cambria" pitchFamily="34" charset="-122"/>
                <a:cs typeface="Cambria" pitchFamily="34" charset="-120"/>
              </a:rPr>
              <a:t>A2</a:t>
            </a:r>
            <a:endParaRPr lang="en-US" sz="2000" dirty="0"/>
          </a:p>
        </p:txBody>
      </p:sp>
      <p:sp>
        <p:nvSpPr>
          <p:cNvPr id="13" name="Text 11"/>
          <p:cNvSpPr/>
          <p:nvPr/>
        </p:nvSpPr>
        <p:spPr>
          <a:xfrm>
            <a:off x="1609344" y="280720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Deploying v4.2 after the cell re-test would invalidate it</a:t>
            </a:r>
            <a:endParaRPr lang="en-US" sz="1250" dirty="0"/>
          </a:p>
        </p:txBody>
      </p:sp>
      <p:sp>
        <p:nvSpPr>
          <p:cNvPr id="14" name="Text 12"/>
          <p:cNvSpPr/>
          <p:nvPr/>
        </p:nvSpPr>
        <p:spPr>
          <a:xfrm>
            <a:off x="6949440" y="279806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15" name="Text 13"/>
          <p:cNvSpPr/>
          <p:nvPr/>
        </p:nvSpPr>
        <p:spPr>
          <a:xfrm>
            <a:off x="6949440" y="301752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This is why the firmware splits at all. If the inspector only cares about measured behaviour, the whole ordering problem shrinks.</a:t>
            </a:r>
            <a:endParaRPr lang="en-US" sz="1100" dirty="0"/>
          </a:p>
        </p:txBody>
      </p:sp>
      <p:sp>
        <p:nvSpPr>
          <p:cNvPr id="16" name="Shape 14"/>
          <p:cNvSpPr/>
          <p:nvPr/>
        </p:nvSpPr>
        <p:spPr>
          <a:xfrm>
            <a:off x="640080" y="3840480"/>
            <a:ext cx="10881360" cy="1060704"/>
          </a:xfrm>
          <a:prstGeom prst="rect">
            <a:avLst/>
          </a:prstGeom>
          <a:solidFill>
            <a:srgbClr val="FFFFFF"/>
          </a:solidFill>
          <a:ln w="12700">
            <a:solidFill>
              <a:srgbClr val="D8D2C9"/>
            </a:solidFill>
            <a:prstDash val="solid"/>
          </a:ln>
        </p:spPr>
        <p:txBody>
          <a:bodyPr/>
          <a:lstStyle/>
          <a:p>
            <a:endParaRPr lang="en-US"/>
          </a:p>
        </p:txBody>
      </p:sp>
      <p:sp>
        <p:nvSpPr>
          <p:cNvPr id="17" name="Text 15"/>
          <p:cNvSpPr/>
          <p:nvPr/>
        </p:nvSpPr>
        <p:spPr>
          <a:xfrm>
            <a:off x="841248" y="4005072"/>
            <a:ext cx="658368" cy="384048"/>
          </a:xfrm>
          <a:prstGeom prst="rect">
            <a:avLst/>
          </a:prstGeom>
          <a:noFill/>
          <a:ln/>
        </p:spPr>
        <p:txBody>
          <a:bodyPr wrap="square" lIns="0" tIns="0" rIns="0" bIns="0" rtlCol="0" anchor="ctr"/>
          <a:lstStyle/>
          <a:p>
            <a:pPr marL="0" indent="0" algn="ctr">
              <a:buNone/>
            </a:pPr>
            <a:r>
              <a:rPr lang="en-US" sz="2000" b="1" dirty="0">
                <a:solidFill>
                  <a:srgbClr val="A32020"/>
                </a:solidFill>
                <a:latin typeface="Cambria" pitchFamily="34" charset="0"/>
                <a:ea typeface="Cambria" pitchFamily="34" charset="-122"/>
                <a:cs typeface="Cambria" pitchFamily="34" charset="-120"/>
              </a:rPr>
              <a:t>A4</a:t>
            </a:r>
            <a:endParaRPr lang="en-US" sz="2000" dirty="0"/>
          </a:p>
        </p:txBody>
      </p:sp>
      <p:sp>
        <p:nvSpPr>
          <p:cNvPr id="18" name="Text 16"/>
          <p:cNvSpPr/>
          <p:nvPr/>
        </p:nvSpPr>
        <p:spPr>
          <a:xfrm>
            <a:off x="1609344" y="399592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Boards clear supplier testing and arrive in week 3</a:t>
            </a:r>
            <a:endParaRPr lang="en-US" sz="1250" dirty="0"/>
          </a:p>
        </p:txBody>
      </p:sp>
      <p:sp>
        <p:nvSpPr>
          <p:cNvPr id="19" name="Text 17"/>
          <p:cNvSpPr/>
          <p:nvPr/>
        </p:nvSpPr>
        <p:spPr>
          <a:xfrm>
            <a:off x="6949440" y="398678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20" name="Text 18"/>
          <p:cNvSpPr/>
          <p:nvPr/>
        </p:nvSpPr>
        <p:spPr>
          <a:xfrm>
            <a:off x="6949440" y="420624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Firmware slips 1:1. Plan A has one day of float, so a week's slip forces Plan B.</a:t>
            </a:r>
            <a:endParaRPr lang="en-US" sz="1100" dirty="0"/>
          </a:p>
        </p:txBody>
      </p:sp>
      <p:sp>
        <p:nvSpPr>
          <p:cNvPr id="21" name="Shape 19"/>
          <p:cNvSpPr/>
          <p:nvPr/>
        </p:nvSpPr>
        <p:spPr>
          <a:xfrm>
            <a:off x="640080" y="5029200"/>
            <a:ext cx="10881360" cy="1060704"/>
          </a:xfrm>
          <a:prstGeom prst="rect">
            <a:avLst/>
          </a:prstGeom>
          <a:solidFill>
            <a:srgbClr val="FFFFFF"/>
          </a:solidFill>
          <a:ln w="12700">
            <a:solidFill>
              <a:srgbClr val="D8D2C9"/>
            </a:solidFill>
            <a:prstDash val="solid"/>
          </a:ln>
        </p:spPr>
        <p:txBody>
          <a:bodyPr/>
          <a:lstStyle/>
          <a:p>
            <a:endParaRPr lang="en-US"/>
          </a:p>
        </p:txBody>
      </p:sp>
      <p:sp>
        <p:nvSpPr>
          <p:cNvPr id="22" name="Text 20"/>
          <p:cNvSpPr/>
          <p:nvPr/>
        </p:nvSpPr>
        <p:spPr>
          <a:xfrm>
            <a:off x="841248" y="5193792"/>
            <a:ext cx="658368" cy="384048"/>
          </a:xfrm>
          <a:prstGeom prst="rect">
            <a:avLst/>
          </a:prstGeom>
          <a:noFill/>
          <a:ln/>
        </p:spPr>
        <p:txBody>
          <a:bodyPr wrap="square" lIns="0" tIns="0" rIns="0" bIns="0" rtlCol="0" anchor="ctr"/>
          <a:lstStyle/>
          <a:p>
            <a:pPr marL="0" indent="0" algn="ctr">
              <a:buNone/>
            </a:pPr>
            <a:r>
              <a:rPr lang="en-US" sz="2000" b="1" dirty="0">
                <a:solidFill>
                  <a:srgbClr val="B8621B"/>
                </a:solidFill>
                <a:latin typeface="Cambria" pitchFamily="34" charset="0"/>
                <a:ea typeface="Cambria" pitchFamily="34" charset="-122"/>
                <a:cs typeface="Cambria" pitchFamily="34" charset="-120"/>
              </a:rPr>
              <a:t>A10</a:t>
            </a:r>
            <a:endParaRPr lang="en-US" sz="2000" dirty="0"/>
          </a:p>
        </p:txBody>
      </p:sp>
      <p:sp>
        <p:nvSpPr>
          <p:cNvPr id="23" name="Text 21"/>
          <p:cNvSpPr/>
          <p:nvPr/>
        </p:nvSpPr>
        <p:spPr>
          <a:xfrm>
            <a:off x="1609344" y="5184648"/>
            <a:ext cx="5120640" cy="7498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Sam's two surfaces are about six weeks combined</a:t>
            </a:r>
            <a:endParaRPr lang="en-US" sz="1250" dirty="0"/>
          </a:p>
        </p:txBody>
      </p:sp>
      <p:sp>
        <p:nvSpPr>
          <p:cNvPr id="24" name="Text 22"/>
          <p:cNvSpPr/>
          <p:nvPr/>
        </p:nvSpPr>
        <p:spPr>
          <a:xfrm>
            <a:off x="6949440" y="5175504"/>
            <a:ext cx="1097280" cy="219456"/>
          </a:xfrm>
          <a:prstGeom prst="rect">
            <a:avLst/>
          </a:prstGeom>
          <a:noFill/>
          <a:ln/>
        </p:spPr>
        <p:txBody>
          <a:bodyPr wrap="square" lIns="0" tIns="0" rIns="0" bIns="0" rtlCol="0" anchor="ctr"/>
          <a:lstStyle/>
          <a:p>
            <a:pPr marL="0" indent="0">
              <a:buNone/>
            </a:pPr>
            <a:r>
              <a:rPr lang="en-US" sz="850" b="1" kern="0" spc="120" dirty="0">
                <a:solidFill>
                  <a:srgbClr val="6E7781"/>
                </a:solidFill>
                <a:latin typeface="Calibri" pitchFamily="34" charset="0"/>
                <a:ea typeface="Calibri" pitchFamily="34" charset="-122"/>
                <a:cs typeface="Calibri" pitchFamily="34" charset="-120"/>
              </a:rPr>
              <a:t>IF WRONG</a:t>
            </a:r>
            <a:endParaRPr lang="en-US" sz="850" dirty="0"/>
          </a:p>
        </p:txBody>
      </p:sp>
      <p:sp>
        <p:nvSpPr>
          <p:cNvPr id="25" name="Text 23"/>
          <p:cNvSpPr/>
          <p:nvPr/>
        </p:nvSpPr>
        <p:spPr>
          <a:xfrm>
            <a:off x="6949440" y="5394960"/>
            <a:ext cx="4297680" cy="603504"/>
          </a:xfrm>
          <a:prstGeom prst="rect">
            <a:avLst/>
          </a:prstGeom>
          <a:noFill/>
          <a:ln/>
        </p:spPr>
        <p:txBody>
          <a:bodyPr wrap="square" lIns="0" tIns="0" rIns="0" bIns="0" rtlCol="0" anchor="ctr"/>
          <a:lstStyle/>
          <a:p>
            <a:pPr marL="0" indent="0">
              <a:buNone/>
            </a:pPr>
            <a:r>
              <a:rPr lang="en-US" sz="1100" dirty="0">
                <a:solidFill>
                  <a:srgbClr val="6E7781"/>
                </a:solidFill>
                <a:latin typeface="Calibri" pitchFamily="34" charset="0"/>
                <a:ea typeface="Calibri" pitchFamily="34" charset="-122"/>
                <a:cs typeface="Calibri" pitchFamily="34" charset="-120"/>
              </a:rPr>
              <a:t>My number, not his — inferred from comparable backlog items. Largest single unknown in the capacity table.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1C1F26"/>
                </a:solidFill>
                <a:latin typeface="Cambria" pitchFamily="34" charset="0"/>
                <a:ea typeface="Cambria" pitchFamily="34" charset="-122"/>
                <a:cs typeface="Cambria" pitchFamily="34" charset="-120"/>
              </a:rPr>
              <a:t>Day one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6E7781"/>
                </a:solidFill>
                <a:latin typeface="Calibri" pitchFamily="34" charset="0"/>
                <a:ea typeface="Calibri" pitchFamily="34" charset="-122"/>
                <a:cs typeface="Calibri" pitchFamily="34" charset="-120"/>
              </a:rPr>
              <a:t>What happens in week one, with owners and dates. Nothing here waits on a decision.</a:t>
            </a:r>
            <a:endParaRPr lang="en-US" sz="1400" dirty="0"/>
          </a:p>
        </p:txBody>
      </p:sp>
      <p:sp>
        <p:nvSpPr>
          <p:cNvPr id="6" name="Shape 4"/>
          <p:cNvSpPr/>
          <p:nvPr/>
        </p:nvSpPr>
        <p:spPr>
          <a:xfrm>
            <a:off x="640080" y="1444752"/>
            <a:ext cx="10881360" cy="676656"/>
          </a:xfrm>
          <a:prstGeom prst="rect">
            <a:avLst/>
          </a:prstGeom>
          <a:solidFill>
            <a:srgbClr val="FFFFFF"/>
          </a:solidFill>
          <a:ln w="12700">
            <a:solidFill>
              <a:srgbClr val="D8D2C9"/>
            </a:solidFill>
            <a:prstDash val="solid"/>
          </a:ln>
        </p:spPr>
        <p:txBody>
          <a:bodyPr/>
          <a:lstStyle/>
          <a:p>
            <a:endParaRPr lang="en-US"/>
          </a:p>
        </p:txBody>
      </p:sp>
      <p:sp>
        <p:nvSpPr>
          <p:cNvPr id="7" name="Shape 5"/>
          <p:cNvSpPr/>
          <p:nvPr/>
        </p:nvSpPr>
        <p:spPr>
          <a:xfrm>
            <a:off x="841248" y="1719072"/>
            <a:ext cx="128016" cy="128016"/>
          </a:xfrm>
          <a:prstGeom prst="rect">
            <a:avLst/>
          </a:prstGeom>
          <a:solidFill>
            <a:srgbClr val="A32020"/>
          </a:solidFill>
          <a:ln/>
        </p:spPr>
        <p:txBody>
          <a:bodyPr/>
          <a:lstStyle/>
          <a:p>
            <a:endParaRPr lang="en-US"/>
          </a:p>
        </p:txBody>
      </p:sp>
      <p:sp>
        <p:nvSpPr>
          <p:cNvPr id="8" name="Text 6"/>
          <p:cNvSpPr/>
          <p:nvPr/>
        </p:nvSpPr>
        <p:spPr>
          <a:xfrm>
            <a:off x="1097280" y="1499616"/>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Q-A + Q-B to Chris</a:t>
            </a:r>
            <a:endParaRPr lang="en-US" sz="1250" dirty="0"/>
          </a:p>
        </p:txBody>
      </p:sp>
      <p:sp>
        <p:nvSpPr>
          <p:cNvPr id="9" name="Text 7"/>
          <p:cNvSpPr/>
          <p:nvPr/>
        </p:nvSpPr>
        <p:spPr>
          <a:xfrm>
            <a:off x="1097280" y="1792224"/>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Selects Plan A or Plan B before anyone builds against either.</a:t>
            </a:r>
            <a:endParaRPr lang="en-US" sz="1050" dirty="0"/>
          </a:p>
        </p:txBody>
      </p:sp>
      <p:sp>
        <p:nvSpPr>
          <p:cNvPr id="10" name="Text 8"/>
          <p:cNvSpPr/>
          <p:nvPr/>
        </p:nvSpPr>
        <p:spPr>
          <a:xfrm>
            <a:off x="8595360" y="1444752"/>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Chris</a:t>
            </a:r>
            <a:endParaRPr lang="en-US" sz="1100" dirty="0"/>
          </a:p>
        </p:txBody>
      </p:sp>
      <p:sp>
        <p:nvSpPr>
          <p:cNvPr id="11" name="Text 9"/>
          <p:cNvSpPr/>
          <p:nvPr/>
        </p:nvSpPr>
        <p:spPr>
          <a:xfrm>
            <a:off x="10424160" y="1444752"/>
            <a:ext cx="1005840" cy="676656"/>
          </a:xfrm>
          <a:prstGeom prst="rect">
            <a:avLst/>
          </a:prstGeom>
          <a:noFill/>
          <a:ln/>
        </p:spPr>
        <p:txBody>
          <a:bodyPr wrap="square" lIns="0" tIns="0" rIns="0" bIns="0" rtlCol="0" anchor="ctr"/>
          <a:lstStyle/>
          <a:p>
            <a:pPr marL="0" indent="0" algn="r">
              <a:buNone/>
            </a:pPr>
            <a:r>
              <a:rPr lang="en-US" sz="1100" b="1" dirty="0">
                <a:solidFill>
                  <a:srgbClr val="A32020"/>
                </a:solidFill>
                <a:latin typeface="Calibri" pitchFamily="34" charset="0"/>
                <a:ea typeface="Calibri" pitchFamily="34" charset="-122"/>
                <a:cs typeface="Calibri" pitchFamily="34" charset="-120"/>
              </a:rPr>
              <a:t>Fri wk 1</a:t>
            </a:r>
            <a:endParaRPr lang="en-US" sz="1100" dirty="0"/>
          </a:p>
        </p:txBody>
      </p:sp>
      <p:sp>
        <p:nvSpPr>
          <p:cNvPr id="12" name="Shape 10"/>
          <p:cNvSpPr/>
          <p:nvPr/>
        </p:nvSpPr>
        <p:spPr>
          <a:xfrm>
            <a:off x="640080" y="2231136"/>
            <a:ext cx="10881360" cy="676656"/>
          </a:xfrm>
          <a:prstGeom prst="rect">
            <a:avLst/>
          </a:prstGeom>
          <a:solidFill>
            <a:srgbClr val="FFFFFF"/>
          </a:solidFill>
          <a:ln w="12700">
            <a:solidFill>
              <a:srgbClr val="D8D2C9"/>
            </a:solidFill>
            <a:prstDash val="solid"/>
          </a:ln>
        </p:spPr>
        <p:txBody>
          <a:bodyPr/>
          <a:lstStyle/>
          <a:p>
            <a:endParaRPr lang="en-US"/>
          </a:p>
        </p:txBody>
      </p:sp>
      <p:sp>
        <p:nvSpPr>
          <p:cNvPr id="13" name="Shape 11"/>
          <p:cNvSpPr/>
          <p:nvPr/>
        </p:nvSpPr>
        <p:spPr>
          <a:xfrm>
            <a:off x="841248" y="2505456"/>
            <a:ext cx="128016" cy="128016"/>
          </a:xfrm>
          <a:prstGeom prst="rect">
            <a:avLst/>
          </a:prstGeom>
          <a:solidFill>
            <a:srgbClr val="A32020"/>
          </a:solidFill>
          <a:ln/>
        </p:spPr>
        <p:txBody>
          <a:bodyPr/>
          <a:lstStyle/>
          <a:p>
            <a:endParaRPr lang="en-US"/>
          </a:p>
        </p:txBody>
      </p:sp>
      <p:sp>
        <p:nvSpPr>
          <p:cNvPr id="14" name="Text 12"/>
          <p:cNvSpPr/>
          <p:nvPr/>
        </p:nvSpPr>
        <p:spPr>
          <a:xfrm>
            <a:off x="1097280" y="2286000"/>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Circulate the v4.2 event schema contract</a:t>
            </a:r>
            <a:endParaRPr lang="en-US" sz="1250" dirty="0"/>
          </a:p>
        </p:txBody>
      </p:sp>
      <p:sp>
        <p:nvSpPr>
          <p:cNvPr id="15" name="Text 13"/>
          <p:cNvSpPr/>
          <p:nvPr/>
        </p:nvSpPr>
        <p:spPr>
          <a:xfrm>
            <a:off x="1097280" y="2578608"/>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Must be agreed before boards land. There is no v4.3.</a:t>
            </a:r>
            <a:endParaRPr lang="en-US" sz="1050" dirty="0"/>
          </a:p>
        </p:txBody>
      </p:sp>
      <p:sp>
        <p:nvSpPr>
          <p:cNvPr id="16" name="Text 14"/>
          <p:cNvSpPr/>
          <p:nvPr/>
        </p:nvSpPr>
        <p:spPr>
          <a:xfrm>
            <a:off x="8595360" y="2231136"/>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Lead → Chris</a:t>
            </a:r>
            <a:endParaRPr lang="en-US" sz="1100" dirty="0"/>
          </a:p>
        </p:txBody>
      </p:sp>
      <p:sp>
        <p:nvSpPr>
          <p:cNvPr id="17" name="Text 15"/>
          <p:cNvSpPr/>
          <p:nvPr/>
        </p:nvSpPr>
        <p:spPr>
          <a:xfrm>
            <a:off x="10424160" y="2231136"/>
            <a:ext cx="1005840" cy="676656"/>
          </a:xfrm>
          <a:prstGeom prst="rect">
            <a:avLst/>
          </a:prstGeom>
          <a:noFill/>
          <a:ln/>
        </p:spPr>
        <p:txBody>
          <a:bodyPr wrap="square" lIns="0" tIns="0" rIns="0" bIns="0" rtlCol="0" anchor="ctr"/>
          <a:lstStyle/>
          <a:p>
            <a:pPr marL="0" indent="0" algn="r">
              <a:buNone/>
            </a:pPr>
            <a:r>
              <a:rPr lang="en-US" sz="1100" b="1" dirty="0">
                <a:solidFill>
                  <a:srgbClr val="A32020"/>
                </a:solidFill>
                <a:latin typeface="Calibri" pitchFamily="34" charset="0"/>
                <a:ea typeface="Calibri" pitchFamily="34" charset="-122"/>
                <a:cs typeface="Calibri" pitchFamily="34" charset="-120"/>
              </a:rPr>
              <a:t>Fri wk 1</a:t>
            </a:r>
            <a:endParaRPr lang="en-US" sz="1100" dirty="0"/>
          </a:p>
        </p:txBody>
      </p:sp>
      <p:sp>
        <p:nvSpPr>
          <p:cNvPr id="18" name="Shape 16"/>
          <p:cNvSpPr/>
          <p:nvPr/>
        </p:nvSpPr>
        <p:spPr>
          <a:xfrm>
            <a:off x="640080" y="3017520"/>
            <a:ext cx="10881360" cy="676656"/>
          </a:xfrm>
          <a:prstGeom prst="rect">
            <a:avLst/>
          </a:prstGeom>
          <a:solidFill>
            <a:srgbClr val="FFFFFF"/>
          </a:solidFill>
          <a:ln w="12700">
            <a:solidFill>
              <a:srgbClr val="D8D2C9"/>
            </a:solidFill>
            <a:prstDash val="solid"/>
          </a:ln>
        </p:spPr>
        <p:txBody>
          <a:bodyPr/>
          <a:lstStyle/>
          <a:p>
            <a:endParaRPr lang="en-US"/>
          </a:p>
        </p:txBody>
      </p:sp>
      <p:sp>
        <p:nvSpPr>
          <p:cNvPr id="19" name="Shape 17"/>
          <p:cNvSpPr/>
          <p:nvPr/>
        </p:nvSpPr>
        <p:spPr>
          <a:xfrm>
            <a:off x="841248" y="3291840"/>
            <a:ext cx="128016" cy="128016"/>
          </a:xfrm>
          <a:prstGeom prst="rect">
            <a:avLst/>
          </a:prstGeom>
          <a:solidFill>
            <a:srgbClr val="B8621B"/>
          </a:solidFill>
          <a:ln/>
        </p:spPr>
        <p:txBody>
          <a:bodyPr/>
          <a:lstStyle/>
          <a:p>
            <a:endParaRPr lang="en-US"/>
          </a:p>
        </p:txBody>
      </p:sp>
      <p:sp>
        <p:nvSpPr>
          <p:cNvPr id="20" name="Text 18"/>
          <p:cNvSpPr/>
          <p:nvPr/>
        </p:nvSpPr>
        <p:spPr>
          <a:xfrm>
            <a:off x="1097280" y="3072384"/>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Start a2 — build slice 1</a:t>
            </a:r>
            <a:endParaRPr lang="en-US" sz="1250" dirty="0"/>
          </a:p>
        </p:txBody>
      </p:sp>
      <p:sp>
        <p:nvSpPr>
          <p:cNvPr id="21" name="Text 19"/>
          <p:cNvSpPr/>
          <p:nvPr/>
        </p:nvSpPr>
        <p:spPr>
          <a:xfrm>
            <a:off x="1097280" y="3364992"/>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First link in the chain. Also de-risks scheduling rig time.</a:t>
            </a:r>
            <a:endParaRPr lang="en-US" sz="1050" dirty="0"/>
          </a:p>
        </p:txBody>
      </p:sp>
      <p:sp>
        <p:nvSpPr>
          <p:cNvPr id="22" name="Text 20"/>
          <p:cNvSpPr/>
          <p:nvPr/>
        </p:nvSpPr>
        <p:spPr>
          <a:xfrm>
            <a:off x="8595360" y="3017520"/>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Lead</a:t>
            </a:r>
            <a:endParaRPr lang="en-US" sz="1100" dirty="0"/>
          </a:p>
        </p:txBody>
      </p:sp>
      <p:sp>
        <p:nvSpPr>
          <p:cNvPr id="23" name="Text 21"/>
          <p:cNvSpPr/>
          <p:nvPr/>
        </p:nvSpPr>
        <p:spPr>
          <a:xfrm>
            <a:off x="10424160" y="3017520"/>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Day 1</a:t>
            </a:r>
            <a:endParaRPr lang="en-US" sz="1100" dirty="0"/>
          </a:p>
        </p:txBody>
      </p:sp>
      <p:sp>
        <p:nvSpPr>
          <p:cNvPr id="24" name="Shape 22"/>
          <p:cNvSpPr/>
          <p:nvPr/>
        </p:nvSpPr>
        <p:spPr>
          <a:xfrm>
            <a:off x="640080" y="3803904"/>
            <a:ext cx="10881360" cy="676656"/>
          </a:xfrm>
          <a:prstGeom prst="rect">
            <a:avLst/>
          </a:prstGeom>
          <a:solidFill>
            <a:srgbClr val="FFFFFF"/>
          </a:solidFill>
          <a:ln w="12700">
            <a:solidFill>
              <a:srgbClr val="D8D2C9"/>
            </a:solidFill>
            <a:prstDash val="solid"/>
          </a:ln>
        </p:spPr>
        <p:txBody>
          <a:bodyPr/>
          <a:lstStyle/>
          <a:p>
            <a:endParaRPr lang="en-US"/>
          </a:p>
        </p:txBody>
      </p:sp>
      <p:sp>
        <p:nvSpPr>
          <p:cNvPr id="25" name="Shape 23"/>
          <p:cNvSpPr/>
          <p:nvPr/>
        </p:nvSpPr>
        <p:spPr>
          <a:xfrm>
            <a:off x="841248" y="4078224"/>
            <a:ext cx="128016" cy="128016"/>
          </a:xfrm>
          <a:prstGeom prst="rect">
            <a:avLst/>
          </a:prstGeom>
          <a:solidFill>
            <a:srgbClr val="B8621B"/>
          </a:solidFill>
          <a:ln/>
        </p:spPr>
        <p:txBody>
          <a:bodyPr/>
          <a:lstStyle/>
          <a:p>
            <a:endParaRPr lang="en-US"/>
          </a:p>
        </p:txBody>
      </p:sp>
      <p:sp>
        <p:nvSpPr>
          <p:cNvPr id="26" name="Text 24"/>
          <p:cNvSpPr/>
          <p:nvPr/>
        </p:nvSpPr>
        <p:spPr>
          <a:xfrm>
            <a:off x="1097280" y="3858768"/>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Book the inspector provisionally</a:t>
            </a:r>
            <a:endParaRPr lang="en-US" sz="1250" dirty="0"/>
          </a:p>
        </p:txBody>
      </p:sp>
      <p:sp>
        <p:nvSpPr>
          <p:cNvPr id="27" name="Text 25"/>
          <p:cNvSpPr/>
          <p:nvPr/>
        </p:nvSpPr>
        <p:spPr>
          <a:xfrm>
            <a:off x="1097280" y="4151376"/>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Ten working days is the lead time from submission, not from asking.</a:t>
            </a:r>
            <a:endParaRPr lang="en-US" sz="1050" dirty="0"/>
          </a:p>
        </p:txBody>
      </p:sp>
      <p:sp>
        <p:nvSpPr>
          <p:cNvPr id="28" name="Text 26"/>
          <p:cNvSpPr/>
          <p:nvPr/>
        </p:nvSpPr>
        <p:spPr>
          <a:xfrm>
            <a:off x="8595360" y="3803904"/>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Lead</a:t>
            </a:r>
            <a:endParaRPr lang="en-US" sz="1100" dirty="0"/>
          </a:p>
        </p:txBody>
      </p:sp>
      <p:sp>
        <p:nvSpPr>
          <p:cNvPr id="29" name="Text 27"/>
          <p:cNvSpPr/>
          <p:nvPr/>
        </p:nvSpPr>
        <p:spPr>
          <a:xfrm>
            <a:off x="10424160" y="3803904"/>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Day 1</a:t>
            </a:r>
            <a:endParaRPr lang="en-US" sz="1100" dirty="0"/>
          </a:p>
        </p:txBody>
      </p:sp>
      <p:sp>
        <p:nvSpPr>
          <p:cNvPr id="30" name="Shape 28"/>
          <p:cNvSpPr/>
          <p:nvPr/>
        </p:nvSpPr>
        <p:spPr>
          <a:xfrm>
            <a:off x="640080" y="4590288"/>
            <a:ext cx="10881360" cy="676656"/>
          </a:xfrm>
          <a:prstGeom prst="rect">
            <a:avLst/>
          </a:prstGeom>
          <a:solidFill>
            <a:srgbClr val="FFFFFF"/>
          </a:solidFill>
          <a:ln w="12700">
            <a:solidFill>
              <a:srgbClr val="D8D2C9"/>
            </a:solidFill>
            <a:prstDash val="solid"/>
          </a:ln>
        </p:spPr>
        <p:txBody>
          <a:bodyPr/>
          <a:lstStyle/>
          <a:p>
            <a:endParaRPr lang="en-US"/>
          </a:p>
        </p:txBody>
      </p:sp>
      <p:sp>
        <p:nvSpPr>
          <p:cNvPr id="31" name="Shape 29"/>
          <p:cNvSpPr/>
          <p:nvPr/>
        </p:nvSpPr>
        <p:spPr>
          <a:xfrm>
            <a:off x="841248" y="4864608"/>
            <a:ext cx="128016" cy="128016"/>
          </a:xfrm>
          <a:prstGeom prst="rect">
            <a:avLst/>
          </a:prstGeom>
          <a:solidFill>
            <a:srgbClr val="B8621B"/>
          </a:solidFill>
          <a:ln/>
        </p:spPr>
        <p:txBody>
          <a:bodyPr/>
          <a:lstStyle/>
          <a:p>
            <a:endParaRPr lang="en-US"/>
          </a:p>
        </p:txBody>
      </p:sp>
      <p:sp>
        <p:nvSpPr>
          <p:cNvPr id="32" name="Text 30"/>
          <p:cNvSpPr/>
          <p:nvPr/>
        </p:nvSpPr>
        <p:spPr>
          <a:xfrm>
            <a:off x="1097280" y="4645152"/>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Get Sam's breakdown + refreshed mocks</a:t>
            </a:r>
            <a:endParaRPr lang="en-US" sz="1250" dirty="0"/>
          </a:p>
        </p:txBody>
      </p:sp>
      <p:sp>
        <p:nvSpPr>
          <p:cNvPr id="33" name="Text 31"/>
          <p:cNvSpPr/>
          <p:nvPr/>
        </p:nvSpPr>
        <p:spPr>
          <a:xfrm>
            <a:off x="1097280" y="4937760"/>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Two of three user-facing surfaces are currently unplanned work.</a:t>
            </a:r>
            <a:endParaRPr lang="en-US" sz="1050" dirty="0"/>
          </a:p>
        </p:txBody>
      </p:sp>
      <p:sp>
        <p:nvSpPr>
          <p:cNvPr id="34" name="Text 32"/>
          <p:cNvSpPr/>
          <p:nvPr/>
        </p:nvSpPr>
        <p:spPr>
          <a:xfrm>
            <a:off x="8595360" y="4590288"/>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Sam, Robin</a:t>
            </a:r>
            <a:endParaRPr lang="en-US" sz="1100" dirty="0"/>
          </a:p>
        </p:txBody>
      </p:sp>
      <p:sp>
        <p:nvSpPr>
          <p:cNvPr id="35" name="Text 33"/>
          <p:cNvSpPr/>
          <p:nvPr/>
        </p:nvSpPr>
        <p:spPr>
          <a:xfrm>
            <a:off x="10424160" y="4590288"/>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Fri wk 1</a:t>
            </a:r>
            <a:endParaRPr lang="en-US" sz="1100" dirty="0"/>
          </a:p>
        </p:txBody>
      </p:sp>
      <p:sp>
        <p:nvSpPr>
          <p:cNvPr id="36" name="Shape 34"/>
          <p:cNvSpPr/>
          <p:nvPr/>
        </p:nvSpPr>
        <p:spPr>
          <a:xfrm>
            <a:off x="640080" y="5376672"/>
            <a:ext cx="10881360" cy="676656"/>
          </a:xfrm>
          <a:prstGeom prst="rect">
            <a:avLst/>
          </a:prstGeom>
          <a:solidFill>
            <a:srgbClr val="FFFFFF"/>
          </a:solidFill>
          <a:ln w="12700">
            <a:solidFill>
              <a:srgbClr val="D8D2C9"/>
            </a:solidFill>
            <a:prstDash val="solid"/>
          </a:ln>
        </p:spPr>
        <p:txBody>
          <a:bodyPr/>
          <a:lstStyle/>
          <a:p>
            <a:endParaRPr lang="en-US"/>
          </a:p>
        </p:txBody>
      </p:sp>
      <p:sp>
        <p:nvSpPr>
          <p:cNvPr id="37" name="Shape 35"/>
          <p:cNvSpPr/>
          <p:nvPr/>
        </p:nvSpPr>
        <p:spPr>
          <a:xfrm>
            <a:off x="841248" y="5650992"/>
            <a:ext cx="128016" cy="128016"/>
          </a:xfrm>
          <a:prstGeom prst="rect">
            <a:avLst/>
          </a:prstGeom>
          <a:solidFill>
            <a:srgbClr val="B8621B"/>
          </a:solidFill>
          <a:ln/>
        </p:spPr>
        <p:txBody>
          <a:bodyPr/>
          <a:lstStyle/>
          <a:p>
            <a:endParaRPr lang="en-US"/>
          </a:p>
        </p:txBody>
      </p:sp>
      <p:sp>
        <p:nvSpPr>
          <p:cNvPr id="38" name="Text 36"/>
          <p:cNvSpPr/>
          <p:nvPr/>
        </p:nvSpPr>
        <p:spPr>
          <a:xfrm>
            <a:off x="1097280" y="5431536"/>
            <a:ext cx="420624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Freeze PanelSpec; publish BuildModel types</a:t>
            </a:r>
            <a:endParaRPr lang="en-US" sz="1250" dirty="0"/>
          </a:p>
        </p:txBody>
      </p:sp>
      <p:sp>
        <p:nvSpPr>
          <p:cNvPr id="39" name="Text 37"/>
          <p:cNvSpPr/>
          <p:nvPr/>
        </p:nvSpPr>
        <p:spPr>
          <a:xfrm>
            <a:off x="1097280" y="5724144"/>
            <a:ext cx="7315200" cy="274320"/>
          </a:xfrm>
          <a:prstGeom prst="rect">
            <a:avLst/>
          </a:prstGeom>
          <a:noFill/>
          <a:ln/>
        </p:spPr>
        <p:txBody>
          <a:bodyPr wrap="square" lIns="0" tIns="0" rIns="0" bIns="0" rtlCol="0" anchor="ctr"/>
          <a:lstStyle/>
          <a:p>
            <a:pPr marL="0" indent="0">
              <a:buNone/>
            </a:pPr>
            <a:r>
              <a:rPr lang="en-US" sz="1050" dirty="0">
                <a:solidFill>
                  <a:srgbClr val="6E7781"/>
                </a:solidFill>
                <a:latin typeface="Calibri" pitchFamily="34" charset="0"/>
                <a:ea typeface="Calibri" pitchFamily="34" charset="-122"/>
                <a:cs typeface="Calibri" pitchFamily="34" charset="-120"/>
              </a:rPr>
              <a:t>Stops the migration surface growing today. Costs nothing.</a:t>
            </a:r>
            <a:endParaRPr lang="en-US" sz="1050" dirty="0"/>
          </a:p>
        </p:txBody>
      </p:sp>
      <p:sp>
        <p:nvSpPr>
          <p:cNvPr id="40" name="Text 38"/>
          <p:cNvSpPr/>
          <p:nvPr/>
        </p:nvSpPr>
        <p:spPr>
          <a:xfrm>
            <a:off x="8595360" y="5376672"/>
            <a:ext cx="1737360" cy="676656"/>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Jo, Alex</a:t>
            </a:r>
            <a:endParaRPr lang="en-US" sz="1100" dirty="0"/>
          </a:p>
        </p:txBody>
      </p:sp>
      <p:sp>
        <p:nvSpPr>
          <p:cNvPr id="41" name="Text 39"/>
          <p:cNvSpPr/>
          <p:nvPr/>
        </p:nvSpPr>
        <p:spPr>
          <a:xfrm>
            <a:off x="10424160" y="5376672"/>
            <a:ext cx="1005840" cy="676656"/>
          </a:xfrm>
          <a:prstGeom prst="rect">
            <a:avLst/>
          </a:prstGeom>
          <a:noFill/>
          <a:ln/>
        </p:spPr>
        <p:txBody>
          <a:bodyPr wrap="square" lIns="0" tIns="0" rIns="0" bIns="0" rtlCol="0" anchor="ctr"/>
          <a:lstStyle/>
          <a:p>
            <a:pPr marL="0" indent="0" algn="r">
              <a:buNone/>
            </a:pPr>
            <a:r>
              <a:rPr lang="en-US" sz="1100" b="1" dirty="0">
                <a:solidFill>
                  <a:srgbClr val="1C1F26"/>
                </a:solidFill>
                <a:latin typeface="Calibri" pitchFamily="34" charset="0"/>
                <a:ea typeface="Calibri" pitchFamily="34" charset="-122"/>
                <a:cs typeface="Calibri" pitchFamily="34" charset="-120"/>
              </a:rPr>
              <a:t>Wk 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F26"/>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I am least sure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A8B0BC"/>
                </a:solidFill>
                <a:latin typeface="Calibri" pitchFamily="34" charset="0"/>
                <a:ea typeface="Calibri" pitchFamily="34" charset="-122"/>
                <a:cs typeface="Calibri" pitchFamily="34" charset="-120"/>
              </a:rPr>
              <a:t>Named before you name them. In order of exposure.</a:t>
            </a:r>
            <a:endParaRPr lang="en-US" sz="1400" dirty="0"/>
          </a:p>
        </p:txBody>
      </p:sp>
      <p:sp>
        <p:nvSpPr>
          <p:cNvPr id="6" name="Shape 4"/>
          <p:cNvSpPr/>
          <p:nvPr/>
        </p:nvSpPr>
        <p:spPr>
          <a:xfrm>
            <a:off x="640080" y="1545336"/>
            <a:ext cx="118872" cy="118872"/>
          </a:xfrm>
          <a:prstGeom prst="rect">
            <a:avLst/>
          </a:prstGeom>
          <a:solidFill>
            <a:srgbClr val="B8621B"/>
          </a:solidFill>
          <a:ln/>
        </p:spPr>
        <p:txBody>
          <a:bodyPr/>
          <a:lstStyle/>
          <a:p>
            <a:endParaRPr lang="en-US"/>
          </a:p>
        </p:txBody>
      </p:sp>
      <p:sp>
        <p:nvSpPr>
          <p:cNvPr id="7" name="Text 5"/>
          <p:cNvSpPr/>
          <p:nvPr/>
        </p:nvSpPr>
        <p:spPr>
          <a:xfrm>
            <a:off x="932688" y="1444752"/>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The firmware split is my invention</a:t>
            </a:r>
            <a:endParaRPr lang="en-US" sz="1350" dirty="0"/>
          </a:p>
        </p:txBody>
      </p:sp>
      <p:sp>
        <p:nvSpPr>
          <p:cNvPr id="8" name="Text 6"/>
          <p:cNvSpPr/>
          <p:nvPr/>
        </p:nvSpPr>
        <p:spPr>
          <a:xfrm>
            <a:off x="932688" y="1755648"/>
            <a:ext cx="10424160" cy="603504"/>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I proposed v4.2a/v4.2b from a principle — never change the safety configuration after the re-test, only add observability. I do not know embedded release practice. A robotics lead may say firmware does not decompose that way, or that two builds cost more validation than they save. The principle is sound; the mechanism may not be.</a:t>
            </a:r>
            <a:endParaRPr lang="en-US" sz="1100" dirty="0"/>
          </a:p>
        </p:txBody>
      </p:sp>
      <p:sp>
        <p:nvSpPr>
          <p:cNvPr id="9" name="Shape 7"/>
          <p:cNvSpPr/>
          <p:nvPr/>
        </p:nvSpPr>
        <p:spPr>
          <a:xfrm>
            <a:off x="640080" y="2514600"/>
            <a:ext cx="118872" cy="118872"/>
          </a:xfrm>
          <a:prstGeom prst="rect">
            <a:avLst/>
          </a:prstGeom>
          <a:solidFill>
            <a:srgbClr val="B8621B"/>
          </a:solidFill>
          <a:ln/>
        </p:spPr>
        <p:txBody>
          <a:bodyPr/>
          <a:lstStyle/>
          <a:p>
            <a:endParaRPr lang="en-US"/>
          </a:p>
        </p:txBody>
      </p:sp>
      <p:sp>
        <p:nvSpPr>
          <p:cNvPr id="10" name="Text 8"/>
          <p:cNvSpPr/>
          <p:nvPr/>
        </p:nvSpPr>
        <p:spPr>
          <a:xfrm>
            <a:off x="932688" y="2414016"/>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Sam's estimates are mine, not his</a:t>
            </a:r>
            <a:endParaRPr lang="en-US" sz="1350" dirty="0"/>
          </a:p>
        </p:txBody>
      </p:sp>
      <p:sp>
        <p:nvSpPr>
          <p:cNvPr id="11" name="Text 9"/>
          <p:cNvSpPr/>
          <p:nvPr/>
        </p:nvSpPr>
        <p:spPr>
          <a:xfrm>
            <a:off x="932688" y="2724912"/>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Inferred from comparable backlog workstreams. It is the largest number in the capacity table and I invented it.</a:t>
            </a:r>
            <a:endParaRPr lang="en-US" sz="1100" dirty="0"/>
          </a:p>
        </p:txBody>
      </p:sp>
      <p:sp>
        <p:nvSpPr>
          <p:cNvPr id="12" name="Shape 10"/>
          <p:cNvSpPr/>
          <p:nvPr/>
        </p:nvSpPr>
        <p:spPr>
          <a:xfrm>
            <a:off x="640080" y="3483864"/>
            <a:ext cx="118872" cy="118872"/>
          </a:xfrm>
          <a:prstGeom prst="rect">
            <a:avLst/>
          </a:prstGeom>
          <a:solidFill>
            <a:srgbClr val="B8621B"/>
          </a:solidFill>
          <a:ln/>
        </p:spPr>
        <p:txBody>
          <a:bodyPr/>
          <a:lstStyle/>
          <a:p>
            <a:endParaRPr lang="en-US"/>
          </a:p>
        </p:txBody>
      </p:sp>
      <p:sp>
        <p:nvSpPr>
          <p:cNvPr id="13" name="Text 11"/>
          <p:cNvSpPr/>
          <p:nvPr/>
        </p:nvSpPr>
        <p:spPr>
          <a:xfrm>
            <a:off x="932688" y="3383280"/>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Alex's 1.55× multiplier rests on four data points</a:t>
            </a:r>
            <a:endParaRPr lang="en-US" sz="1350" dirty="0"/>
          </a:p>
        </p:txBody>
      </p:sp>
      <p:sp>
        <p:nvSpPr>
          <p:cNvPr id="14" name="Text 12"/>
          <p:cNvSpPr/>
          <p:nvPr/>
        </p:nvSpPr>
        <p:spPr>
          <a:xfrm>
            <a:off x="932688" y="3694176"/>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And I used it to justify cutting his work.</a:t>
            </a:r>
            <a:endParaRPr lang="en-US" sz="1100" dirty="0"/>
          </a:p>
        </p:txBody>
      </p:sp>
      <p:sp>
        <p:nvSpPr>
          <p:cNvPr id="15" name="Shape 13"/>
          <p:cNvSpPr/>
          <p:nvPr/>
        </p:nvSpPr>
        <p:spPr>
          <a:xfrm>
            <a:off x="640080" y="4453128"/>
            <a:ext cx="118872" cy="118872"/>
          </a:xfrm>
          <a:prstGeom prst="rect">
            <a:avLst/>
          </a:prstGeom>
          <a:solidFill>
            <a:srgbClr val="B8621B"/>
          </a:solidFill>
          <a:ln/>
        </p:spPr>
        <p:txBody>
          <a:bodyPr/>
          <a:lstStyle/>
          <a:p>
            <a:endParaRPr lang="en-US"/>
          </a:p>
        </p:txBody>
      </p:sp>
      <p:sp>
        <p:nvSpPr>
          <p:cNvPr id="16" name="Text 14"/>
          <p:cNvSpPr/>
          <p:nvPr/>
        </p:nvSpPr>
        <p:spPr>
          <a:xfrm>
            <a:off x="932688" y="4352544"/>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"Bench validation halves because the scope halves"</a:t>
            </a:r>
            <a:endParaRPr lang="en-US" sz="1350" dirty="0"/>
          </a:p>
        </p:txBody>
      </p:sp>
      <p:sp>
        <p:nvSpPr>
          <p:cNvPr id="17" name="Text 15"/>
          <p:cNvSpPr/>
          <p:nvPr/>
        </p:nvSpPr>
        <p:spPr>
          <a:xfrm>
            <a:off x="932688" y="4663440"/>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An assumption about someone else's job. Plan A dies without it.</a:t>
            </a:r>
            <a:endParaRPr lang="en-US" sz="1100" dirty="0"/>
          </a:p>
        </p:txBody>
      </p:sp>
      <p:sp>
        <p:nvSpPr>
          <p:cNvPr id="18" name="Shape 16"/>
          <p:cNvSpPr/>
          <p:nvPr/>
        </p:nvSpPr>
        <p:spPr>
          <a:xfrm>
            <a:off x="640080" y="5422392"/>
            <a:ext cx="118872" cy="118872"/>
          </a:xfrm>
          <a:prstGeom prst="rect">
            <a:avLst/>
          </a:prstGeom>
          <a:solidFill>
            <a:srgbClr val="B8621B"/>
          </a:solidFill>
          <a:ln/>
        </p:spPr>
        <p:txBody>
          <a:bodyPr/>
          <a:lstStyle/>
          <a:p>
            <a:endParaRPr lang="en-US"/>
          </a:p>
        </p:txBody>
      </p:sp>
      <p:sp>
        <p:nvSpPr>
          <p:cNvPr id="19" name="Text 17"/>
          <p:cNvSpPr/>
          <p:nvPr/>
        </p:nvSpPr>
        <p:spPr>
          <a:xfrm>
            <a:off x="932688" y="5321808"/>
            <a:ext cx="1051560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Slice 2 tests the diff core, not the integration</a:t>
            </a:r>
            <a:endParaRPr lang="en-US" sz="1350" dirty="0"/>
          </a:p>
        </p:txBody>
      </p:sp>
      <p:sp>
        <p:nvSpPr>
          <p:cNvPr id="20" name="Text 18"/>
          <p:cNvSpPr/>
          <p:nvPr/>
        </p:nvSpPr>
        <p:spPr>
          <a:xfrm>
            <a:off x="932688" y="5632704"/>
            <a:ext cx="10424160" cy="402336"/>
          </a:xfrm>
          <a:prstGeom prst="rect">
            <a:avLst/>
          </a:prstGeom>
          <a:noFill/>
          <a:ln/>
        </p:spPr>
        <p:txBody>
          <a:bodyPr wrap="square" lIns="0" tIns="0" rIns="0" bIns="0" rtlCol="0" anchor="ctr"/>
          <a:lstStyle/>
          <a:p>
            <a:pPr marL="0" indent="0">
              <a:buNone/>
            </a:pPr>
            <a:r>
              <a:rPr lang="en-US" sz="1100" dirty="0">
                <a:solidFill>
                  <a:srgbClr val="9AA3B0"/>
                </a:solidFill>
                <a:latin typeface="Calibri" pitchFamily="34" charset="0"/>
                <a:ea typeface="Calibri" pitchFamily="34" charset="-122"/>
                <a:cs typeface="Calibri" pitchFamily="34" charset="-120"/>
              </a:rPr>
              <a:t>So it disproves previousSpec, but it does not prove Alex's four weeks is wrong.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F26"/>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B8621B"/>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207008" y="329184"/>
            <a:ext cx="10314432" cy="530352"/>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to push me</a:t>
            </a:r>
            <a:endParaRPr lang="en-US" sz="3000" dirty="0"/>
          </a:p>
        </p:txBody>
      </p:sp>
      <p:sp>
        <p:nvSpPr>
          <p:cNvPr id="5" name="Text 3"/>
          <p:cNvSpPr/>
          <p:nvPr/>
        </p:nvSpPr>
        <p:spPr>
          <a:xfrm>
            <a:off x="640080" y="969264"/>
            <a:ext cx="10881360" cy="310896"/>
          </a:xfrm>
          <a:prstGeom prst="rect">
            <a:avLst/>
          </a:prstGeom>
          <a:noFill/>
          <a:ln/>
        </p:spPr>
        <p:txBody>
          <a:bodyPr wrap="square" lIns="0" tIns="0" rIns="0" bIns="0" rtlCol="0" anchor="ctr"/>
          <a:lstStyle/>
          <a:p>
            <a:pPr marL="0" indent="0">
              <a:buNone/>
            </a:pPr>
            <a:r>
              <a:rPr lang="en-US" sz="1400" i="1" dirty="0">
                <a:solidFill>
                  <a:srgbClr val="A8B0BC"/>
                </a:solidFill>
                <a:latin typeface="Calibri" pitchFamily="34" charset="0"/>
                <a:ea typeface="Calibri" pitchFamily="34" charset="-122"/>
                <a:cs typeface="Calibri" pitchFamily="34" charset="-120"/>
              </a:rPr>
              <a:t>The calls I would most like to be argued out of.</a:t>
            </a:r>
            <a:endParaRPr lang="en-US" sz="1400" dirty="0"/>
          </a:p>
        </p:txBody>
      </p:sp>
      <p:sp>
        <p:nvSpPr>
          <p:cNvPr id="6" name="Text 4"/>
          <p:cNvSpPr/>
          <p:nvPr/>
        </p:nvSpPr>
        <p:spPr>
          <a:xfrm>
            <a:off x="640080" y="1444752"/>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Am I right to move the cutover to Q4?</a:t>
            </a:r>
            <a:endParaRPr lang="en-US" sz="1500" dirty="0"/>
          </a:p>
        </p:txBody>
      </p:sp>
      <p:sp>
        <p:nvSpPr>
          <p:cNvPr id="7" name="Text 5"/>
          <p:cNvSpPr/>
          <p:nvPr/>
        </p:nvSpPr>
        <p:spPr>
          <a:xfrm>
            <a:off x="640080" y="1773936"/>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The principle that half-migrated is worse than either end is correct. I am betting the calendar beats the principle for eight weeks — and I have not seen the read paths.</a:t>
            </a:r>
            <a:endParaRPr lang="en-US" sz="1150" dirty="0"/>
          </a:p>
        </p:txBody>
      </p:sp>
      <p:sp>
        <p:nvSpPr>
          <p:cNvPr id="8" name="Text 6"/>
          <p:cNvSpPr/>
          <p:nvPr/>
        </p:nvSpPr>
        <p:spPr>
          <a:xfrm>
            <a:off x="640080" y="2414016"/>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Is PR-6 scope creep dressed as insight?</a:t>
            </a:r>
            <a:endParaRPr lang="en-US" sz="1500" dirty="0"/>
          </a:p>
        </p:txBody>
      </p:sp>
      <p:sp>
        <p:nvSpPr>
          <p:cNvPr id="9" name="Text 7"/>
          <p:cNvSpPr/>
          <p:nvPr/>
        </p:nvSpPr>
        <p:spPr>
          <a:xfrm>
            <a:off x="640080" y="2743200"/>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I added a Must story in week one, having never met the production manager. Robin may have good reasons the cost model is harder than £180 a panel.</a:t>
            </a:r>
            <a:endParaRPr lang="en-US" sz="1150" dirty="0"/>
          </a:p>
        </p:txBody>
      </p:sp>
      <p:sp>
        <p:nvSpPr>
          <p:cNvPr id="10" name="Text 8"/>
          <p:cNvSpPr/>
          <p:nvPr/>
        </p:nvSpPr>
        <p:spPr>
          <a:xfrm>
            <a:off x="640080" y="3383280"/>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Should a2 really start on day one?</a:t>
            </a:r>
            <a:endParaRPr lang="en-US" sz="1500" dirty="0"/>
          </a:p>
        </p:txBody>
      </p:sp>
      <p:sp>
        <p:nvSpPr>
          <p:cNvPr id="11" name="Text 9"/>
          <p:cNvSpPr/>
          <p:nvPr/>
        </p:nvSpPr>
        <p:spPr>
          <a:xfrm>
            <a:off x="640080" y="3712464"/>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Once the firmware chain is admitted, a2 has nine days of float. Starting it immediately may be conservatism I have justified after the fact.</a:t>
            </a:r>
            <a:endParaRPr lang="en-US" sz="1150" dirty="0"/>
          </a:p>
        </p:txBody>
      </p:sp>
      <p:sp>
        <p:nvSpPr>
          <p:cNvPr id="12" name="Text 10"/>
          <p:cNvSpPr/>
          <p:nvPr/>
        </p:nvSpPr>
        <p:spPr>
          <a:xfrm>
            <a:off x="640080" y="4352544"/>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Is two slices one too many?</a:t>
            </a:r>
            <a:endParaRPr lang="en-US" sz="1500" dirty="0"/>
          </a:p>
        </p:txBody>
      </p:sp>
      <p:sp>
        <p:nvSpPr>
          <p:cNvPr id="13" name="Text 11"/>
          <p:cNvSpPr/>
          <p:nvPr/>
        </p:nvSpPr>
        <p:spPr>
          <a:xfrm>
            <a:off x="640080" y="4681728"/>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The brief said pick one, and keep it small. I built two and wrote nine documents.</a:t>
            </a:r>
            <a:endParaRPr lang="en-US" sz="1150" dirty="0"/>
          </a:p>
        </p:txBody>
      </p:sp>
      <p:sp>
        <p:nvSpPr>
          <p:cNvPr id="14" name="Text 12"/>
          <p:cNvSpPr/>
          <p:nvPr/>
        </p:nvSpPr>
        <p:spPr>
          <a:xfrm>
            <a:off x="640080" y="5321808"/>
            <a:ext cx="10515600" cy="310896"/>
          </a:xfrm>
          <a:prstGeom prst="rect">
            <a:avLst/>
          </a:prstGeom>
          <a:noFill/>
          <a:ln/>
        </p:spPr>
        <p:txBody>
          <a:bodyPr wrap="square" lIns="0" tIns="0" rIns="0" bIns="0" rtlCol="0" anchor="ctr"/>
          <a:lstStyle/>
          <a:p>
            <a:pPr marL="0" indent="0">
              <a:buNone/>
            </a:pPr>
            <a:r>
              <a:rPr lang="en-US" sz="1500" b="1" dirty="0">
                <a:solidFill>
                  <a:srgbClr val="B8621B"/>
                </a:solidFill>
                <a:latin typeface="Cambria" pitchFamily="34" charset="0"/>
                <a:ea typeface="Cambria" pitchFamily="34" charset="-122"/>
                <a:cs typeface="Cambria" pitchFamily="34" charset="-120"/>
              </a:rPr>
              <a:t>Have I over-trusted a 29-event sample?</a:t>
            </a:r>
            <a:endParaRPr lang="en-US" sz="1500" dirty="0"/>
          </a:p>
        </p:txBody>
      </p:sp>
      <p:sp>
        <p:nvSpPr>
          <p:cNvPr id="15" name="Text 13"/>
          <p:cNvSpPr/>
          <p:nvPr/>
        </p:nvSpPr>
        <p:spPr>
          <a:xfrm>
            <a:off x="640080" y="5650992"/>
            <a:ext cx="10424160" cy="457200"/>
          </a:xfrm>
          <a:prstGeom prst="rect">
            <a:avLst/>
          </a:prstGeom>
          <a:noFill/>
          <a:ln/>
        </p:spPr>
        <p:txBody>
          <a:bodyPr wrap="square" lIns="0" tIns="0" rIns="0" bIns="0" rtlCol="0" anchor="ctr"/>
          <a:lstStyle/>
          <a:p>
            <a:pPr marL="0" indent="0">
              <a:buNone/>
            </a:pPr>
            <a:r>
              <a:rPr lang="en-US" sz="1150" dirty="0">
                <a:solidFill>
                  <a:srgbClr val="9AA3B0"/>
                </a:solidFill>
                <a:latin typeface="Calibri" pitchFamily="34" charset="0"/>
                <a:ea typeface="Calibri" pitchFamily="34" charset="-122"/>
                <a:cs typeface="Calibri" pitchFamily="34" charset="-120"/>
              </a:rPr>
              <a:t>Several decisions rest on one truncated stream from March, which Chris warned has a different cadence.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F26"/>
        </a:solidFill>
        <a:effectLst/>
      </p:bgPr>
    </p:bg>
    <p:spTree>
      <p:nvGrpSpPr>
        <p:cNvPr id="1" name=""/>
        <p:cNvGrpSpPr/>
        <p:nvPr/>
      </p:nvGrpSpPr>
      <p:grpSpPr>
        <a:xfrm>
          <a:off x="0" y="0"/>
          <a:ext cx="0" cy="0"/>
          <a:chOff x="0" y="0"/>
          <a:chExt cx="0" cy="0"/>
        </a:xfrm>
      </p:grpSpPr>
      <p:sp>
        <p:nvSpPr>
          <p:cNvPr id="2" name="Text 0"/>
          <p:cNvSpPr/>
          <p:nvPr/>
        </p:nvSpPr>
        <p:spPr>
          <a:xfrm>
            <a:off x="640080" y="713232"/>
            <a:ext cx="10881360" cy="310896"/>
          </a:xfrm>
          <a:prstGeom prst="rect">
            <a:avLst/>
          </a:prstGeom>
          <a:noFill/>
          <a:ln/>
        </p:spPr>
        <p:txBody>
          <a:bodyPr wrap="square" lIns="0" tIns="0" rIns="0" bIns="0" rtlCol="0" anchor="ctr"/>
          <a:lstStyle/>
          <a:p>
            <a:pPr marL="0" indent="0">
              <a:buNone/>
            </a:pPr>
            <a:r>
              <a:rPr lang="en-US" sz="1200" b="1" kern="0" spc="300" dirty="0">
                <a:solidFill>
                  <a:srgbClr val="B8621B"/>
                </a:solidFill>
                <a:latin typeface="Calibri" pitchFamily="34" charset="0"/>
                <a:ea typeface="Calibri" pitchFamily="34" charset="-122"/>
                <a:cs typeface="Calibri" pitchFamily="34" charset="-120"/>
              </a:rPr>
              <a:t>REFERENCE</a:t>
            </a:r>
            <a:endParaRPr lang="en-US" sz="1200" dirty="0"/>
          </a:p>
        </p:txBody>
      </p:sp>
      <p:sp>
        <p:nvSpPr>
          <p:cNvPr id="3" name="Text 1"/>
          <p:cNvSpPr/>
          <p:nvPr/>
        </p:nvSpPr>
        <p:spPr>
          <a:xfrm>
            <a:off x="640080" y="1097280"/>
            <a:ext cx="10881360" cy="749808"/>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Appendices</a:t>
            </a:r>
            <a:endParaRPr lang="en-US" sz="4200" dirty="0"/>
          </a:p>
        </p:txBody>
      </p:sp>
      <p:sp>
        <p:nvSpPr>
          <p:cNvPr id="4" name="Text 2"/>
          <p:cNvSpPr/>
          <p:nvPr/>
        </p:nvSpPr>
        <p:spPr>
          <a:xfrm>
            <a:off x="640080" y="1956816"/>
            <a:ext cx="8778240" cy="365760"/>
          </a:xfrm>
          <a:prstGeom prst="rect">
            <a:avLst/>
          </a:prstGeom>
          <a:noFill/>
          <a:ln/>
        </p:spPr>
        <p:txBody>
          <a:bodyPr wrap="square" lIns="0" tIns="0" rIns="0" bIns="0" rtlCol="0" anchor="ctr"/>
          <a:lstStyle/>
          <a:p>
            <a:pPr marL="0" indent="0">
              <a:buNone/>
            </a:pPr>
            <a:r>
              <a:rPr lang="en-US" sz="1400" dirty="0">
                <a:solidFill>
                  <a:srgbClr val="9AA3B0"/>
                </a:solidFill>
                <a:latin typeface="Calibri" pitchFamily="34" charset="0"/>
                <a:ea typeface="Calibri" pitchFamily="34" charset="-122"/>
                <a:cs typeface="Calibri" pitchFamily="34" charset="-120"/>
              </a:rPr>
              <a:t>The working behind the numbers in the deck. Held back so the argument stays short — jump to one when a question needs it.</a:t>
            </a:r>
            <a:endParaRPr lang="en-US" sz="1400" dirty="0"/>
          </a:p>
        </p:txBody>
      </p:sp>
      <p:sp>
        <p:nvSpPr>
          <p:cNvPr id="5" name="Text 3"/>
          <p:cNvSpPr/>
          <p:nvPr/>
        </p:nvSpPr>
        <p:spPr>
          <a:xfrm>
            <a:off x="640080" y="2779776"/>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A</a:t>
            </a:r>
            <a:endParaRPr lang="en-US" sz="2200" dirty="0"/>
          </a:p>
        </p:txBody>
      </p:sp>
      <p:sp>
        <p:nvSpPr>
          <p:cNvPr id="6" name="Text 4"/>
          <p:cNvSpPr/>
          <p:nvPr/>
        </p:nvSpPr>
        <p:spPr>
          <a:xfrm>
            <a:off x="1261872" y="2798064"/>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Capacity arithmetic</a:t>
            </a:r>
            <a:endParaRPr lang="en-US" sz="1400" dirty="0"/>
          </a:p>
        </p:txBody>
      </p:sp>
      <p:sp>
        <p:nvSpPr>
          <p:cNvPr id="7" name="Text 5"/>
          <p:cNvSpPr/>
          <p:nvPr/>
        </p:nvSpPr>
        <p:spPr>
          <a:xfrm>
            <a:off x="1261872" y="3081528"/>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Where 35.6 person-weeks against 23.9 comes from, person by person.</a:t>
            </a:r>
            <a:endParaRPr lang="en-US" sz="1100" dirty="0"/>
          </a:p>
        </p:txBody>
      </p:sp>
      <p:sp>
        <p:nvSpPr>
          <p:cNvPr id="8" name="Text 6"/>
          <p:cNvSpPr/>
          <p:nvPr/>
        </p:nvSpPr>
        <p:spPr>
          <a:xfrm>
            <a:off x="9692640" y="2798064"/>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13</a:t>
            </a:r>
            <a:endParaRPr lang="en-US" sz="1100" dirty="0"/>
          </a:p>
        </p:txBody>
      </p:sp>
      <p:sp>
        <p:nvSpPr>
          <p:cNvPr id="9" name="Text 7"/>
          <p:cNvSpPr/>
          <p:nvPr/>
        </p:nvSpPr>
        <p:spPr>
          <a:xfrm>
            <a:off x="640080" y="3529584"/>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B</a:t>
            </a:r>
            <a:endParaRPr lang="en-US" sz="2200" dirty="0"/>
          </a:p>
        </p:txBody>
      </p:sp>
      <p:sp>
        <p:nvSpPr>
          <p:cNvPr id="10" name="Text 8"/>
          <p:cNvSpPr/>
          <p:nvPr/>
        </p:nvSpPr>
        <p:spPr>
          <a:xfrm>
            <a:off x="1261872" y="3547872"/>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What r3 → r4 actually contains</a:t>
            </a:r>
            <a:endParaRPr lang="en-US" sz="1400" dirty="0"/>
          </a:p>
        </p:txBody>
      </p:sp>
      <p:sp>
        <p:nvSpPr>
          <p:cNvPr id="11" name="Text 9"/>
          <p:cNvSpPr/>
          <p:nvPr/>
        </p:nvSpPr>
        <p:spPr>
          <a:xfrm>
            <a:off x="1261872" y="3831336"/>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The seven changed panels, their status, and what each one costs.</a:t>
            </a:r>
            <a:endParaRPr lang="en-US" sz="1100" dirty="0"/>
          </a:p>
        </p:txBody>
      </p:sp>
      <p:sp>
        <p:nvSpPr>
          <p:cNvPr id="12" name="Text 10"/>
          <p:cNvSpPr/>
          <p:nvPr/>
        </p:nvSpPr>
        <p:spPr>
          <a:xfrm>
            <a:off x="9692640" y="3547872"/>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14</a:t>
            </a:r>
            <a:endParaRPr lang="en-US" sz="1100" dirty="0"/>
          </a:p>
        </p:txBody>
      </p:sp>
      <p:sp>
        <p:nvSpPr>
          <p:cNvPr id="13" name="Text 11"/>
          <p:cNvSpPr/>
          <p:nvPr/>
        </p:nvSpPr>
        <p:spPr>
          <a:xfrm>
            <a:off x="640080" y="4279392"/>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C</a:t>
            </a:r>
            <a:endParaRPr lang="en-US" sz="2200" dirty="0"/>
          </a:p>
        </p:txBody>
      </p:sp>
      <p:sp>
        <p:nvSpPr>
          <p:cNvPr id="14" name="Text 12"/>
          <p:cNvSpPr/>
          <p:nvPr/>
        </p:nvSpPr>
        <p:spPr>
          <a:xfrm>
            <a:off x="1261872" y="4297680"/>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Estimation calibration</a:t>
            </a:r>
            <a:endParaRPr lang="en-US" sz="1400" dirty="0"/>
          </a:p>
        </p:txBody>
      </p:sp>
      <p:sp>
        <p:nvSpPr>
          <p:cNvPr id="15" name="Text 13"/>
          <p:cNvSpPr/>
          <p:nvPr/>
        </p:nvSpPr>
        <p:spPr>
          <a:xfrm>
            <a:off x="1261872" y="4581144"/>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Per-discipline multipliers, and why bimodal uncertainty is not wide uncertainty.</a:t>
            </a:r>
            <a:endParaRPr lang="en-US" sz="1100" dirty="0"/>
          </a:p>
        </p:txBody>
      </p:sp>
      <p:sp>
        <p:nvSpPr>
          <p:cNvPr id="16" name="Text 14"/>
          <p:cNvSpPr/>
          <p:nvPr/>
        </p:nvSpPr>
        <p:spPr>
          <a:xfrm>
            <a:off x="9692640" y="4297680"/>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15</a:t>
            </a:r>
            <a:endParaRPr lang="en-US" sz="1100" dirty="0"/>
          </a:p>
        </p:txBody>
      </p:sp>
      <p:sp>
        <p:nvSpPr>
          <p:cNvPr id="17" name="Text 15"/>
          <p:cNvSpPr/>
          <p:nvPr/>
        </p:nvSpPr>
        <p:spPr>
          <a:xfrm>
            <a:off x="640080" y="5029200"/>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D</a:t>
            </a:r>
            <a:endParaRPr lang="en-US" sz="2200" dirty="0"/>
          </a:p>
        </p:txBody>
      </p:sp>
      <p:sp>
        <p:nvSpPr>
          <p:cNvPr id="18" name="Text 16"/>
          <p:cNvSpPr/>
          <p:nvPr/>
        </p:nvSpPr>
        <p:spPr>
          <a:xfrm>
            <a:off x="1261872" y="5047488"/>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Robotics resource pass</a:t>
            </a:r>
            <a:endParaRPr lang="en-US" sz="1400" dirty="0"/>
          </a:p>
        </p:txBody>
      </p:sp>
      <p:sp>
        <p:nvSpPr>
          <p:cNvPr id="19" name="Text 17"/>
          <p:cNvSpPr/>
          <p:nvPr/>
        </p:nvSpPr>
        <p:spPr>
          <a:xfrm>
            <a:off x="1261872" y="5330952"/>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Five findings from laying the work out by resource instead of by person.</a:t>
            </a:r>
            <a:endParaRPr lang="en-US" sz="1100" dirty="0"/>
          </a:p>
        </p:txBody>
      </p:sp>
      <p:sp>
        <p:nvSpPr>
          <p:cNvPr id="20" name="Text 18"/>
          <p:cNvSpPr/>
          <p:nvPr/>
        </p:nvSpPr>
        <p:spPr>
          <a:xfrm>
            <a:off x="9692640" y="5047488"/>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16</a:t>
            </a:r>
            <a:endParaRPr lang="en-US" sz="1100" dirty="0"/>
          </a:p>
        </p:txBody>
      </p:sp>
      <p:sp>
        <p:nvSpPr>
          <p:cNvPr id="21" name="Text 19"/>
          <p:cNvSpPr/>
          <p:nvPr/>
        </p:nvSpPr>
        <p:spPr>
          <a:xfrm>
            <a:off x="640080" y="5779008"/>
            <a:ext cx="475488" cy="384048"/>
          </a:xfrm>
          <a:prstGeom prst="rect">
            <a:avLst/>
          </a:prstGeom>
          <a:noFill/>
          <a:ln/>
        </p:spPr>
        <p:txBody>
          <a:bodyPr wrap="square" lIns="0" tIns="0" rIns="0" bIns="0" rtlCol="0" anchor="ctr"/>
          <a:lstStyle/>
          <a:p>
            <a:pPr marL="0" indent="0">
              <a:buNone/>
            </a:pPr>
            <a:r>
              <a:rPr lang="en-US" sz="2200" b="1" dirty="0">
                <a:solidFill>
                  <a:srgbClr val="B8621B"/>
                </a:solidFill>
                <a:latin typeface="Cambria" pitchFamily="34" charset="0"/>
                <a:ea typeface="Cambria" pitchFamily="34" charset="-122"/>
                <a:cs typeface="Cambria" pitchFamily="34" charset="-120"/>
              </a:rPr>
              <a:t>E</a:t>
            </a:r>
            <a:endParaRPr lang="en-US" sz="2200" dirty="0"/>
          </a:p>
        </p:txBody>
      </p:sp>
      <p:sp>
        <p:nvSpPr>
          <p:cNvPr id="22" name="Text 20"/>
          <p:cNvSpPr/>
          <p:nvPr/>
        </p:nvSpPr>
        <p:spPr>
          <a:xfrm>
            <a:off x="1261872" y="5797296"/>
            <a:ext cx="768096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What is wrong with the event stream</a:t>
            </a:r>
            <a:endParaRPr lang="en-US" sz="1400" dirty="0"/>
          </a:p>
        </p:txBody>
      </p:sp>
      <p:sp>
        <p:nvSpPr>
          <p:cNvPr id="23" name="Text 21"/>
          <p:cNvSpPr/>
          <p:nvPr/>
        </p:nvSpPr>
        <p:spPr>
          <a:xfrm>
            <a:off x="1261872" y="6080760"/>
            <a:ext cx="8595360" cy="274320"/>
          </a:xfrm>
          <a:prstGeom prst="rect">
            <a:avLst/>
          </a:prstGeom>
          <a:noFill/>
          <a:ln/>
        </p:spPr>
        <p:txBody>
          <a:bodyPr wrap="square" lIns="0" tIns="0" rIns="0" bIns="0" rtlCol="0" anchor="ctr"/>
          <a:lstStyle/>
          <a:p>
            <a:pPr marL="0" indent="0">
              <a:buNone/>
            </a:pPr>
            <a:r>
              <a:rPr lang="en-US" sz="1100" dirty="0">
                <a:solidFill>
                  <a:srgbClr val="8892A0"/>
                </a:solidFill>
                <a:latin typeface="Calibri" pitchFamily="34" charset="0"/>
                <a:ea typeface="Calibri" pitchFamily="34" charset="-122"/>
                <a:cs typeface="Calibri" pitchFamily="34" charset="-120"/>
              </a:rPr>
              <a:t>The five defects behind the firmware schema contract.</a:t>
            </a:r>
            <a:endParaRPr lang="en-US" sz="1100" dirty="0"/>
          </a:p>
        </p:txBody>
      </p:sp>
      <p:sp>
        <p:nvSpPr>
          <p:cNvPr id="24" name="Text 22"/>
          <p:cNvSpPr/>
          <p:nvPr/>
        </p:nvSpPr>
        <p:spPr>
          <a:xfrm>
            <a:off x="9692640" y="5797296"/>
            <a:ext cx="1828800" cy="274320"/>
          </a:xfrm>
          <a:prstGeom prst="rect">
            <a:avLst/>
          </a:prstGeom>
          <a:noFill/>
          <a:ln/>
        </p:spPr>
        <p:txBody>
          <a:bodyPr wrap="square" lIns="0" tIns="0" rIns="0" bIns="0" rtlCol="0" anchor="ctr"/>
          <a:lstStyle/>
          <a:p>
            <a:pPr marL="0" indent="0" algn="r">
              <a:buNone/>
            </a:pPr>
            <a:r>
              <a:rPr lang="en-US" sz="1100" dirty="0">
                <a:solidFill>
                  <a:srgbClr val="6E7781"/>
                </a:solidFill>
                <a:latin typeface="Calibri" pitchFamily="34" charset="0"/>
                <a:ea typeface="Calibri" pitchFamily="34" charset="-122"/>
                <a:cs typeface="Calibri" pitchFamily="34" charset="-120"/>
              </a:rPr>
              <a:t>slide 17</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Capacity arithmetic</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Nominal 24 person-weeks. Actual 23.9 after the calendar, against 35.6 of demand.</a:t>
            </a:r>
            <a:endParaRPr lang="en-US" sz="1300" dirty="0"/>
          </a:p>
        </p:txBody>
      </p:sp>
      <p:sp>
        <p:nvSpPr>
          <p:cNvPr id="6" name="Text 4"/>
          <p:cNvSpPr/>
          <p:nvPr/>
        </p:nvSpPr>
        <p:spPr>
          <a:xfrm>
            <a:off x="640080" y="1371600"/>
            <a:ext cx="402336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Person</a:t>
            </a:r>
            <a:endParaRPr lang="en-US" sz="1050" dirty="0"/>
          </a:p>
        </p:txBody>
      </p:sp>
      <p:sp>
        <p:nvSpPr>
          <p:cNvPr id="7" name="Text 5"/>
          <p:cNvSpPr/>
          <p:nvPr/>
        </p:nvSpPr>
        <p:spPr>
          <a:xfrm>
            <a:off x="4663440" y="1371600"/>
            <a:ext cx="137160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Nominal</a:t>
            </a:r>
            <a:endParaRPr lang="en-US" sz="1050" dirty="0"/>
          </a:p>
        </p:txBody>
      </p:sp>
      <p:sp>
        <p:nvSpPr>
          <p:cNvPr id="8" name="Text 6"/>
          <p:cNvSpPr/>
          <p:nvPr/>
        </p:nvSpPr>
        <p:spPr>
          <a:xfrm>
            <a:off x="60350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Bank hol</a:t>
            </a:r>
            <a:endParaRPr lang="en-US" sz="1050" dirty="0"/>
          </a:p>
        </p:txBody>
      </p:sp>
      <p:sp>
        <p:nvSpPr>
          <p:cNvPr id="9" name="Text 7"/>
          <p:cNvSpPr/>
          <p:nvPr/>
        </p:nvSpPr>
        <p:spPr>
          <a:xfrm>
            <a:off x="74066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Offsite</a:t>
            </a:r>
            <a:endParaRPr lang="en-US" sz="1050" dirty="0"/>
          </a:p>
        </p:txBody>
      </p:sp>
      <p:sp>
        <p:nvSpPr>
          <p:cNvPr id="10" name="Text 8"/>
          <p:cNvSpPr/>
          <p:nvPr/>
        </p:nvSpPr>
        <p:spPr>
          <a:xfrm>
            <a:off x="87782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Away</a:t>
            </a:r>
            <a:endParaRPr lang="en-US" sz="1050" dirty="0"/>
          </a:p>
        </p:txBody>
      </p:sp>
      <p:sp>
        <p:nvSpPr>
          <p:cNvPr id="11" name="Text 9"/>
          <p:cNvSpPr/>
          <p:nvPr/>
        </p:nvSpPr>
        <p:spPr>
          <a:xfrm>
            <a:off x="10149840" y="1371600"/>
            <a:ext cx="13716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Available</a:t>
            </a:r>
            <a:endParaRPr lang="en-US" sz="1050" dirty="0"/>
          </a:p>
        </p:txBody>
      </p:sp>
      <p:sp>
        <p:nvSpPr>
          <p:cNvPr id="12" name="Shape 10"/>
          <p:cNvSpPr/>
          <p:nvPr/>
        </p:nvSpPr>
        <p:spPr>
          <a:xfrm>
            <a:off x="640080" y="1700784"/>
            <a:ext cx="10881360" cy="13716"/>
          </a:xfrm>
          <a:prstGeom prst="rect">
            <a:avLst/>
          </a:prstGeom>
          <a:solidFill>
            <a:srgbClr val="D8D2C9"/>
          </a:solidFill>
          <a:ln/>
        </p:spPr>
        <p:txBody>
          <a:bodyPr/>
          <a:lstStyle/>
          <a:p>
            <a:endParaRPr lang="en-US"/>
          </a:p>
        </p:txBody>
      </p:sp>
      <p:sp>
        <p:nvSpPr>
          <p:cNvPr id="13" name="Text 11"/>
          <p:cNvSpPr/>
          <p:nvPr/>
        </p:nvSpPr>
        <p:spPr>
          <a:xfrm>
            <a:off x="640080" y="1810512"/>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Alex</a:t>
            </a:r>
            <a:endParaRPr lang="en-US" sz="1150" dirty="0"/>
          </a:p>
        </p:txBody>
      </p:sp>
      <p:sp>
        <p:nvSpPr>
          <p:cNvPr id="14" name="Text 12"/>
          <p:cNvSpPr/>
          <p:nvPr/>
        </p:nvSpPr>
        <p:spPr>
          <a:xfrm>
            <a:off x="4663440" y="1810512"/>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15" name="Text 13"/>
          <p:cNvSpPr/>
          <p:nvPr/>
        </p:nvSpPr>
        <p:spPr>
          <a:xfrm>
            <a:off x="60350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16" name="Text 14"/>
          <p:cNvSpPr/>
          <p:nvPr/>
        </p:nvSpPr>
        <p:spPr>
          <a:xfrm>
            <a:off x="74066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17" name="Text 15"/>
          <p:cNvSpPr/>
          <p:nvPr/>
        </p:nvSpPr>
        <p:spPr>
          <a:xfrm>
            <a:off x="87782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a:t>
            </a:r>
            <a:endParaRPr lang="en-US" sz="1150" dirty="0"/>
          </a:p>
        </p:txBody>
      </p:sp>
      <p:sp>
        <p:nvSpPr>
          <p:cNvPr id="18" name="Text 16"/>
          <p:cNvSpPr/>
          <p:nvPr/>
        </p:nvSpPr>
        <p:spPr>
          <a:xfrm>
            <a:off x="10149840" y="1810512"/>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7.4</a:t>
            </a:r>
            <a:endParaRPr lang="en-US" sz="1150" dirty="0"/>
          </a:p>
        </p:txBody>
      </p:sp>
      <p:sp>
        <p:nvSpPr>
          <p:cNvPr id="19" name="Text 17"/>
          <p:cNvSpPr/>
          <p:nvPr/>
        </p:nvSpPr>
        <p:spPr>
          <a:xfrm>
            <a:off x="640080" y="2194560"/>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Sam</a:t>
            </a:r>
            <a:endParaRPr lang="en-US" sz="1150" dirty="0"/>
          </a:p>
        </p:txBody>
      </p:sp>
      <p:sp>
        <p:nvSpPr>
          <p:cNvPr id="20" name="Text 18"/>
          <p:cNvSpPr/>
          <p:nvPr/>
        </p:nvSpPr>
        <p:spPr>
          <a:xfrm>
            <a:off x="4663440" y="2194560"/>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21" name="Text 19"/>
          <p:cNvSpPr/>
          <p:nvPr/>
        </p:nvSpPr>
        <p:spPr>
          <a:xfrm>
            <a:off x="60350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22" name="Text 20"/>
          <p:cNvSpPr/>
          <p:nvPr/>
        </p:nvSpPr>
        <p:spPr>
          <a:xfrm>
            <a:off x="74066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23" name="Text 21"/>
          <p:cNvSpPr/>
          <p:nvPr/>
        </p:nvSpPr>
        <p:spPr>
          <a:xfrm>
            <a:off x="87782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a:t>
            </a:r>
            <a:endParaRPr lang="en-US" sz="1150" dirty="0"/>
          </a:p>
        </p:txBody>
      </p:sp>
      <p:sp>
        <p:nvSpPr>
          <p:cNvPr id="24" name="Text 22"/>
          <p:cNvSpPr/>
          <p:nvPr/>
        </p:nvSpPr>
        <p:spPr>
          <a:xfrm>
            <a:off x="10149840" y="2194560"/>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7.4</a:t>
            </a:r>
            <a:endParaRPr lang="en-US" sz="1150" dirty="0"/>
          </a:p>
        </p:txBody>
      </p:sp>
      <p:sp>
        <p:nvSpPr>
          <p:cNvPr id="25" name="Text 23"/>
          <p:cNvSpPr/>
          <p:nvPr/>
        </p:nvSpPr>
        <p:spPr>
          <a:xfrm>
            <a:off x="640080" y="2578608"/>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Jo</a:t>
            </a:r>
            <a:endParaRPr lang="en-US" sz="1150" dirty="0"/>
          </a:p>
        </p:txBody>
      </p:sp>
      <p:sp>
        <p:nvSpPr>
          <p:cNvPr id="26" name="Text 24"/>
          <p:cNvSpPr/>
          <p:nvPr/>
        </p:nvSpPr>
        <p:spPr>
          <a:xfrm>
            <a:off x="4663440" y="2578608"/>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27" name="Text 25"/>
          <p:cNvSpPr/>
          <p:nvPr/>
        </p:nvSpPr>
        <p:spPr>
          <a:xfrm>
            <a:off x="60350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28" name="Text 26"/>
          <p:cNvSpPr/>
          <p:nvPr/>
        </p:nvSpPr>
        <p:spPr>
          <a:xfrm>
            <a:off x="74066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29" name="Text 27"/>
          <p:cNvSpPr/>
          <p:nvPr/>
        </p:nvSpPr>
        <p:spPr>
          <a:xfrm>
            <a:off x="87782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−2.0</a:t>
            </a:r>
            <a:endParaRPr lang="en-US" sz="1150" dirty="0"/>
          </a:p>
        </p:txBody>
      </p:sp>
      <p:sp>
        <p:nvSpPr>
          <p:cNvPr id="30" name="Text 28"/>
          <p:cNvSpPr/>
          <p:nvPr/>
        </p:nvSpPr>
        <p:spPr>
          <a:xfrm>
            <a:off x="10149840" y="2578608"/>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5.4</a:t>
            </a:r>
            <a:endParaRPr lang="en-US" sz="1150" dirty="0"/>
          </a:p>
        </p:txBody>
      </p:sp>
      <p:sp>
        <p:nvSpPr>
          <p:cNvPr id="31" name="Text 29"/>
          <p:cNvSpPr/>
          <p:nvPr/>
        </p:nvSpPr>
        <p:spPr>
          <a:xfrm>
            <a:off x="640080" y="2962656"/>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Lead (50% to leading)</a:t>
            </a:r>
            <a:endParaRPr lang="en-US" sz="1150" dirty="0"/>
          </a:p>
        </p:txBody>
      </p:sp>
      <p:sp>
        <p:nvSpPr>
          <p:cNvPr id="32" name="Text 30"/>
          <p:cNvSpPr/>
          <p:nvPr/>
        </p:nvSpPr>
        <p:spPr>
          <a:xfrm>
            <a:off x="4663440" y="2962656"/>
            <a:ext cx="1371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8.0</a:t>
            </a:r>
            <a:endParaRPr lang="en-US" sz="1150" dirty="0"/>
          </a:p>
        </p:txBody>
      </p:sp>
      <p:sp>
        <p:nvSpPr>
          <p:cNvPr id="33" name="Text 31"/>
          <p:cNvSpPr/>
          <p:nvPr/>
        </p:nvSpPr>
        <p:spPr>
          <a:xfrm>
            <a:off x="60350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−0.2</a:t>
            </a:r>
            <a:endParaRPr lang="en-US" sz="1150" dirty="0"/>
          </a:p>
        </p:txBody>
      </p:sp>
      <p:sp>
        <p:nvSpPr>
          <p:cNvPr id="34" name="Text 32"/>
          <p:cNvSpPr/>
          <p:nvPr/>
        </p:nvSpPr>
        <p:spPr>
          <a:xfrm>
            <a:off x="74066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−0.4</a:t>
            </a:r>
            <a:endParaRPr lang="en-US" sz="1150" dirty="0"/>
          </a:p>
        </p:txBody>
      </p:sp>
      <p:sp>
        <p:nvSpPr>
          <p:cNvPr id="35" name="Text 33"/>
          <p:cNvSpPr/>
          <p:nvPr/>
        </p:nvSpPr>
        <p:spPr>
          <a:xfrm>
            <a:off x="87782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a:t>
            </a:r>
            <a:endParaRPr lang="en-US" sz="1150" dirty="0"/>
          </a:p>
        </p:txBody>
      </p:sp>
      <p:sp>
        <p:nvSpPr>
          <p:cNvPr id="36" name="Text 34"/>
          <p:cNvSpPr/>
          <p:nvPr/>
        </p:nvSpPr>
        <p:spPr>
          <a:xfrm>
            <a:off x="10149840" y="2962656"/>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3.7</a:t>
            </a:r>
            <a:endParaRPr lang="en-US" sz="1150" dirty="0"/>
          </a:p>
        </p:txBody>
      </p:sp>
      <p:sp>
        <p:nvSpPr>
          <p:cNvPr id="37" name="Text 35"/>
          <p:cNvSpPr/>
          <p:nvPr/>
        </p:nvSpPr>
        <p:spPr>
          <a:xfrm>
            <a:off x="640080" y="3346704"/>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Total</a:t>
            </a:r>
            <a:endParaRPr lang="en-US" sz="1150" dirty="0"/>
          </a:p>
        </p:txBody>
      </p:sp>
      <p:sp>
        <p:nvSpPr>
          <p:cNvPr id="38" name="Text 36"/>
          <p:cNvSpPr/>
          <p:nvPr/>
        </p:nvSpPr>
        <p:spPr>
          <a:xfrm>
            <a:off x="4663440" y="3346704"/>
            <a:ext cx="1371600" cy="329184"/>
          </a:xfrm>
          <a:prstGeom prst="rect">
            <a:avLst/>
          </a:prstGeom>
          <a:noFill/>
          <a:ln/>
        </p:spPr>
        <p:txBody>
          <a:bodyPr wrap="square" lIns="0" tIns="0" rIns="0" bIns="0" rtlCol="0" anchor="ctr"/>
          <a:lstStyle/>
          <a:p>
            <a:pPr marL="0" indent="0" algn="l">
              <a:buNone/>
            </a:pPr>
            <a:endParaRPr lang="en-US" sz="1150" dirty="0"/>
          </a:p>
        </p:txBody>
      </p:sp>
      <p:sp>
        <p:nvSpPr>
          <p:cNvPr id="39" name="Text 37"/>
          <p:cNvSpPr/>
          <p:nvPr/>
        </p:nvSpPr>
        <p:spPr>
          <a:xfrm>
            <a:off x="6035040" y="3346704"/>
            <a:ext cx="1371600" cy="329184"/>
          </a:xfrm>
          <a:prstGeom prst="rect">
            <a:avLst/>
          </a:prstGeom>
          <a:noFill/>
          <a:ln/>
        </p:spPr>
        <p:txBody>
          <a:bodyPr wrap="square" lIns="0" tIns="0" rIns="0" bIns="0" rtlCol="0" anchor="ctr"/>
          <a:lstStyle/>
          <a:p>
            <a:pPr marL="0" indent="0" algn="r">
              <a:buNone/>
            </a:pPr>
            <a:endParaRPr lang="en-US" sz="1150" dirty="0"/>
          </a:p>
        </p:txBody>
      </p:sp>
      <p:sp>
        <p:nvSpPr>
          <p:cNvPr id="40" name="Text 38"/>
          <p:cNvSpPr/>
          <p:nvPr/>
        </p:nvSpPr>
        <p:spPr>
          <a:xfrm>
            <a:off x="7406640" y="3346704"/>
            <a:ext cx="1371600" cy="329184"/>
          </a:xfrm>
          <a:prstGeom prst="rect">
            <a:avLst/>
          </a:prstGeom>
          <a:noFill/>
          <a:ln/>
        </p:spPr>
        <p:txBody>
          <a:bodyPr wrap="square" lIns="0" tIns="0" rIns="0" bIns="0" rtlCol="0" anchor="ctr"/>
          <a:lstStyle/>
          <a:p>
            <a:pPr marL="0" indent="0" algn="r">
              <a:buNone/>
            </a:pPr>
            <a:endParaRPr lang="en-US" sz="1150" dirty="0"/>
          </a:p>
        </p:txBody>
      </p:sp>
      <p:sp>
        <p:nvSpPr>
          <p:cNvPr id="41" name="Text 39"/>
          <p:cNvSpPr/>
          <p:nvPr/>
        </p:nvSpPr>
        <p:spPr>
          <a:xfrm>
            <a:off x="8778240" y="3346704"/>
            <a:ext cx="1371600" cy="329184"/>
          </a:xfrm>
          <a:prstGeom prst="rect">
            <a:avLst/>
          </a:prstGeom>
          <a:noFill/>
          <a:ln/>
        </p:spPr>
        <p:txBody>
          <a:bodyPr wrap="square" lIns="0" tIns="0" rIns="0" bIns="0" rtlCol="0" anchor="ctr"/>
          <a:lstStyle/>
          <a:p>
            <a:pPr marL="0" indent="0" algn="r">
              <a:buNone/>
            </a:pPr>
            <a:endParaRPr lang="en-US" sz="1150" dirty="0"/>
          </a:p>
        </p:txBody>
      </p:sp>
      <p:sp>
        <p:nvSpPr>
          <p:cNvPr id="42" name="Text 40"/>
          <p:cNvSpPr/>
          <p:nvPr/>
        </p:nvSpPr>
        <p:spPr>
          <a:xfrm>
            <a:off x="10149840" y="3346704"/>
            <a:ext cx="13716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23.9</a:t>
            </a:r>
            <a:endParaRPr lang="en-US" sz="1150" dirty="0"/>
          </a:p>
        </p:txBody>
      </p:sp>
      <p:sp>
        <p:nvSpPr>
          <p:cNvPr id="43" name="Text 41"/>
          <p:cNvSpPr/>
          <p:nvPr/>
        </p:nvSpPr>
        <p:spPr>
          <a:xfrm>
            <a:off x="640080" y="4023360"/>
            <a:ext cx="10881360" cy="548640"/>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Robotics: 2 people, Chris at 0.8, minus ~1 day/week live cell support ≈ 1.6 FTE effective. Their constraint is the single spare controller and the live cell, not headcount — see appendix 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What r3 → r4 actually contains</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Seven of twenty panels changed. All on level 1. Recoverability differs completely.</a:t>
            </a:r>
            <a:endParaRPr lang="en-US" sz="1300" dirty="0"/>
          </a:p>
        </p:txBody>
      </p:sp>
      <p:sp>
        <p:nvSpPr>
          <p:cNvPr id="6" name="Text 4"/>
          <p:cNvSpPr/>
          <p:nvPr/>
        </p:nvSpPr>
        <p:spPr>
          <a:xfrm>
            <a:off x="640080" y="1371600"/>
            <a:ext cx="173736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Panel</a:t>
            </a:r>
            <a:endParaRPr lang="en-US" sz="1050" dirty="0"/>
          </a:p>
        </p:txBody>
      </p:sp>
      <p:sp>
        <p:nvSpPr>
          <p:cNvPr id="7" name="Text 5"/>
          <p:cNvSpPr/>
          <p:nvPr/>
        </p:nvSpPr>
        <p:spPr>
          <a:xfrm>
            <a:off x="2377440" y="1371600"/>
            <a:ext cx="365760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Change</a:t>
            </a:r>
            <a:endParaRPr lang="en-US" sz="1050" dirty="0"/>
          </a:p>
        </p:txBody>
      </p:sp>
      <p:sp>
        <p:nvSpPr>
          <p:cNvPr id="8" name="Text 6"/>
          <p:cNvSpPr/>
          <p:nvPr/>
        </p:nvSpPr>
        <p:spPr>
          <a:xfrm>
            <a:off x="6035040" y="1371600"/>
            <a:ext cx="18288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Status</a:t>
            </a:r>
            <a:endParaRPr lang="en-US" sz="1050" dirty="0"/>
          </a:p>
        </p:txBody>
      </p:sp>
      <p:sp>
        <p:nvSpPr>
          <p:cNvPr id="9" name="Text 7"/>
          <p:cNvSpPr/>
          <p:nvPr/>
        </p:nvSpPr>
        <p:spPr>
          <a:xfrm>
            <a:off x="7863840" y="1371600"/>
            <a:ext cx="219456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Class</a:t>
            </a:r>
            <a:endParaRPr lang="en-US" sz="1050" dirty="0"/>
          </a:p>
        </p:txBody>
      </p:sp>
      <p:sp>
        <p:nvSpPr>
          <p:cNvPr id="10" name="Text 8"/>
          <p:cNvSpPr/>
          <p:nvPr/>
        </p:nvSpPr>
        <p:spPr>
          <a:xfrm>
            <a:off x="10058400" y="1371600"/>
            <a:ext cx="146304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Cost</a:t>
            </a:r>
            <a:endParaRPr lang="en-US" sz="1050" dirty="0"/>
          </a:p>
        </p:txBody>
      </p:sp>
      <p:sp>
        <p:nvSpPr>
          <p:cNvPr id="11" name="Shape 9"/>
          <p:cNvSpPr/>
          <p:nvPr/>
        </p:nvSpPr>
        <p:spPr>
          <a:xfrm>
            <a:off x="640080" y="1700784"/>
            <a:ext cx="10881360" cy="13716"/>
          </a:xfrm>
          <a:prstGeom prst="rect">
            <a:avLst/>
          </a:prstGeom>
          <a:solidFill>
            <a:srgbClr val="D8D2C9"/>
          </a:solidFill>
          <a:ln/>
        </p:spPr>
        <p:txBody>
          <a:bodyPr/>
          <a:lstStyle/>
          <a:p>
            <a:endParaRPr lang="en-US"/>
          </a:p>
        </p:txBody>
      </p:sp>
      <p:sp>
        <p:nvSpPr>
          <p:cNvPr id="12" name="Text 10"/>
          <p:cNvSpPr/>
          <p:nvPr/>
        </p:nvSpPr>
        <p:spPr>
          <a:xfrm>
            <a:off x="640080" y="1810512"/>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EW-L1-N1</a:t>
            </a:r>
            <a:endParaRPr lang="en-US" sz="1150" dirty="0"/>
          </a:p>
        </p:txBody>
      </p:sp>
      <p:sp>
        <p:nvSpPr>
          <p:cNvPr id="13" name="Text 11"/>
          <p:cNvSpPr/>
          <p:nvPr/>
        </p:nvSpPr>
        <p:spPr>
          <a:xfrm>
            <a:off x="2377440" y="1810512"/>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opening x 1200→1800</a:t>
            </a:r>
            <a:endParaRPr lang="en-US" sz="1150" dirty="0"/>
          </a:p>
        </p:txBody>
      </p:sp>
      <p:sp>
        <p:nvSpPr>
          <p:cNvPr id="14" name="Text 12"/>
          <p:cNvSpPr/>
          <p:nvPr/>
        </p:nvSpPr>
        <p:spPr>
          <a:xfrm>
            <a:off x="6035040" y="1810512"/>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installed</a:t>
            </a:r>
            <a:endParaRPr lang="en-US" sz="1150" dirty="0"/>
          </a:p>
        </p:txBody>
      </p:sp>
      <p:sp>
        <p:nvSpPr>
          <p:cNvPr id="15" name="Text 13"/>
          <p:cNvSpPr/>
          <p:nvPr/>
        </p:nvSpPr>
        <p:spPr>
          <a:xfrm>
            <a:off x="7863840" y="1810512"/>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escalate</a:t>
            </a:r>
            <a:endParaRPr lang="en-US" sz="1150" dirty="0"/>
          </a:p>
        </p:txBody>
      </p:sp>
      <p:sp>
        <p:nvSpPr>
          <p:cNvPr id="16" name="Text 14"/>
          <p:cNvSpPr/>
          <p:nvPr/>
        </p:nvSpPr>
        <p:spPr>
          <a:xfrm>
            <a:off x="10058400" y="1810512"/>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TBC</a:t>
            </a:r>
            <a:endParaRPr lang="en-US" sz="1150" dirty="0"/>
          </a:p>
        </p:txBody>
      </p:sp>
      <p:sp>
        <p:nvSpPr>
          <p:cNvPr id="17" name="Text 15"/>
          <p:cNvSpPr/>
          <p:nvPr/>
        </p:nvSpPr>
        <p:spPr>
          <a:xfrm>
            <a:off x="640080" y="2194560"/>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EW-L1-E1</a:t>
            </a:r>
            <a:endParaRPr lang="en-US" sz="1150" dirty="0"/>
          </a:p>
        </p:txBody>
      </p:sp>
      <p:sp>
        <p:nvSpPr>
          <p:cNvPr id="18" name="Text 16"/>
          <p:cNvSpPr/>
          <p:nvPr/>
        </p:nvSpPr>
        <p:spPr>
          <a:xfrm>
            <a:off x="2377440" y="2194560"/>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opening x 1800→2400</a:t>
            </a:r>
            <a:endParaRPr lang="en-US" sz="1150" dirty="0"/>
          </a:p>
        </p:txBody>
      </p:sp>
      <p:sp>
        <p:nvSpPr>
          <p:cNvPr id="19" name="Text 17"/>
          <p:cNvSpPr/>
          <p:nvPr/>
        </p:nvSpPr>
        <p:spPr>
          <a:xfrm>
            <a:off x="6035040" y="2194560"/>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20" name="Text 18"/>
          <p:cNvSpPr/>
          <p:nvPr/>
        </p:nvSpPr>
        <p:spPr>
          <a:xfrm>
            <a:off x="7863840" y="2194560"/>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a:t>
            </a:r>
            <a:endParaRPr lang="en-US" sz="1150" dirty="0"/>
          </a:p>
        </p:txBody>
      </p:sp>
      <p:sp>
        <p:nvSpPr>
          <p:cNvPr id="21" name="Text 19"/>
          <p:cNvSpPr/>
          <p:nvPr/>
        </p:nvSpPr>
        <p:spPr>
          <a:xfrm>
            <a:off x="10058400" y="2194560"/>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22" name="Text 20"/>
          <p:cNvSpPr/>
          <p:nvPr/>
        </p:nvSpPr>
        <p:spPr>
          <a:xfrm>
            <a:off x="640080" y="2578608"/>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EW-L1-W1</a:t>
            </a:r>
            <a:endParaRPr lang="en-US" sz="1150" dirty="0"/>
          </a:p>
        </p:txBody>
      </p:sp>
      <p:sp>
        <p:nvSpPr>
          <p:cNvPr id="23" name="Text 21"/>
          <p:cNvSpPr/>
          <p:nvPr/>
        </p:nvSpPr>
        <p:spPr>
          <a:xfrm>
            <a:off x="2377440" y="2578608"/>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width 4800→4200</a:t>
            </a:r>
            <a:endParaRPr lang="en-US" sz="1150" dirty="0"/>
          </a:p>
        </p:txBody>
      </p:sp>
      <p:sp>
        <p:nvSpPr>
          <p:cNvPr id="24" name="Text 22"/>
          <p:cNvSpPr/>
          <p:nvPr/>
        </p:nvSpPr>
        <p:spPr>
          <a:xfrm>
            <a:off x="6035040" y="2578608"/>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25" name="Text 23"/>
          <p:cNvSpPr/>
          <p:nvPr/>
        </p:nvSpPr>
        <p:spPr>
          <a:xfrm>
            <a:off x="7863840" y="2578608"/>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a:t>
            </a:r>
            <a:endParaRPr lang="en-US" sz="1150" dirty="0"/>
          </a:p>
        </p:txBody>
      </p:sp>
      <p:sp>
        <p:nvSpPr>
          <p:cNvPr id="26" name="Text 24"/>
          <p:cNvSpPr/>
          <p:nvPr/>
        </p:nvSpPr>
        <p:spPr>
          <a:xfrm>
            <a:off x="10058400" y="2578608"/>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27" name="Text 25"/>
          <p:cNvSpPr/>
          <p:nvPr/>
        </p:nvSpPr>
        <p:spPr>
          <a:xfrm>
            <a:off x="640080" y="2962656"/>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IW-L1-01</a:t>
            </a:r>
            <a:endParaRPr lang="en-US" sz="1150" dirty="0"/>
          </a:p>
        </p:txBody>
      </p:sp>
      <p:sp>
        <p:nvSpPr>
          <p:cNvPr id="28" name="Text 26"/>
          <p:cNvSpPr/>
          <p:nvPr/>
        </p:nvSpPr>
        <p:spPr>
          <a:xfrm>
            <a:off x="2377440" y="2962656"/>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height 2700→2750, weight unchanged</a:t>
            </a:r>
            <a:endParaRPr lang="en-US" sz="1150" dirty="0"/>
          </a:p>
        </p:txBody>
      </p:sp>
      <p:sp>
        <p:nvSpPr>
          <p:cNvPr id="29" name="Text 27"/>
          <p:cNvSpPr/>
          <p:nvPr/>
        </p:nvSpPr>
        <p:spPr>
          <a:xfrm>
            <a:off x="6035040" y="2962656"/>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30" name="Text 28"/>
          <p:cNvSpPr/>
          <p:nvPr/>
        </p:nvSpPr>
        <p:spPr>
          <a:xfrm>
            <a:off x="7863840" y="2962656"/>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 + suspect</a:t>
            </a:r>
            <a:endParaRPr lang="en-US" sz="1150" dirty="0"/>
          </a:p>
        </p:txBody>
      </p:sp>
      <p:sp>
        <p:nvSpPr>
          <p:cNvPr id="31" name="Text 29"/>
          <p:cNvSpPr/>
          <p:nvPr/>
        </p:nvSpPr>
        <p:spPr>
          <a:xfrm>
            <a:off x="10058400" y="2962656"/>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32" name="Text 30"/>
          <p:cNvSpPr/>
          <p:nvPr/>
        </p:nvSpPr>
        <p:spPr>
          <a:xfrm>
            <a:off x="640080" y="3346704"/>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FC-01</a:t>
            </a:r>
            <a:endParaRPr lang="en-US" sz="1150" dirty="0"/>
          </a:p>
        </p:txBody>
      </p:sp>
      <p:sp>
        <p:nvSpPr>
          <p:cNvPr id="33" name="Text 31"/>
          <p:cNvSpPr/>
          <p:nvPr/>
        </p:nvSpPr>
        <p:spPr>
          <a:xfrm>
            <a:off x="2377440" y="3346704"/>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span 4800→4200</a:t>
            </a:r>
            <a:endParaRPr lang="en-US" sz="1150" dirty="0"/>
          </a:p>
        </p:txBody>
      </p:sp>
      <p:sp>
        <p:nvSpPr>
          <p:cNvPr id="34" name="Text 32"/>
          <p:cNvSpPr/>
          <p:nvPr/>
        </p:nvSpPr>
        <p:spPr>
          <a:xfrm>
            <a:off x="6035040" y="3346704"/>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manufactured</a:t>
            </a:r>
            <a:endParaRPr lang="en-US" sz="1150" dirty="0"/>
          </a:p>
        </p:txBody>
      </p:sp>
      <p:sp>
        <p:nvSpPr>
          <p:cNvPr id="35" name="Text 33"/>
          <p:cNvSpPr/>
          <p:nvPr/>
        </p:nvSpPr>
        <p:spPr>
          <a:xfrm>
            <a:off x="7863840" y="3346704"/>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remake</a:t>
            </a:r>
            <a:endParaRPr lang="en-US" sz="1150" dirty="0"/>
          </a:p>
        </p:txBody>
      </p:sp>
      <p:sp>
        <p:nvSpPr>
          <p:cNvPr id="36" name="Text 34"/>
          <p:cNvSpPr/>
          <p:nvPr/>
        </p:nvSpPr>
        <p:spPr>
          <a:xfrm>
            <a:off x="10058400" y="3346704"/>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£180</a:t>
            </a:r>
            <a:endParaRPr lang="en-US" sz="1150" dirty="0"/>
          </a:p>
        </p:txBody>
      </p:sp>
      <p:sp>
        <p:nvSpPr>
          <p:cNvPr id="37" name="Text 35"/>
          <p:cNvSpPr/>
          <p:nvPr/>
        </p:nvSpPr>
        <p:spPr>
          <a:xfrm>
            <a:off x="640080" y="3730752"/>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EW-L1-N2</a:t>
            </a:r>
            <a:endParaRPr lang="en-US" sz="1150" dirty="0"/>
          </a:p>
        </p:txBody>
      </p:sp>
      <p:sp>
        <p:nvSpPr>
          <p:cNvPr id="38" name="Text 36"/>
          <p:cNvSpPr/>
          <p:nvPr/>
        </p:nvSpPr>
        <p:spPr>
          <a:xfrm>
            <a:off x="2377440" y="3730752"/>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opening x 600→900</a:t>
            </a:r>
            <a:endParaRPr lang="en-US" sz="1150" dirty="0"/>
          </a:p>
        </p:txBody>
      </p:sp>
      <p:sp>
        <p:nvSpPr>
          <p:cNvPr id="39" name="Text 37"/>
          <p:cNvSpPr/>
          <p:nvPr/>
        </p:nvSpPr>
        <p:spPr>
          <a:xfrm>
            <a:off x="6035040" y="3730752"/>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planned</a:t>
            </a:r>
            <a:endParaRPr lang="en-US" sz="1150" dirty="0"/>
          </a:p>
        </p:txBody>
      </p:sp>
      <p:sp>
        <p:nvSpPr>
          <p:cNvPr id="40" name="Text 38"/>
          <p:cNvSpPr/>
          <p:nvPr/>
        </p:nvSpPr>
        <p:spPr>
          <a:xfrm>
            <a:off x="7863840" y="3730752"/>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requeue</a:t>
            </a:r>
            <a:endParaRPr lang="en-US" sz="1150" dirty="0"/>
          </a:p>
        </p:txBody>
      </p:sp>
      <p:sp>
        <p:nvSpPr>
          <p:cNvPr id="41" name="Text 39"/>
          <p:cNvSpPr/>
          <p:nvPr/>
        </p:nvSpPr>
        <p:spPr>
          <a:xfrm>
            <a:off x="10058400" y="3730752"/>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a:t>
            </a:r>
            <a:endParaRPr lang="en-US" sz="1150" dirty="0"/>
          </a:p>
        </p:txBody>
      </p:sp>
      <p:sp>
        <p:nvSpPr>
          <p:cNvPr id="42" name="Text 40"/>
          <p:cNvSpPr/>
          <p:nvPr/>
        </p:nvSpPr>
        <p:spPr>
          <a:xfrm>
            <a:off x="640080" y="4114800"/>
            <a:ext cx="1737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FC-02</a:t>
            </a:r>
            <a:endParaRPr lang="en-US" sz="1150" dirty="0"/>
          </a:p>
        </p:txBody>
      </p:sp>
      <p:sp>
        <p:nvSpPr>
          <p:cNvPr id="43" name="Text 41"/>
          <p:cNvSpPr/>
          <p:nvPr/>
        </p:nvSpPr>
        <p:spPr>
          <a:xfrm>
            <a:off x="2377440" y="4114800"/>
            <a:ext cx="365760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span 4800→4200</a:t>
            </a:r>
            <a:endParaRPr lang="en-US" sz="1150" dirty="0"/>
          </a:p>
        </p:txBody>
      </p:sp>
      <p:sp>
        <p:nvSpPr>
          <p:cNvPr id="44" name="Text 42"/>
          <p:cNvSpPr/>
          <p:nvPr/>
        </p:nvSpPr>
        <p:spPr>
          <a:xfrm>
            <a:off x="6035040" y="4114800"/>
            <a:ext cx="18288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planned</a:t>
            </a:r>
            <a:endParaRPr lang="en-US" sz="1150" dirty="0"/>
          </a:p>
        </p:txBody>
      </p:sp>
      <p:sp>
        <p:nvSpPr>
          <p:cNvPr id="45" name="Text 43"/>
          <p:cNvSpPr/>
          <p:nvPr/>
        </p:nvSpPr>
        <p:spPr>
          <a:xfrm>
            <a:off x="7863840" y="4114800"/>
            <a:ext cx="21945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requeue</a:t>
            </a:r>
            <a:endParaRPr lang="en-US" sz="1150" dirty="0"/>
          </a:p>
        </p:txBody>
      </p:sp>
      <p:sp>
        <p:nvSpPr>
          <p:cNvPr id="46" name="Text 44"/>
          <p:cNvSpPr/>
          <p:nvPr/>
        </p:nvSpPr>
        <p:spPr>
          <a:xfrm>
            <a:off x="10058400" y="4114800"/>
            <a:ext cx="146304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£0</a:t>
            </a:r>
            <a:endParaRPr lang="en-US" sz="1150" dirty="0"/>
          </a:p>
        </p:txBody>
      </p:sp>
      <p:sp>
        <p:nvSpPr>
          <p:cNvPr id="47" name="Text 45"/>
          <p:cNvSpPr/>
          <p:nvPr/>
        </p:nvSpPr>
        <p:spPr>
          <a:xfrm>
            <a:off x="640080" y="4480560"/>
            <a:ext cx="10881360" cy="65836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Alex's adjacency rule would flag all thirteen level-1 panels — £2,340 if acted on, against a baseline where ~12% of panels are currently wasted. EW-L2-W1 is still 4800 wide while the wall beneath it shrank to 4200: one real defect, which adjacency buries among twelve false ones.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Estimation calibration</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Twelve workstreams over two quarters. Ratio of actual to estimate.</a:t>
            </a:r>
            <a:endParaRPr lang="en-US" sz="1300" dirty="0"/>
          </a:p>
        </p:txBody>
      </p:sp>
      <p:sp>
        <p:nvSpPr>
          <p:cNvPr id="6" name="Text 4"/>
          <p:cNvSpPr/>
          <p:nvPr/>
        </p:nvSpPr>
        <p:spPr>
          <a:xfrm>
            <a:off x="640080" y="1371600"/>
            <a:ext cx="402336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Discipline</a:t>
            </a:r>
            <a:endParaRPr lang="en-US" sz="1050" dirty="0"/>
          </a:p>
        </p:txBody>
      </p:sp>
      <p:sp>
        <p:nvSpPr>
          <p:cNvPr id="7" name="Text 5"/>
          <p:cNvSpPr/>
          <p:nvPr/>
        </p:nvSpPr>
        <p:spPr>
          <a:xfrm>
            <a:off x="4663440" y="1371600"/>
            <a:ext cx="2377440" cy="310896"/>
          </a:xfrm>
          <a:prstGeom prst="rect">
            <a:avLst/>
          </a:prstGeom>
          <a:noFill/>
          <a:ln/>
        </p:spPr>
        <p:txBody>
          <a:bodyPr wrap="square" lIns="0" tIns="0" rIns="0" bIns="0" rtlCol="0" anchor="ctr"/>
          <a:lstStyle/>
          <a:p>
            <a:pPr marL="0" indent="0" algn="l">
              <a:buNone/>
            </a:pPr>
            <a:r>
              <a:rPr lang="en-US" sz="1050" b="1" kern="0" spc="100" dirty="0">
                <a:solidFill>
                  <a:srgbClr val="6E7781"/>
                </a:solidFill>
                <a:latin typeface="Calibri" pitchFamily="34" charset="0"/>
                <a:ea typeface="Calibri" pitchFamily="34" charset="-122"/>
                <a:cs typeface="Calibri" pitchFamily="34" charset="-120"/>
              </a:rPr>
              <a:t>Non-hardware</a:t>
            </a:r>
            <a:endParaRPr lang="en-US" sz="1050" dirty="0"/>
          </a:p>
        </p:txBody>
      </p:sp>
      <p:sp>
        <p:nvSpPr>
          <p:cNvPr id="8" name="Text 6"/>
          <p:cNvSpPr/>
          <p:nvPr/>
        </p:nvSpPr>
        <p:spPr>
          <a:xfrm>
            <a:off x="7040880" y="1371600"/>
            <a:ext cx="274320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Hardware-dependent</a:t>
            </a:r>
            <a:endParaRPr lang="en-US" sz="1050" dirty="0"/>
          </a:p>
        </p:txBody>
      </p:sp>
      <p:sp>
        <p:nvSpPr>
          <p:cNvPr id="9" name="Text 7"/>
          <p:cNvSpPr/>
          <p:nvPr/>
        </p:nvSpPr>
        <p:spPr>
          <a:xfrm>
            <a:off x="9784080" y="1371600"/>
            <a:ext cx="1737360" cy="310896"/>
          </a:xfrm>
          <a:prstGeom prst="rect">
            <a:avLst/>
          </a:prstGeom>
          <a:noFill/>
          <a:ln/>
        </p:spPr>
        <p:txBody>
          <a:bodyPr wrap="square" lIns="0" tIns="0" rIns="0" bIns="0" rtlCol="0" anchor="ctr"/>
          <a:lstStyle/>
          <a:p>
            <a:pPr marL="0" indent="0" algn="r">
              <a:buNone/>
            </a:pPr>
            <a:r>
              <a:rPr lang="en-US" sz="1050" b="1" kern="0" spc="100" dirty="0">
                <a:solidFill>
                  <a:srgbClr val="6E7781"/>
                </a:solidFill>
                <a:latin typeface="Calibri" pitchFamily="34" charset="0"/>
                <a:ea typeface="Calibri" pitchFamily="34" charset="-122"/>
                <a:cs typeface="Calibri" pitchFamily="34" charset="-120"/>
              </a:rPr>
              <a:t>Sample</a:t>
            </a:r>
            <a:endParaRPr lang="en-US" sz="1050" dirty="0"/>
          </a:p>
        </p:txBody>
      </p:sp>
      <p:sp>
        <p:nvSpPr>
          <p:cNvPr id="10" name="Shape 8"/>
          <p:cNvSpPr/>
          <p:nvPr/>
        </p:nvSpPr>
        <p:spPr>
          <a:xfrm>
            <a:off x="640080" y="1700784"/>
            <a:ext cx="10881360" cy="13716"/>
          </a:xfrm>
          <a:prstGeom prst="rect">
            <a:avLst/>
          </a:prstGeom>
          <a:solidFill>
            <a:srgbClr val="D8D2C9"/>
          </a:solidFill>
          <a:ln/>
        </p:spPr>
        <p:txBody>
          <a:bodyPr/>
          <a:lstStyle/>
          <a:p>
            <a:endParaRPr lang="en-US"/>
          </a:p>
        </p:txBody>
      </p:sp>
      <p:sp>
        <p:nvSpPr>
          <p:cNvPr id="11" name="Text 9"/>
          <p:cNvSpPr/>
          <p:nvPr/>
        </p:nvSpPr>
        <p:spPr>
          <a:xfrm>
            <a:off x="640080" y="1810512"/>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Solver (Alex)</a:t>
            </a:r>
            <a:endParaRPr lang="en-US" sz="1150" dirty="0"/>
          </a:p>
        </p:txBody>
      </p:sp>
      <p:sp>
        <p:nvSpPr>
          <p:cNvPr id="12" name="Text 10"/>
          <p:cNvSpPr/>
          <p:nvPr/>
        </p:nvSpPr>
        <p:spPr>
          <a:xfrm>
            <a:off x="4663440" y="1810512"/>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1.55×</a:t>
            </a:r>
            <a:endParaRPr lang="en-US" sz="1150" dirty="0"/>
          </a:p>
        </p:txBody>
      </p:sp>
      <p:sp>
        <p:nvSpPr>
          <p:cNvPr id="13" name="Text 11"/>
          <p:cNvSpPr/>
          <p:nvPr/>
        </p:nvSpPr>
        <p:spPr>
          <a:xfrm>
            <a:off x="7040880" y="1810512"/>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2.18×</a:t>
            </a:r>
            <a:endParaRPr lang="en-US" sz="1150" dirty="0"/>
          </a:p>
        </p:txBody>
      </p:sp>
      <p:sp>
        <p:nvSpPr>
          <p:cNvPr id="14" name="Text 12"/>
          <p:cNvSpPr/>
          <p:nvPr/>
        </p:nvSpPr>
        <p:spPr>
          <a:xfrm>
            <a:off x="9784080" y="1810512"/>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4 workstreams</a:t>
            </a:r>
            <a:endParaRPr lang="en-US" sz="1150" dirty="0"/>
          </a:p>
        </p:txBody>
      </p:sp>
      <p:sp>
        <p:nvSpPr>
          <p:cNvPr id="15" name="Text 13"/>
          <p:cNvSpPr/>
          <p:nvPr/>
        </p:nvSpPr>
        <p:spPr>
          <a:xfrm>
            <a:off x="640080" y="2194560"/>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Platform (Jo)</a:t>
            </a:r>
            <a:endParaRPr lang="en-US" sz="1150" dirty="0"/>
          </a:p>
        </p:txBody>
      </p:sp>
      <p:sp>
        <p:nvSpPr>
          <p:cNvPr id="16" name="Text 14"/>
          <p:cNvSpPr/>
          <p:nvPr/>
        </p:nvSpPr>
        <p:spPr>
          <a:xfrm>
            <a:off x="4663440" y="2194560"/>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1.51×</a:t>
            </a:r>
            <a:endParaRPr lang="en-US" sz="1150" dirty="0"/>
          </a:p>
        </p:txBody>
      </p:sp>
      <p:sp>
        <p:nvSpPr>
          <p:cNvPr id="17" name="Text 15"/>
          <p:cNvSpPr/>
          <p:nvPr/>
        </p:nvSpPr>
        <p:spPr>
          <a:xfrm>
            <a:off x="7040880" y="2194560"/>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2.10×</a:t>
            </a:r>
            <a:endParaRPr lang="en-US" sz="1150" dirty="0"/>
          </a:p>
        </p:txBody>
      </p:sp>
      <p:sp>
        <p:nvSpPr>
          <p:cNvPr id="18" name="Text 16"/>
          <p:cNvSpPr/>
          <p:nvPr/>
        </p:nvSpPr>
        <p:spPr>
          <a:xfrm>
            <a:off x="9784080" y="2194560"/>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5 workstreams</a:t>
            </a:r>
            <a:endParaRPr lang="en-US" sz="1150" dirty="0"/>
          </a:p>
        </p:txBody>
      </p:sp>
      <p:sp>
        <p:nvSpPr>
          <p:cNvPr id="19" name="Text 17"/>
          <p:cNvSpPr/>
          <p:nvPr/>
        </p:nvSpPr>
        <p:spPr>
          <a:xfrm>
            <a:off x="640080" y="2578608"/>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Frontend (Sam)</a:t>
            </a:r>
            <a:endParaRPr lang="en-US" sz="1150" dirty="0"/>
          </a:p>
        </p:txBody>
      </p:sp>
      <p:sp>
        <p:nvSpPr>
          <p:cNvPr id="20" name="Text 18"/>
          <p:cNvSpPr/>
          <p:nvPr/>
        </p:nvSpPr>
        <p:spPr>
          <a:xfrm>
            <a:off x="4663440" y="2578608"/>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1.14×</a:t>
            </a:r>
            <a:endParaRPr lang="en-US" sz="1150" dirty="0"/>
          </a:p>
        </p:txBody>
      </p:sp>
      <p:sp>
        <p:nvSpPr>
          <p:cNvPr id="21" name="Text 19"/>
          <p:cNvSpPr/>
          <p:nvPr/>
        </p:nvSpPr>
        <p:spPr>
          <a:xfrm>
            <a:off x="7040880" y="2578608"/>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1.60×</a:t>
            </a:r>
            <a:endParaRPr lang="en-US" sz="1150" dirty="0"/>
          </a:p>
        </p:txBody>
      </p:sp>
      <p:sp>
        <p:nvSpPr>
          <p:cNvPr id="22" name="Text 20"/>
          <p:cNvSpPr/>
          <p:nvPr/>
        </p:nvSpPr>
        <p:spPr>
          <a:xfrm>
            <a:off x="9784080" y="2578608"/>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3 workstreams</a:t>
            </a:r>
            <a:endParaRPr lang="en-US" sz="1150" dirty="0"/>
          </a:p>
        </p:txBody>
      </p:sp>
      <p:sp>
        <p:nvSpPr>
          <p:cNvPr id="23" name="Text 21"/>
          <p:cNvSpPr/>
          <p:nvPr/>
        </p:nvSpPr>
        <p:spPr>
          <a:xfrm>
            <a:off x="640080" y="2962656"/>
            <a:ext cx="4023360" cy="329184"/>
          </a:xfrm>
          <a:prstGeom prst="rect">
            <a:avLst/>
          </a:prstGeom>
          <a:noFill/>
          <a:ln/>
        </p:spPr>
        <p:txBody>
          <a:bodyPr wrap="square" lIns="0" tIns="0" rIns="0" bIns="0" rtlCol="0" anchor="ctr"/>
          <a:lstStyle/>
          <a:p>
            <a:pPr marL="0" indent="0" algn="l">
              <a:buNone/>
            </a:pPr>
            <a:r>
              <a:rPr lang="en-US" sz="1150" b="1" dirty="0">
                <a:solidFill>
                  <a:srgbClr val="1C1F26"/>
                </a:solidFill>
                <a:latin typeface="Calibri" pitchFamily="34" charset="0"/>
                <a:ea typeface="Calibri" pitchFamily="34" charset="-122"/>
                <a:cs typeface="Calibri" pitchFamily="34" charset="-120"/>
              </a:rPr>
              <a:t>All</a:t>
            </a:r>
            <a:endParaRPr lang="en-US" sz="1150" dirty="0"/>
          </a:p>
        </p:txBody>
      </p:sp>
      <p:sp>
        <p:nvSpPr>
          <p:cNvPr id="24" name="Text 22"/>
          <p:cNvSpPr/>
          <p:nvPr/>
        </p:nvSpPr>
        <p:spPr>
          <a:xfrm>
            <a:off x="4663440" y="2962656"/>
            <a:ext cx="2377440" cy="329184"/>
          </a:xfrm>
          <a:prstGeom prst="rect">
            <a:avLst/>
          </a:prstGeom>
          <a:noFill/>
          <a:ln/>
        </p:spPr>
        <p:txBody>
          <a:bodyPr wrap="square" lIns="0" tIns="0" rIns="0" bIns="0" rtlCol="0" anchor="ctr"/>
          <a:lstStyle/>
          <a:p>
            <a:pPr marL="0" indent="0" algn="l">
              <a:buNone/>
            </a:pPr>
            <a:r>
              <a:rPr lang="en-US" sz="1150" dirty="0">
                <a:solidFill>
                  <a:srgbClr val="6E7781"/>
                </a:solidFill>
                <a:latin typeface="Calibri" pitchFamily="34" charset="0"/>
                <a:ea typeface="Calibri" pitchFamily="34" charset="-122"/>
                <a:cs typeface="Calibri" pitchFamily="34" charset="-120"/>
              </a:rPr>
              <a:t>1.42×</a:t>
            </a:r>
            <a:endParaRPr lang="en-US" sz="1150" dirty="0"/>
          </a:p>
        </p:txBody>
      </p:sp>
      <p:sp>
        <p:nvSpPr>
          <p:cNvPr id="25" name="Text 23"/>
          <p:cNvSpPr/>
          <p:nvPr/>
        </p:nvSpPr>
        <p:spPr>
          <a:xfrm>
            <a:off x="7040880" y="2962656"/>
            <a:ext cx="274320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2.04×</a:t>
            </a:r>
            <a:endParaRPr lang="en-US" sz="1150" dirty="0"/>
          </a:p>
        </p:txBody>
      </p:sp>
      <p:sp>
        <p:nvSpPr>
          <p:cNvPr id="26" name="Text 24"/>
          <p:cNvSpPr/>
          <p:nvPr/>
        </p:nvSpPr>
        <p:spPr>
          <a:xfrm>
            <a:off x="9784080" y="2962656"/>
            <a:ext cx="1737360" cy="329184"/>
          </a:xfrm>
          <a:prstGeom prst="rect">
            <a:avLst/>
          </a:prstGeom>
          <a:noFill/>
          <a:ln/>
        </p:spPr>
        <p:txBody>
          <a:bodyPr wrap="square" lIns="0" tIns="0" rIns="0" bIns="0" rtlCol="0" anchor="ctr"/>
          <a:lstStyle/>
          <a:p>
            <a:pPr marL="0" indent="0" algn="r">
              <a:buNone/>
            </a:pPr>
            <a:r>
              <a:rPr lang="en-US" sz="1150" dirty="0">
                <a:solidFill>
                  <a:srgbClr val="6E7781"/>
                </a:solidFill>
                <a:latin typeface="Calibri" pitchFamily="34" charset="0"/>
                <a:ea typeface="Calibri" pitchFamily="34" charset="-122"/>
                <a:cs typeface="Calibri" pitchFamily="34" charset="-120"/>
              </a:rPr>
              <a:t>12 workstreams</a:t>
            </a:r>
            <a:endParaRPr lang="en-US" sz="1150" dirty="0"/>
          </a:p>
        </p:txBody>
      </p:sp>
      <p:sp>
        <p:nvSpPr>
          <p:cNvPr id="27" name="Text 25"/>
          <p:cNvSpPr/>
          <p:nvPr/>
        </p:nvSpPr>
        <p:spPr>
          <a:xfrm>
            <a:off x="640080" y="3401568"/>
            <a:ext cx="10881360" cy="292608"/>
          </a:xfrm>
          <a:prstGeom prst="rect">
            <a:avLst/>
          </a:prstGeom>
          <a:noFill/>
          <a:ln/>
        </p:spPr>
        <p:txBody>
          <a:bodyPr wrap="square" lIns="0" tIns="0" rIns="0" bIns="0" rtlCol="0" anchor="ctr"/>
          <a:lstStyle/>
          <a:p>
            <a:pPr marL="0" indent="0">
              <a:buNone/>
            </a:pPr>
            <a:r>
              <a:rPr lang="en-US" sz="1250" b="1" dirty="0">
                <a:solidFill>
                  <a:srgbClr val="1C1F26"/>
                </a:solidFill>
                <a:latin typeface="Calibri" pitchFamily="34" charset="0"/>
                <a:ea typeface="Calibri" pitchFamily="34" charset="-122"/>
                <a:cs typeface="Calibri" pitchFamily="34" charset="-120"/>
              </a:rPr>
              <a:t>Hardware dependency roughly doubles the overrun, consistently, across every discipline.</a:t>
            </a:r>
            <a:endParaRPr lang="en-US" sz="1250" dirty="0"/>
          </a:p>
        </p:txBody>
      </p:sp>
      <p:sp>
        <p:nvSpPr>
          <p:cNvPr id="28" name="Text 26"/>
          <p:cNvSpPr/>
          <p:nvPr/>
        </p:nvSpPr>
        <p:spPr>
          <a:xfrm>
            <a:off x="640080" y="3749040"/>
            <a:ext cx="1088136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The bias is not uniform across people. Alex wrote the most detailed plan and Sam wrote "few weeks of work", so Alex looks more rigorous. On the evidence, Alex's numbers need challenging and Sam's need extracting.</a:t>
            </a:r>
            <a:endParaRPr lang="en-US" sz="1150" dirty="0"/>
          </a:p>
        </p:txBody>
      </p:sp>
      <p:sp>
        <p:nvSpPr>
          <p:cNvPr id="29" name="Text 27"/>
          <p:cNvSpPr/>
          <p:nvPr/>
        </p:nvSpPr>
        <p:spPr>
          <a:xfrm>
            <a:off x="640080" y="4407408"/>
            <a:ext cx="10881360" cy="658368"/>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Bimodal ≠ wide.  Alex's one Low-confidence estimate was two estimates with no way to tell which applies. Padding is wrong in both worlds; the remedy is a timeboxed spike on the deciding fact — and that fact was already answered by the fixtures.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Robotics resource pass</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Laid out by resource rather than by person. Found five things and reversed a recommendation.</a:t>
            </a:r>
            <a:endParaRPr lang="en-US" sz="1300" dirty="0"/>
          </a:p>
        </p:txBody>
      </p:sp>
      <p:sp>
        <p:nvSpPr>
          <p:cNvPr id="6" name="Text 4"/>
          <p:cNvSpPr/>
          <p:nvPr/>
        </p:nvSpPr>
        <p:spPr>
          <a:xfrm>
            <a:off x="640080" y="1408176"/>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097280" y="1371600"/>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v4.2b had no validation or deploy in the plan</a:t>
            </a:r>
            <a:endParaRPr lang="en-US" sz="1300" dirty="0"/>
          </a:p>
        </p:txBody>
      </p:sp>
      <p:sp>
        <p:nvSpPr>
          <p:cNvPr id="8" name="Text 6"/>
          <p:cNvSpPr/>
          <p:nvPr/>
        </p:nvSpPr>
        <p:spPr>
          <a:xfrm>
            <a:off x="1097280" y="1682496"/>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Roughly a week of resource time that existed nowhere.</a:t>
            </a:r>
            <a:endParaRPr lang="en-US" sz="1150" dirty="0"/>
          </a:p>
        </p:txBody>
      </p:sp>
      <p:sp>
        <p:nvSpPr>
          <p:cNvPr id="9" name="Text 7"/>
          <p:cNvSpPr/>
          <p:nvPr/>
        </p:nvSpPr>
        <p:spPr>
          <a:xfrm>
            <a:off x="640080" y="2267712"/>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097280" y="2231136"/>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The split starves Fleet Monitor of real data until 2 Oct</a:t>
            </a:r>
            <a:endParaRPr lang="en-US" sz="1300" dirty="0"/>
          </a:p>
        </p:txBody>
      </p:sp>
      <p:sp>
        <p:nvSpPr>
          <p:cNvPr id="11" name="Text 9"/>
          <p:cNvSpPr/>
          <p:nvPr/>
        </p:nvSpPr>
        <p:spPr>
          <a:xfrm>
            <a:off x="1097280" y="2542032"/>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First contact with real cell data is the week before the demo.</a:t>
            </a:r>
            <a:endParaRPr lang="en-US" sz="1150" dirty="0"/>
          </a:p>
        </p:txBody>
      </p:sp>
      <p:sp>
        <p:nvSpPr>
          <p:cNvPr id="12" name="Text 10"/>
          <p:cNvSpPr/>
          <p:nvPr/>
        </p:nvSpPr>
        <p:spPr>
          <a:xfrm>
            <a:off x="640080" y="3127248"/>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3</a:t>
            </a:r>
            <a:endParaRPr lang="en-US" sz="1800" dirty="0"/>
          </a:p>
        </p:txBody>
      </p:sp>
      <p:sp>
        <p:nvSpPr>
          <p:cNvPr id="13" name="Text 11"/>
          <p:cNvSpPr/>
          <p:nvPr/>
        </p:nvSpPr>
        <p:spPr>
          <a:xfrm>
            <a:off x="1097280" y="3090672"/>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The rehearsal window halves</a:t>
            </a:r>
            <a:endParaRPr lang="en-US" sz="1300" dirty="0"/>
          </a:p>
        </p:txBody>
      </p:sp>
      <p:sp>
        <p:nvSpPr>
          <p:cNvPr id="14" name="Text 12"/>
          <p:cNvSpPr/>
          <p:nvPr/>
        </p:nvSpPr>
        <p:spPr>
          <a:xfrm>
            <a:off x="1097280" y="3401568"/>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Two weeks becomes one — the same week as that integration.</a:t>
            </a:r>
            <a:endParaRPr lang="en-US" sz="1150" dirty="0"/>
          </a:p>
        </p:txBody>
      </p:sp>
      <p:sp>
        <p:nvSpPr>
          <p:cNvPr id="15" name="Text 13"/>
          <p:cNvSpPr/>
          <p:nvPr/>
        </p:nvSpPr>
        <p:spPr>
          <a:xfrm>
            <a:off x="640080" y="3986784"/>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4</a:t>
            </a:r>
            <a:endParaRPr lang="en-US" sz="1800" dirty="0"/>
          </a:p>
        </p:txBody>
      </p:sp>
      <p:sp>
        <p:nvSpPr>
          <p:cNvPr id="16" name="Text 14"/>
          <p:cNvSpPr/>
          <p:nvPr/>
        </p:nvSpPr>
        <p:spPr>
          <a:xfrm>
            <a:off x="1097280" y="3950208"/>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People pinch, 16–25 Sep</a:t>
            </a:r>
            <a:endParaRPr lang="en-US" sz="1300" dirty="0"/>
          </a:p>
        </p:txBody>
      </p:sp>
      <p:sp>
        <p:nvSpPr>
          <p:cNvPr id="17" name="Text 15"/>
          <p:cNvSpPr/>
          <p:nvPr/>
        </p:nvSpPr>
        <p:spPr>
          <a:xfrm>
            <a:off x="1097280" y="4261104"/>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2.5 person-weeks needed against 2.4 available.</a:t>
            </a:r>
            <a:endParaRPr lang="en-US" sz="1150" dirty="0"/>
          </a:p>
        </p:txBody>
      </p:sp>
      <p:sp>
        <p:nvSpPr>
          <p:cNvPr id="18" name="Text 16"/>
          <p:cNvSpPr/>
          <p:nvPr/>
        </p:nvSpPr>
        <p:spPr>
          <a:xfrm>
            <a:off x="640080" y="4846320"/>
            <a:ext cx="365760" cy="310896"/>
          </a:xfrm>
          <a:prstGeom prst="rect">
            <a:avLst/>
          </a:prstGeom>
          <a:noFill/>
          <a:ln/>
        </p:spPr>
        <p:txBody>
          <a:bodyPr wrap="square" lIns="0" tIns="0" rIns="0" bIns="0" rtlCol="0" anchor="ctr"/>
          <a:lstStyle/>
          <a:p>
            <a:pPr marL="0" indent="0">
              <a:buNone/>
            </a:pPr>
            <a:r>
              <a:rPr lang="en-US" sz="1800" b="1" dirty="0">
                <a:solidFill>
                  <a:srgbClr val="B8621B"/>
                </a:solidFill>
                <a:latin typeface="Cambria" pitchFamily="34" charset="0"/>
                <a:ea typeface="Cambria" pitchFamily="34" charset="-122"/>
                <a:cs typeface="Cambria" pitchFamily="34" charset="-120"/>
              </a:rPr>
              <a:t>5</a:t>
            </a:r>
            <a:endParaRPr lang="en-US" sz="1800" dirty="0"/>
          </a:p>
        </p:txBody>
      </p:sp>
      <p:sp>
        <p:nvSpPr>
          <p:cNvPr id="19" name="Text 17"/>
          <p:cNvSpPr/>
          <p:nvPr/>
        </p:nvSpPr>
        <p:spPr>
          <a:xfrm>
            <a:off x="1097280" y="4809744"/>
            <a:ext cx="10241280" cy="310896"/>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Plan A's robotics chain has one day of float</a:t>
            </a:r>
            <a:endParaRPr lang="en-US" sz="1300" dirty="0"/>
          </a:p>
        </p:txBody>
      </p:sp>
      <p:sp>
        <p:nvSpPr>
          <p:cNvPr id="20" name="Text 18"/>
          <p:cNvSpPr/>
          <p:nvPr/>
        </p:nvSpPr>
        <p:spPr>
          <a:xfrm>
            <a:off x="1097280" y="5120640"/>
            <a:ext cx="10241280" cy="384048"/>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15 working days of serial work in 16. The smallest overrun in the backlog history is 13%.</a:t>
            </a:r>
            <a:endParaRPr lang="en-US" sz="1150" dirty="0"/>
          </a:p>
        </p:txBody>
      </p:sp>
      <p:sp>
        <p:nvSpPr>
          <p:cNvPr id="21" name="Text 19"/>
          <p:cNvSpPr/>
          <p:nvPr/>
        </p:nvSpPr>
        <p:spPr>
          <a:xfrm>
            <a:off x="640080" y="5760720"/>
            <a:ext cx="10881360" cy="310896"/>
          </a:xfrm>
          <a:prstGeom prst="rect">
            <a:avLst/>
          </a:prstGeom>
          <a:noFill/>
          <a:ln/>
        </p:spPr>
        <p:txBody>
          <a:bodyPr wrap="square" lIns="0" tIns="0" rIns="0" bIns="0" rtlCol="0" anchor="ctr"/>
          <a:lstStyle/>
          <a:p>
            <a:pPr marL="0" indent="0">
              <a:buNone/>
            </a:pPr>
            <a:r>
              <a:rPr lang="en-US" sz="1150" i="1" dirty="0">
                <a:solidFill>
                  <a:srgbClr val="6E7781"/>
                </a:solidFill>
                <a:latin typeface="Calibri" pitchFamily="34" charset="0"/>
                <a:ea typeface="Calibri" pitchFamily="34" charset="-122"/>
                <a:cs typeface="Calibri" pitchFamily="34" charset="-120"/>
              </a:rPr>
              <a:t>Capacity was never the problem — ~12.1 person-weeks available against ~4.9 of work. Everything above is ordering.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640080" y="384048"/>
            <a:ext cx="384048" cy="384048"/>
          </a:xfrm>
          <a:prstGeom prst="rect">
            <a:avLst/>
          </a:prstGeom>
          <a:solidFill>
            <a:srgbClr val="1C1F26"/>
          </a:solidFill>
          <a:ln/>
        </p:spPr>
        <p:txBody>
          <a:bodyPr/>
          <a:lstStyle/>
          <a:p>
            <a:endParaRPr lang="en-US"/>
          </a:p>
        </p:txBody>
      </p:sp>
      <p:sp>
        <p:nvSpPr>
          <p:cNvPr id="3" name="Text 1"/>
          <p:cNvSpPr/>
          <p:nvPr/>
        </p:nvSpPr>
        <p:spPr>
          <a:xfrm>
            <a:off x="640080" y="3840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4" name="Text 2"/>
          <p:cNvSpPr/>
          <p:nvPr/>
        </p:nvSpPr>
        <p:spPr>
          <a:xfrm>
            <a:off x="1207008" y="329184"/>
            <a:ext cx="10314432" cy="493776"/>
          </a:xfrm>
          <a:prstGeom prst="rect">
            <a:avLst/>
          </a:prstGeom>
          <a:noFill/>
          <a:ln/>
        </p:spPr>
        <p:txBody>
          <a:bodyPr wrap="square" lIns="0" tIns="0" rIns="0" bIns="0" rtlCol="0" anchor="ctr"/>
          <a:lstStyle/>
          <a:p>
            <a:pPr marL="0" indent="0">
              <a:buNone/>
            </a:pPr>
            <a:r>
              <a:rPr lang="en-US" sz="2600" b="1" dirty="0">
                <a:solidFill>
                  <a:srgbClr val="1C1F26"/>
                </a:solidFill>
                <a:latin typeface="Cambria" pitchFamily="34" charset="0"/>
                <a:ea typeface="Cambria" pitchFamily="34" charset="-122"/>
                <a:cs typeface="Cambria" pitchFamily="34" charset="-120"/>
              </a:rPr>
              <a:t>What is wrong with the event stream</a:t>
            </a:r>
            <a:endParaRPr lang="en-US" sz="2600" dirty="0"/>
          </a:p>
        </p:txBody>
      </p:sp>
      <p:sp>
        <p:nvSpPr>
          <p:cNvPr id="5" name="Text 3"/>
          <p:cNvSpPr/>
          <p:nvPr/>
        </p:nvSpPr>
        <p:spPr>
          <a:xfrm>
            <a:off x="640080" y="914400"/>
            <a:ext cx="10881360" cy="292608"/>
          </a:xfrm>
          <a:prstGeom prst="rect">
            <a:avLst/>
          </a:prstGeom>
          <a:noFill/>
          <a:ln/>
        </p:spPr>
        <p:txBody>
          <a:bodyPr wrap="square" lIns="0" tIns="0" rIns="0" bIns="0" rtlCol="0" anchor="ctr"/>
          <a:lstStyle/>
          <a:p>
            <a:pPr marL="0" indent="0">
              <a:buNone/>
            </a:pPr>
            <a:r>
              <a:rPr lang="en-US" sz="1300" i="1" dirty="0">
                <a:solidFill>
                  <a:srgbClr val="6E7781"/>
                </a:solidFill>
                <a:latin typeface="Calibri" pitchFamily="34" charset="0"/>
                <a:ea typeface="Calibri" pitchFamily="34" charset="-122"/>
                <a:cs typeface="Calibri" pitchFamily="34" charset="-120"/>
              </a:rPr>
              <a:t>Evidence from cell-events.jsonl — 29 events, March trials.</a:t>
            </a:r>
            <a:endParaRPr lang="en-US" sz="1300" dirty="0"/>
          </a:p>
        </p:txBody>
      </p:sp>
      <p:sp>
        <p:nvSpPr>
          <p:cNvPr id="6" name="Text 4"/>
          <p:cNvSpPr/>
          <p:nvPr/>
        </p:nvSpPr>
        <p:spPr>
          <a:xfrm>
            <a:off x="640080" y="13716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No unique event identifier</a:t>
            </a:r>
            <a:endParaRPr lang="en-US" sz="1300" dirty="0"/>
          </a:p>
        </p:txBody>
      </p:sp>
      <p:sp>
        <p:nvSpPr>
          <p:cNvPr id="7" name="Text 5"/>
          <p:cNvSpPr/>
          <p:nvPr/>
        </p:nvSpPr>
        <p:spPr>
          <a:xfrm>
            <a:off x="640080" y="16642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nailing.started for EW-L1-E1 appears twice, 07:14:51 and 07:20:05. Both legitimate — the second follows an e-stop resume. Any content-based dedupe drops a real event.</a:t>
            </a:r>
            <a:endParaRPr lang="en-US" sz="1150" dirty="0"/>
          </a:p>
        </p:txBody>
      </p:sp>
      <p:sp>
        <p:nvSpPr>
          <p:cNvPr id="8" name="Text 6"/>
          <p:cNvSpPr/>
          <p:nvPr/>
        </p:nvSpPr>
        <p:spPr>
          <a:xfrm>
            <a:off x="640080" y="22860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No sequence number</a:t>
            </a:r>
            <a:endParaRPr lang="en-US" sz="1300" dirty="0"/>
          </a:p>
        </p:txBody>
      </p:sp>
      <p:sp>
        <p:nvSpPr>
          <p:cNvPr id="9" name="Text 7"/>
          <p:cNvSpPr/>
          <p:nvPr/>
        </p:nvSpPr>
        <p:spPr>
          <a:xfrm>
            <a:off x="640080" y="25786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 gap is undetectable. A quiet cell and a thirty-minute outage look identical. The story asks for "no gaps"; today you cannot observe one.</a:t>
            </a:r>
            <a:endParaRPr lang="en-US" sz="1150" dirty="0"/>
          </a:p>
        </p:txBody>
      </p:sp>
      <p:sp>
        <p:nvSpPr>
          <p:cNvPr id="10" name="Text 8"/>
          <p:cNvSpPr/>
          <p:nvPr/>
        </p:nvSpPr>
        <p:spPr>
          <a:xfrm>
            <a:off x="640080" y="32004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Whole-second timestamps</a:t>
            </a:r>
            <a:endParaRPr lang="en-US" sz="1300" dirty="0"/>
          </a:p>
        </p:txBody>
      </p:sp>
      <p:sp>
        <p:nvSpPr>
          <p:cNvPr id="11" name="Text 9"/>
          <p:cNvSpPr/>
          <p:nvPr/>
        </p:nvSpPr>
        <p:spPr>
          <a:xfrm>
            <a:off x="640080" y="34930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stop.requested 07:15:33 → motion.halted 07:15:34. a3's measurement is capped at 1s, and same-second events are unorderable.</a:t>
            </a:r>
            <a:endParaRPr lang="en-US" sz="1150" dirty="0"/>
          </a:p>
        </p:txBody>
      </p:sp>
      <p:sp>
        <p:nvSpPr>
          <p:cNvPr id="12" name="Text 10"/>
          <p:cNvSpPr/>
          <p:nvPr/>
        </p:nvSpPr>
        <p:spPr>
          <a:xfrm>
            <a:off x="640080" y="41148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No clock authority</a:t>
            </a:r>
            <a:endParaRPr lang="en-US" sz="1300" dirty="0"/>
          </a:p>
        </p:txBody>
      </p:sp>
      <p:sp>
        <p:nvSpPr>
          <p:cNvPr id="13" name="Text 11"/>
          <p:cNvSpPr/>
          <p:nvPr/>
        </p:nvSpPr>
        <p:spPr>
          <a:xfrm>
            <a:off x="640080" y="44074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An NTP step or a reboot mid-outage moves timestamps backwards. Ordering a reconciled buffer by ts is unsafe.</a:t>
            </a:r>
            <a:endParaRPr lang="en-US" sz="1150" dirty="0"/>
          </a:p>
        </p:txBody>
      </p:sp>
      <p:sp>
        <p:nvSpPr>
          <p:cNvPr id="14" name="Text 12"/>
          <p:cNvSpPr/>
          <p:nvPr/>
        </p:nvSpPr>
        <p:spPr>
          <a:xfrm>
            <a:off x="640080" y="5029200"/>
            <a:ext cx="10515600" cy="292608"/>
          </a:xfrm>
          <a:prstGeom prst="rect">
            <a:avLst/>
          </a:prstGeom>
          <a:noFill/>
          <a:ln/>
        </p:spPr>
        <p:txBody>
          <a:bodyPr wrap="square" lIns="0" tIns="0" rIns="0" bIns="0" rtlCol="0" anchor="ctr"/>
          <a:lstStyle/>
          <a:p>
            <a:pPr marL="0" indent="0">
              <a:buNone/>
            </a:pPr>
            <a:r>
              <a:rPr lang="en-US" sz="1300" b="1" dirty="0">
                <a:solidFill>
                  <a:srgbClr val="1C1F26"/>
                </a:solidFill>
                <a:latin typeface="Calibri" pitchFamily="34" charset="0"/>
                <a:ea typeface="Calibri" pitchFamily="34" charset="-122"/>
                <a:cs typeface="Calibri" pitchFamily="34" charset="-120"/>
              </a:rPr>
              <a:t>run.paused is overloaded</a:t>
            </a:r>
            <a:endParaRPr lang="en-US" sz="1300" dirty="0"/>
          </a:p>
        </p:txBody>
      </p:sp>
      <p:sp>
        <p:nvSpPr>
          <p:cNvPr id="15" name="Text 13"/>
          <p:cNvSpPr/>
          <p:nvPr/>
        </p:nvSpPr>
        <p:spPr>
          <a:xfrm>
            <a:off x="640080" y="5321808"/>
            <a:ext cx="10515600" cy="512064"/>
          </a:xfrm>
          <a:prstGeom prst="rect">
            <a:avLst/>
          </a:prstGeom>
          <a:noFill/>
          <a:ln/>
        </p:spPr>
        <p:txBody>
          <a:bodyPr wrap="square" lIns="0" tIns="0" rIns="0" bIns="0" rtlCol="0" anchor="ctr"/>
          <a:lstStyle/>
          <a:p>
            <a:pPr marL="0" indent="0">
              <a:buNone/>
            </a:pPr>
            <a:r>
              <a:rPr lang="en-US" sz="1150" dirty="0">
                <a:solidFill>
                  <a:srgbClr val="6E7781"/>
                </a:solidFill>
                <a:latin typeface="Calibri" pitchFamily="34" charset="0"/>
                <a:ea typeface="Calibri" pitchFamily="34" charset="-122"/>
                <a:cs typeface="Calibri" pitchFamily="34" charset="-120"/>
              </a:rPr>
              <a:t>reason "estop" and reason "material_reload" share one event type. An audit log must distinguish safety from routine.</a:t>
            </a:r>
            <a:endParaRPr lang="en-US" sz="1150" dirty="0"/>
          </a:p>
        </p:txBody>
      </p:sp>
      <p:sp>
        <p:nvSpPr>
          <p:cNvPr id="16" name="Text 14"/>
          <p:cNvSpPr/>
          <p:nvPr/>
        </p:nvSpPr>
        <p:spPr>
          <a:xfrm>
            <a:off x="640080" y="6035040"/>
            <a:ext cx="10881360" cy="512064"/>
          </a:xfrm>
          <a:prstGeom prst="rect">
            <a:avLst/>
          </a:prstGeom>
          <a:noFill/>
          <a:ln/>
        </p:spPr>
        <p:txBody>
          <a:bodyPr wrap="square" lIns="0" tIns="0" rIns="0" bIns="0" rtlCol="0" anchor="ctr"/>
          <a:lstStyle/>
          <a:p>
            <a:pPr marL="0" indent="0">
              <a:buNone/>
            </a:pPr>
            <a:r>
              <a:rPr lang="en-US" sz="1150" dirty="0">
                <a:solidFill>
                  <a:srgbClr val="1C1F26"/>
                </a:solidFill>
                <a:latin typeface="Calibri" pitchFamily="34" charset="0"/>
                <a:ea typeface="Calibri" pitchFamily="34" charset="-122"/>
                <a:cs typeface="Calibri" pitchFamily="34" charset="-120"/>
              </a:rPr>
              <a:t>Required envelope: eventId · seq · bootId · millisecond ts · monotonicUs · class. Plus at-least-once delivery with idempotent receive. Buffer sizing is trivial once the schema is right — the difficulty was never volume.</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4935</Words>
  <Application>Microsoft Macintosh PowerPoint</Application>
  <PresentationFormat>Widescreen</PresentationFormat>
  <Paragraphs>568</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AUAR — Delivery plan, decisions, and two build slices</dc:title>
  <dc:subject>PptxGenJS Presentation</dc:subject>
  <dc:creator>Software Engineering Lead</dc:creator>
  <cp:lastModifiedBy>Chris Tanseer</cp:lastModifiedBy>
  <cp:revision>2</cp:revision>
  <dcterms:created xsi:type="dcterms:W3CDTF">2026-08-26T08:49:07Z</dcterms:created>
  <dcterms:modified xsi:type="dcterms:W3CDTF">2026-08-26T08:57:07Z</dcterms:modified>
</cp:coreProperties>
</file>