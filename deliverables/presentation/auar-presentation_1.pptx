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8"/>
    <p:restoredTop sz="97023"/>
  </p:normalViewPr>
  <p:slideViewPr>
    <p:cSldViewPr snapToGrid="0" snapToObjects="1">
      <p:cViewPr varScale="1">
        <p:scale>
          <a:sx n="151" d="100"/>
          <a:sy n="151" d="100"/>
        </p:scale>
        <p:origin x="20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572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have read the repo. Do not walk through the plan. Open by naming what the session is for: the contestable calls. The three numbers are the whole story in miniature.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slide out. Give them fifteen seconds to re-orient, say the one line about the ten-minute path, and move on. Its real job is to be the slide you flip back to when someone asks where something lives.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is not that either chain is long. It is that nobody had traced either one end to end, and they meet at the cell re-test. Note the float on the software chain — that is why a2 is not, in the end, the binding constraint.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recommendation reversed after the resource pass. Originally I recommended Plan A if the split worked. Drawing the robotics resources showed Plan A starves Fleet Monitor of real data until 2 October. Say that the recommendation changed — a plan that corrects itself is more credible than one that arrived perfect.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cut has a number from the supplied data, not a judgement. The adjacency one is the sharpest: over-flagging is correct for a safety system and wrong for a cost-reduction tool, because over-flagging is the failure mode the feature was funded to prevent.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IW-L1-01 detail is worth having ready: its height changed 2700 to 2750 but weightKg stayed at 85, while every other resized panel had weight recalculated. Someone edited by hand. Nobody asked for that check; it falls out of the diff for free.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6, the run-state machine, was the closest runner-up. Rejected because its central question — what a remote stop does to a half-made panel — is already answered by the sample stream: the cell stops mid-panel and resumes from_panel_start. It costs one panel.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is the one to volunteer. It is the assumption the entire firmware split rests on, and it is answerable with a phone call to the inspector rather than a design decision by 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 plan does not stall waiting for answers. Six things start immediately, and the two questions that select the plan are answered inside week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Naming your own weak points frames them; leaving them costs you the framing. The firmware split is genuinely the most exposed thing in the plan and saying so first is the strongest move available.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these are real questions, not rhetorical ones. If they push on the two-slices point, the honest answer is that slice 2 exists to settle the previousSpec disagreement with a passing test rather than an argument.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these. This slide exists so you can say 'that is in appendix C' and get there in one move.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a:effectLst/>
      </p:bgPr>
    </p:bg>
    <p:spTree>
      <p:nvGrpSpPr>
        <p:cNvPr id="1" name=""/>
        <p:cNvGrpSpPr/>
        <p:nvPr/>
      </p:nvGrpSpPr>
      <p:grpSpPr>
        <a:xfrm>
          <a:off x="0" y="0"/>
          <a:ext cx="0" cy="0"/>
          <a:chOff x="0" y="0"/>
          <a:chExt cx="0" cy="0"/>
        </a:xfrm>
      </p:grpSpPr>
      <p:sp>
        <p:nvSpPr>
          <p:cNvPr id="2" name="Text 0"/>
          <p:cNvSpPr/>
          <p:nvPr/>
        </p:nvSpPr>
        <p:spPr>
          <a:xfrm>
            <a:off x="640080" y="685800"/>
            <a:ext cx="10881360" cy="365760"/>
          </a:xfrm>
          <a:prstGeom prst="rect">
            <a:avLst/>
          </a:prstGeom>
          <a:noFill/>
          <a:ln/>
        </p:spPr>
        <p:txBody>
          <a:bodyPr wrap="square" lIns="0" tIns="0" rIns="0" bIns="0" rtlCol="0" anchor="ctr"/>
          <a:lstStyle/>
          <a:p>
            <a:pPr marL="0" indent="0">
              <a:buNone/>
            </a:pPr>
            <a:r>
              <a:rPr lang="en-US" sz="1500" b="1" kern="0" spc="300" dirty="0">
                <a:solidFill>
                  <a:srgbClr val="B8621B"/>
                </a:solidFill>
                <a:latin typeface="Calibri" pitchFamily="34" charset="0"/>
                <a:ea typeface="Calibri" pitchFamily="34" charset="-122"/>
                <a:cs typeface="Calibri" pitchFamily="34" charset="-120"/>
              </a:rPr>
              <a:t>AUAR</a:t>
            </a:r>
            <a:endParaRPr lang="en-US" sz="1500" dirty="0"/>
          </a:p>
        </p:txBody>
      </p:sp>
      <p:sp>
        <p:nvSpPr>
          <p:cNvPr id="3" name="Text 1"/>
          <p:cNvSpPr/>
          <p:nvPr/>
        </p:nvSpPr>
        <p:spPr>
          <a:xfrm>
            <a:off x="640080" y="1051560"/>
            <a:ext cx="10881360" cy="411480"/>
          </a:xfrm>
          <a:prstGeom prst="rect">
            <a:avLst/>
          </a:prstGeom>
          <a:noFill/>
          <a:ln/>
        </p:spPr>
        <p:txBody>
          <a:bodyPr wrap="square" lIns="0" tIns="0" rIns="0" bIns="0" rtlCol="0" anchor="ctr"/>
          <a:lstStyle/>
          <a:p>
            <a:pPr marL="0" indent="0">
              <a:buNone/>
            </a:pPr>
            <a:r>
              <a:rPr lang="en-US" sz="1600" dirty="0">
                <a:solidFill>
                  <a:srgbClr val="A8B0BC"/>
                </a:solidFill>
                <a:latin typeface="Calibri" pitchFamily="34" charset="0"/>
                <a:ea typeface="Calibri" pitchFamily="34" charset="-122"/>
                <a:cs typeface="Calibri" pitchFamily="34" charset="-120"/>
              </a:rPr>
              <a:t>Software Engineering Lead</a:t>
            </a:r>
            <a:endParaRPr lang="en-US" sz="1600" dirty="0"/>
          </a:p>
        </p:txBody>
      </p:sp>
      <p:sp>
        <p:nvSpPr>
          <p:cNvPr id="4" name="Text 2"/>
          <p:cNvSpPr/>
          <p:nvPr/>
        </p:nvSpPr>
        <p:spPr>
          <a:xfrm>
            <a:off x="640080" y="1828800"/>
            <a:ext cx="1042416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Both features demo on 12 October.</a:t>
            </a:r>
            <a:endParaRPr lang="en-US" sz="4000" dirty="0"/>
          </a:p>
        </p:txBody>
      </p:sp>
      <p:sp>
        <p:nvSpPr>
          <p:cNvPr id="5" name="Text 3"/>
          <p:cNvSpPr/>
          <p:nvPr/>
        </p:nvSpPr>
        <p:spPr>
          <a:xfrm>
            <a:off x="640080" y="2542032"/>
            <a:ext cx="10424160" cy="685800"/>
          </a:xfrm>
          <a:prstGeom prst="rect">
            <a:avLst/>
          </a:prstGeom>
          <a:noFill/>
          <a:ln/>
        </p:spPr>
        <p:txBody>
          <a:bodyPr wrap="square" lIns="0" tIns="0" rIns="0" bIns="0" rtlCol="0" anchor="ctr"/>
          <a:lstStyle/>
          <a:p>
            <a:pPr marL="0" indent="0">
              <a:buNone/>
            </a:pPr>
            <a:r>
              <a:rPr lang="en-US" sz="4000" b="1" dirty="0">
                <a:solidFill>
                  <a:srgbClr val="B8621B"/>
                </a:solidFill>
                <a:latin typeface="Cambria" pitchFamily="34" charset="0"/>
                <a:ea typeface="Cambria" pitchFamily="34" charset="-122"/>
                <a:cs typeface="Cambria" pitchFamily="34" charset="-120"/>
              </a:rPr>
              <a:t>Risk: an unsupervised demo.</a:t>
            </a:r>
            <a:endParaRPr lang="en-US" sz="4000" dirty="0"/>
          </a:p>
        </p:txBody>
      </p:sp>
      <p:sp>
        <p:nvSpPr>
          <p:cNvPr id="6" name="Text 4"/>
          <p:cNvSpPr/>
          <p:nvPr/>
        </p:nvSpPr>
        <p:spPr>
          <a:xfrm>
            <a:off x="640080" y="3886200"/>
            <a:ext cx="10424160" cy="329184"/>
          </a:xfrm>
          <a:prstGeom prst="rect">
            <a:avLst/>
          </a:prstGeom>
          <a:noFill/>
          <a:ln/>
        </p:spPr>
        <p:txBody>
          <a:bodyPr wrap="square" lIns="0" tIns="0" rIns="0" bIns="0" rtlCol="0" anchor="ctr"/>
          <a:lstStyle/>
          <a:p>
            <a:pPr marL="0" indent="0">
              <a:buNone/>
            </a:pPr>
            <a:r>
              <a:rPr lang="en-US" sz="1500" dirty="0">
                <a:solidFill>
                  <a:srgbClr val="A8B0BC"/>
                </a:solidFill>
                <a:latin typeface="Calibri" pitchFamily="34" charset="0"/>
                <a:ea typeface="Calibri" pitchFamily="34" charset="-122"/>
                <a:cs typeface="Calibri" pitchFamily="34" charset="-120"/>
              </a:rPr>
              <a:t>Delivery plan · two build slices · the reasoning behind both</a:t>
            </a:r>
            <a:endParaRPr lang="en-US" sz="1500" dirty="0"/>
          </a:p>
        </p:txBody>
      </p:sp>
      <p:sp>
        <p:nvSpPr>
          <p:cNvPr id="7" name="Text 5"/>
          <p:cNvSpPr/>
          <p:nvPr/>
        </p:nvSpPr>
        <p:spPr>
          <a:xfrm>
            <a:off x="640080" y="4261104"/>
            <a:ext cx="10424160" cy="329184"/>
          </a:xfrm>
          <a:prstGeom prst="rect">
            <a:avLst/>
          </a:prstGeom>
          <a:noFill/>
          <a:ln/>
        </p:spPr>
        <p:txBody>
          <a:bodyPr wrap="square" lIns="0" tIns="0" rIns="0" bIns="0" rtlCol="0" anchor="ctr"/>
          <a:lstStyle/>
          <a:p>
            <a:pPr marL="0" indent="0">
              <a:buNone/>
            </a:pPr>
            <a:r>
              <a:rPr lang="en-US" sz="1500" i="1" dirty="0">
                <a:solidFill>
                  <a:srgbClr val="6E7A8A"/>
                </a:solidFill>
                <a:latin typeface="Calibri" pitchFamily="34" charset="0"/>
                <a:ea typeface="Calibri" pitchFamily="34" charset="-122"/>
                <a:cs typeface="Calibri" pitchFamily="34" charset="-120"/>
              </a:rPr>
              <a:t>You have read the repository. This session is for the calls that are contestable.</a:t>
            </a:r>
            <a:endParaRPr lang="en-US" sz="1500" dirty="0"/>
          </a:p>
        </p:txBody>
      </p:sp>
      <p:sp>
        <p:nvSpPr>
          <p:cNvPr id="8" name="Text 6"/>
          <p:cNvSpPr/>
          <p:nvPr/>
        </p:nvSpPr>
        <p:spPr>
          <a:xfrm>
            <a:off x="640080" y="4983480"/>
            <a:ext cx="3383280" cy="603504"/>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24</a:t>
            </a:r>
            <a:endParaRPr lang="en-US" sz="4000" dirty="0"/>
          </a:p>
        </p:txBody>
      </p:sp>
      <p:sp>
        <p:nvSpPr>
          <p:cNvPr id="9" name="Text 7"/>
          <p:cNvSpPr/>
          <p:nvPr/>
        </p:nvSpPr>
        <p:spPr>
          <a:xfrm>
            <a:off x="640080" y="5596128"/>
            <a:ext cx="3200400" cy="658368"/>
          </a:xfrm>
          <a:prstGeom prst="rect">
            <a:avLst/>
          </a:prstGeom>
          <a:noFill/>
          <a:ln/>
        </p:spPr>
        <p:txBody>
          <a:bodyPr wrap="square" lIns="0" tIns="0" rIns="0" bIns="0" rtlCol="0" anchor="t"/>
          <a:lstStyle/>
          <a:p>
            <a:pPr marL="0" indent="0">
              <a:buNone/>
            </a:pPr>
            <a:r>
              <a:rPr lang="en-US" sz="1200" dirty="0">
                <a:solidFill>
                  <a:srgbClr val="8892A0"/>
                </a:solidFill>
                <a:latin typeface="Calibri" pitchFamily="34" charset="0"/>
                <a:ea typeface="Calibri" pitchFamily="34" charset="-122"/>
                <a:cs typeface="Calibri" pitchFamily="34" charset="-120"/>
              </a:rPr>
              <a:t>working days of pure sequence to an unsupervised demo</a:t>
            </a:r>
            <a:endParaRPr lang="en-US" sz="1200" dirty="0"/>
          </a:p>
        </p:txBody>
      </p:sp>
      <p:sp>
        <p:nvSpPr>
          <p:cNvPr id="10" name="Text 8"/>
          <p:cNvSpPr/>
          <p:nvPr/>
        </p:nvSpPr>
        <p:spPr>
          <a:xfrm>
            <a:off x="4251960" y="4983480"/>
            <a:ext cx="3383280" cy="603504"/>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49%</a:t>
            </a:r>
            <a:endParaRPr lang="en-US" sz="4000" dirty="0"/>
          </a:p>
        </p:txBody>
      </p:sp>
      <p:sp>
        <p:nvSpPr>
          <p:cNvPr id="11" name="Text 9"/>
          <p:cNvSpPr/>
          <p:nvPr/>
        </p:nvSpPr>
        <p:spPr>
          <a:xfrm>
            <a:off x="4251960" y="5596128"/>
            <a:ext cx="3200400" cy="658368"/>
          </a:xfrm>
          <a:prstGeom prst="rect">
            <a:avLst/>
          </a:prstGeom>
          <a:noFill/>
          <a:ln/>
        </p:spPr>
        <p:txBody>
          <a:bodyPr wrap="square" lIns="0" tIns="0" rIns="0" bIns="0" rtlCol="0" anchor="t"/>
          <a:lstStyle/>
          <a:p>
            <a:pPr marL="0" indent="0">
              <a:buNone/>
            </a:pPr>
            <a:r>
              <a:rPr lang="en-US" sz="1200" dirty="0">
                <a:solidFill>
                  <a:srgbClr val="8892A0"/>
                </a:solidFill>
                <a:latin typeface="Calibri" pitchFamily="34" charset="0"/>
                <a:ea typeface="Calibri" pitchFamily="34" charset="-122"/>
                <a:cs typeface="Calibri" pitchFamily="34" charset="-120"/>
              </a:rPr>
              <a:t>over capacity as handed over, before anything goes wrong</a:t>
            </a:r>
            <a:endParaRPr lang="en-US" sz="1200" dirty="0"/>
          </a:p>
        </p:txBody>
      </p:sp>
      <p:sp>
        <p:nvSpPr>
          <p:cNvPr id="12" name="Text 10"/>
          <p:cNvSpPr/>
          <p:nvPr/>
        </p:nvSpPr>
        <p:spPr>
          <a:xfrm>
            <a:off x="7863840" y="4983480"/>
            <a:ext cx="3383280" cy="603504"/>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13" name="Text 11"/>
          <p:cNvSpPr/>
          <p:nvPr/>
        </p:nvSpPr>
        <p:spPr>
          <a:xfrm>
            <a:off x="7863840" y="5596128"/>
            <a:ext cx="3200400" cy="658368"/>
          </a:xfrm>
          <a:prstGeom prst="rect">
            <a:avLst/>
          </a:prstGeom>
          <a:noFill/>
          <a:ln/>
        </p:spPr>
        <p:txBody>
          <a:bodyPr wrap="square" lIns="0" tIns="0" rIns="0" bIns="0" rtlCol="0" anchor="t"/>
          <a:lstStyle/>
          <a:p>
            <a:pPr marL="0" indent="0">
              <a:buNone/>
            </a:pPr>
            <a:r>
              <a:rPr lang="en-US" sz="1200" dirty="0">
                <a:solidFill>
                  <a:srgbClr val="8892A0"/>
                </a:solidFill>
                <a:latin typeface="Calibri" pitchFamily="34" charset="0"/>
                <a:ea typeface="Calibri" pitchFamily="34" charset="-122"/>
                <a:cs typeface="Calibri" pitchFamily="34" charset="-120"/>
              </a:rPr>
              <a:t>question in week one decides the shape of the plan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29184"/>
            <a:ext cx="10881360"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What you read</a:t>
            </a:r>
            <a:endParaRPr lang="en-US" sz="3000" dirty="0"/>
          </a:p>
        </p:txBody>
      </p:sp>
      <p:sp>
        <p:nvSpPr>
          <p:cNvPr id="3" name="Text 1"/>
          <p:cNvSpPr/>
          <p:nvPr/>
        </p:nvSpPr>
        <p:spPr>
          <a:xfrm>
            <a:off x="640080" y="969264"/>
            <a:ext cx="10881360" cy="310896"/>
          </a:xfrm>
          <a:prstGeom prst="rect">
            <a:avLst/>
          </a:prstGeom>
          <a:noFill/>
          <a:ln/>
        </p:spPr>
        <p:txBody>
          <a:bodyPr wrap="square" lIns="0" tIns="0" rIns="0" bIns="0" rtlCol="0" anchor="ctr"/>
          <a:lstStyle/>
          <a:p>
            <a:pPr marL="0" indent="0">
              <a:buNone/>
            </a:pPr>
            <a:endParaRPr lang="en-US" sz="1400" dirty="0"/>
          </a:p>
        </p:txBody>
      </p:sp>
      <p:sp>
        <p:nvSpPr>
          <p:cNvPr id="4" name="Text 2"/>
          <p:cNvSpPr/>
          <p:nvPr/>
        </p:nvSpPr>
        <p:spPr>
          <a:xfrm>
            <a:off x="640080" y="1463040"/>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097280" y="1444752"/>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The critical path was not where anyone was looking</a:t>
            </a:r>
            <a:endParaRPr lang="en-US" sz="1350" dirty="0"/>
          </a:p>
        </p:txBody>
      </p:sp>
      <p:sp>
        <p:nvSpPr>
          <p:cNvPr id="6" name="Text 4"/>
          <p:cNvSpPr/>
          <p:nvPr/>
        </p:nvSpPr>
        <p:spPr>
          <a:xfrm>
            <a:off x="1097280" y="1755648"/>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Two chains converge on the cell re-test. The CTO dismissed one; Chris under-stated the other by a week in his own email.</a:t>
            </a:r>
            <a:endParaRPr lang="en-US" sz="1100" dirty="0"/>
          </a:p>
        </p:txBody>
      </p:sp>
      <p:sp>
        <p:nvSpPr>
          <p:cNvPr id="7" name="Text 5"/>
          <p:cNvSpPr/>
          <p:nvPr/>
        </p:nvSpPr>
        <p:spPr>
          <a:xfrm>
            <a:off x="1097280" y="2139696"/>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01-delivery-plan.md</a:t>
            </a:r>
            <a:endParaRPr lang="en-US" sz="900" dirty="0"/>
          </a:p>
        </p:txBody>
      </p:sp>
      <p:sp>
        <p:nvSpPr>
          <p:cNvPr id="8" name="Text 6"/>
          <p:cNvSpPr/>
          <p:nvPr/>
        </p:nvSpPr>
        <p:spPr>
          <a:xfrm>
            <a:off x="640080" y="2432304"/>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097280" y="2414016"/>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One question in week one decides the plan's shape</a:t>
            </a:r>
            <a:endParaRPr lang="en-US" sz="1350" dirty="0"/>
          </a:p>
        </p:txBody>
      </p:sp>
      <p:sp>
        <p:nvSpPr>
          <p:cNvPr id="10" name="Text 8"/>
          <p:cNvSpPr/>
          <p:nvPr/>
        </p:nvSpPr>
        <p:spPr>
          <a:xfrm>
            <a:off x="1097280" y="2724912"/>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Can firmware split so the stop path ships before the re-test and observability after? Plan A and Plan B branch from that answer.</a:t>
            </a:r>
            <a:endParaRPr lang="en-US" sz="1100" dirty="0"/>
          </a:p>
        </p:txBody>
      </p:sp>
      <p:sp>
        <p:nvSpPr>
          <p:cNvPr id="11" name="Text 9"/>
          <p:cNvSpPr/>
          <p:nvPr/>
        </p:nvSpPr>
        <p:spPr>
          <a:xfrm>
            <a:off x="1097280" y="3108960"/>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03-demo-date-branch.md</a:t>
            </a:r>
            <a:endParaRPr lang="en-US" sz="900" dirty="0"/>
          </a:p>
        </p:txBody>
      </p:sp>
      <p:sp>
        <p:nvSpPr>
          <p:cNvPr id="12" name="Text 10"/>
          <p:cNvSpPr/>
          <p:nvPr/>
        </p:nvSpPr>
        <p:spPr>
          <a:xfrm>
            <a:off x="640080" y="3401568"/>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097280" y="3383280"/>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The cuts are arithmetic, not preference</a:t>
            </a:r>
            <a:endParaRPr lang="en-US" sz="1350" dirty="0"/>
          </a:p>
        </p:txBody>
      </p:sp>
      <p:sp>
        <p:nvSpPr>
          <p:cNvPr id="14" name="Text 12"/>
          <p:cNvSpPr/>
          <p:nvPr/>
        </p:nvSpPr>
        <p:spPr>
          <a:xfrm>
            <a:off x="1097280" y="3694176"/>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35.6 person-weeks of demand against 23.9. Every cut carries the number from the supplied data that justifies it.</a:t>
            </a:r>
            <a:endParaRPr lang="en-US" sz="1100" dirty="0"/>
          </a:p>
        </p:txBody>
      </p:sp>
      <p:sp>
        <p:nvSpPr>
          <p:cNvPr id="15" name="Text 13"/>
          <p:cNvSpPr/>
          <p:nvPr/>
        </p:nvSpPr>
        <p:spPr>
          <a:xfrm>
            <a:off x="1097280" y="4078224"/>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01 · 05-estimation-calibration.md</a:t>
            </a:r>
            <a:endParaRPr lang="en-US" sz="900" dirty="0"/>
          </a:p>
        </p:txBody>
      </p:sp>
      <p:sp>
        <p:nvSpPr>
          <p:cNvPr id="16" name="Text 14"/>
          <p:cNvSpPr/>
          <p:nvPr/>
        </p:nvSpPr>
        <p:spPr>
          <a:xfrm>
            <a:off x="640080" y="4370832"/>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1097280" y="4352544"/>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Two things added, both from running the fixtures</a:t>
            </a:r>
            <a:endParaRPr lang="en-US" sz="1350" dirty="0"/>
          </a:p>
        </p:txBody>
      </p:sp>
      <p:sp>
        <p:nvSpPr>
          <p:cNvPr id="18" name="Text 16"/>
          <p:cNvSpPr/>
          <p:nvPr/>
        </p:nvSpPr>
        <p:spPr>
          <a:xfrm>
            <a:off x="1097280" y="4663440"/>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Cost classification before approval, and the event schema contract nobody wrote. Neither was in the briefs.</a:t>
            </a:r>
            <a:endParaRPr lang="en-US" sz="1100" dirty="0"/>
          </a:p>
        </p:txBody>
      </p:sp>
      <p:sp>
        <p:nvSpPr>
          <p:cNvPr id="19" name="Text 17"/>
          <p:cNvSpPr/>
          <p:nvPr/>
        </p:nvSpPr>
        <p:spPr>
          <a:xfrm>
            <a:off x="1097280" y="5047488"/>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stories.md · firmware-event-schema-v4.2.md</a:t>
            </a:r>
            <a:endParaRPr lang="en-US" sz="900" dirty="0"/>
          </a:p>
        </p:txBody>
      </p:sp>
      <p:sp>
        <p:nvSpPr>
          <p:cNvPr id="20" name="Text 18"/>
          <p:cNvSpPr/>
          <p:nvPr/>
        </p:nvSpPr>
        <p:spPr>
          <a:xfrm>
            <a:off x="640080" y="5340096"/>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5</a:t>
            </a:r>
            <a:endParaRPr lang="en-US" sz="2000" dirty="0"/>
          </a:p>
        </p:txBody>
      </p:sp>
      <p:sp>
        <p:nvSpPr>
          <p:cNvPr id="21" name="Text 19"/>
          <p:cNvSpPr/>
          <p:nvPr/>
        </p:nvSpPr>
        <p:spPr>
          <a:xfrm>
            <a:off x="1097280" y="5321808"/>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Drawing the schedule found what writing it missed</a:t>
            </a:r>
            <a:endParaRPr lang="en-US" sz="1350" dirty="0"/>
          </a:p>
        </p:txBody>
      </p:sp>
      <p:sp>
        <p:nvSpPr>
          <p:cNvPr id="22" name="Text 20"/>
          <p:cNvSpPr/>
          <p:nvPr/>
        </p:nvSpPr>
        <p:spPr>
          <a:xfrm>
            <a:off x="1097280" y="5632704"/>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The resource pass turned up five things and reversed a recommendation. That reversal is in the repo, not tidied away.</a:t>
            </a:r>
            <a:endParaRPr lang="en-US" sz="1100" dirty="0"/>
          </a:p>
        </p:txBody>
      </p:sp>
      <p:sp>
        <p:nvSpPr>
          <p:cNvPr id="23" name="Text 21"/>
          <p:cNvSpPr/>
          <p:nvPr/>
        </p:nvSpPr>
        <p:spPr>
          <a:xfrm>
            <a:off x="1097280" y="6016752"/>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06-b-pass-robotics.md</a:t>
            </a:r>
            <a:endParaRPr lang="en-US" sz="900" dirty="0"/>
          </a:p>
        </p:txBody>
      </p:sp>
      <p:sp>
        <p:nvSpPr>
          <p:cNvPr id="24" name="Shape 22"/>
          <p:cNvSpPr/>
          <p:nvPr/>
        </p:nvSpPr>
        <p:spPr>
          <a:xfrm>
            <a:off x="8229600" y="1417320"/>
            <a:ext cx="3291840" cy="4160520"/>
          </a:xfrm>
          <a:prstGeom prst="rect">
            <a:avLst/>
          </a:prstGeom>
          <a:solidFill>
            <a:srgbClr val="FFFFFF"/>
          </a:solidFill>
          <a:ln w="12700">
            <a:solidFill>
              <a:srgbClr val="D8D2C9"/>
            </a:solidFill>
            <a:prstDash val="solid"/>
          </a:ln>
        </p:spPr>
        <p:txBody>
          <a:bodyPr/>
          <a:lstStyle/>
          <a:p>
            <a:endParaRPr lang="en-US"/>
          </a:p>
        </p:txBody>
      </p:sp>
      <p:sp>
        <p:nvSpPr>
          <p:cNvPr id="25" name="Text 23"/>
          <p:cNvSpPr/>
          <p:nvPr/>
        </p:nvSpPr>
        <p:spPr>
          <a:xfrm>
            <a:off x="8467344" y="1609344"/>
            <a:ext cx="2834640" cy="256032"/>
          </a:xfrm>
          <a:prstGeom prst="rect">
            <a:avLst/>
          </a:prstGeom>
          <a:noFill/>
          <a:ln/>
        </p:spPr>
        <p:txBody>
          <a:bodyPr wrap="square" lIns="0" tIns="0" rIns="0" bIns="0" rtlCol="0" anchor="ctr"/>
          <a:lstStyle/>
          <a:p>
            <a:pPr marL="0" indent="0">
              <a:buNone/>
            </a:pPr>
            <a:r>
              <a:rPr lang="en-US" sz="950" b="1" kern="0" spc="130" dirty="0">
                <a:solidFill>
                  <a:srgbClr val="6E7781"/>
                </a:solidFill>
                <a:latin typeface="Calibri" pitchFamily="34" charset="0"/>
                <a:ea typeface="Calibri" pitchFamily="34" charset="-122"/>
                <a:cs typeface="Calibri" pitchFamily="34" charset="-120"/>
              </a:rPr>
              <a:t>THE REPOSITORY</a:t>
            </a:r>
            <a:endParaRPr lang="en-US" sz="950" dirty="0"/>
          </a:p>
        </p:txBody>
      </p:sp>
      <p:sp>
        <p:nvSpPr>
          <p:cNvPr id="26" name="Text 24"/>
          <p:cNvSpPr/>
          <p:nvPr/>
        </p:nvSpPr>
        <p:spPr>
          <a:xfrm>
            <a:off x="8467344" y="1938528"/>
            <a:ext cx="1920240" cy="219456"/>
          </a:xfrm>
          <a:prstGeom prst="rect">
            <a:avLst/>
          </a:prstGeom>
          <a:noFill/>
          <a:ln/>
        </p:spPr>
        <p:txBody>
          <a:bodyPr wrap="square" lIns="0" tIns="0" rIns="0" bIns="0" rtlCol="0" anchor="ctr"/>
          <a:lstStyle/>
          <a:p>
            <a:pPr marL="0" indent="0">
              <a:buNone/>
            </a:pPr>
            <a:r>
              <a:rPr lang="en-US" sz="900" b="1" dirty="0">
                <a:solidFill>
                  <a:srgbClr val="1C1F26"/>
                </a:solidFill>
                <a:latin typeface="Courier New" pitchFamily="34" charset="0"/>
                <a:ea typeface="Courier New" pitchFamily="34" charset="-122"/>
                <a:cs typeface="Courier New" pitchFamily="34" charset="-120"/>
              </a:rPr>
              <a:t>README.md</a:t>
            </a:r>
            <a:endParaRPr lang="en-US" sz="900" dirty="0"/>
          </a:p>
        </p:txBody>
      </p:sp>
      <p:sp>
        <p:nvSpPr>
          <p:cNvPr id="27" name="Text 25"/>
          <p:cNvSpPr/>
          <p:nvPr/>
        </p:nvSpPr>
        <p:spPr>
          <a:xfrm>
            <a:off x="10351008" y="1938528"/>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reading order</a:t>
            </a:r>
            <a:endParaRPr lang="en-US" sz="850" dirty="0"/>
          </a:p>
        </p:txBody>
      </p:sp>
      <p:sp>
        <p:nvSpPr>
          <p:cNvPr id="28" name="Text 26"/>
          <p:cNvSpPr/>
          <p:nvPr/>
        </p:nvSpPr>
        <p:spPr>
          <a:xfrm>
            <a:off x="8467344" y="2194560"/>
            <a:ext cx="1920240" cy="219456"/>
          </a:xfrm>
          <a:prstGeom prst="rect">
            <a:avLst/>
          </a:prstGeom>
          <a:noFill/>
          <a:ln/>
        </p:spPr>
        <p:txBody>
          <a:bodyPr wrap="square" lIns="0" tIns="0" rIns="0" bIns="0" rtlCol="0" anchor="ctr"/>
          <a:lstStyle/>
          <a:p>
            <a:pPr marL="0" indent="0">
              <a:buNone/>
            </a:pPr>
            <a:r>
              <a:rPr lang="en-US" sz="900" b="1" dirty="0">
                <a:solidFill>
                  <a:srgbClr val="1C1F26"/>
                </a:solidFill>
                <a:latin typeface="Courier New" pitchFamily="34" charset="0"/>
                <a:ea typeface="Courier New" pitchFamily="34" charset="-122"/>
                <a:cs typeface="Courier New" pitchFamily="34" charset="-120"/>
              </a:rPr>
              <a:t>docs/</a:t>
            </a:r>
            <a:endParaRPr lang="en-US" sz="900" dirty="0"/>
          </a:p>
        </p:txBody>
      </p:sp>
      <p:sp>
        <p:nvSpPr>
          <p:cNvPr id="29" name="Text 27"/>
          <p:cNvSpPr/>
          <p:nvPr/>
        </p:nvSpPr>
        <p:spPr>
          <a:xfrm>
            <a:off x="10351008" y="2194560"/>
            <a:ext cx="960120" cy="219456"/>
          </a:xfrm>
          <a:prstGeom prst="rect">
            <a:avLst/>
          </a:prstGeom>
          <a:noFill/>
          <a:ln/>
        </p:spPr>
        <p:txBody>
          <a:bodyPr wrap="square" lIns="0" tIns="0" rIns="0" bIns="0" rtlCol="0" anchor="ctr"/>
          <a:lstStyle/>
          <a:p>
            <a:pPr marL="0" indent="0" algn="r">
              <a:buNone/>
            </a:pPr>
            <a:endParaRPr lang="en-US" sz="850" dirty="0"/>
          </a:p>
        </p:txBody>
      </p:sp>
      <p:sp>
        <p:nvSpPr>
          <p:cNvPr id="30" name="Text 28"/>
          <p:cNvSpPr/>
          <p:nvPr/>
        </p:nvSpPr>
        <p:spPr>
          <a:xfrm>
            <a:off x="8467344" y="2450592"/>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00  cto-response</a:t>
            </a:r>
            <a:endParaRPr lang="en-US" sz="900" dirty="0"/>
          </a:p>
        </p:txBody>
      </p:sp>
      <p:sp>
        <p:nvSpPr>
          <p:cNvPr id="31" name="Text 29"/>
          <p:cNvSpPr/>
          <p:nvPr/>
        </p:nvSpPr>
        <p:spPr>
          <a:xfrm>
            <a:off x="10351008" y="2450592"/>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the reply</a:t>
            </a:r>
            <a:endParaRPr lang="en-US" sz="850" dirty="0"/>
          </a:p>
        </p:txBody>
      </p:sp>
      <p:sp>
        <p:nvSpPr>
          <p:cNvPr id="32" name="Text 30"/>
          <p:cNvSpPr/>
          <p:nvPr/>
        </p:nvSpPr>
        <p:spPr>
          <a:xfrm>
            <a:off x="8467344" y="2706624"/>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01  delivery-plan</a:t>
            </a:r>
            <a:endParaRPr lang="en-US" sz="900" dirty="0"/>
          </a:p>
        </p:txBody>
      </p:sp>
      <p:sp>
        <p:nvSpPr>
          <p:cNvPr id="33" name="Text 31"/>
          <p:cNvSpPr/>
          <p:nvPr/>
        </p:nvSpPr>
        <p:spPr>
          <a:xfrm>
            <a:off x="10351008" y="2706624"/>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the plan</a:t>
            </a:r>
            <a:endParaRPr lang="en-US" sz="850" dirty="0"/>
          </a:p>
        </p:txBody>
      </p:sp>
      <p:sp>
        <p:nvSpPr>
          <p:cNvPr id="34" name="Text 32"/>
          <p:cNvSpPr/>
          <p:nvPr/>
        </p:nvSpPr>
        <p:spPr>
          <a:xfrm>
            <a:off x="8467344" y="2962656"/>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02  scope-decisions</a:t>
            </a:r>
            <a:endParaRPr lang="en-US" sz="900" dirty="0"/>
          </a:p>
        </p:txBody>
      </p:sp>
      <p:sp>
        <p:nvSpPr>
          <p:cNvPr id="35" name="Text 33"/>
          <p:cNvSpPr/>
          <p:nvPr/>
        </p:nvSpPr>
        <p:spPr>
          <a:xfrm>
            <a:off x="10351008" y="2962656"/>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12 calls</a:t>
            </a:r>
            <a:endParaRPr lang="en-US" sz="850" dirty="0"/>
          </a:p>
        </p:txBody>
      </p:sp>
      <p:sp>
        <p:nvSpPr>
          <p:cNvPr id="36" name="Text 34"/>
          <p:cNvSpPr/>
          <p:nvPr/>
        </p:nvSpPr>
        <p:spPr>
          <a:xfrm>
            <a:off x="8467344" y="3218688"/>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03  demo-date-branch</a:t>
            </a:r>
            <a:endParaRPr lang="en-US" sz="900" dirty="0"/>
          </a:p>
        </p:txBody>
      </p:sp>
      <p:sp>
        <p:nvSpPr>
          <p:cNvPr id="37" name="Text 35"/>
          <p:cNvSpPr/>
          <p:nvPr/>
        </p:nvSpPr>
        <p:spPr>
          <a:xfrm>
            <a:off x="10351008" y="3218688"/>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A / B</a:t>
            </a:r>
            <a:endParaRPr lang="en-US" sz="850" dirty="0"/>
          </a:p>
        </p:txBody>
      </p:sp>
      <p:sp>
        <p:nvSpPr>
          <p:cNvPr id="38" name="Text 36"/>
          <p:cNvSpPr/>
          <p:nvPr/>
        </p:nvSpPr>
        <p:spPr>
          <a:xfrm>
            <a:off x="8467344" y="3474720"/>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04  critical-path</a:t>
            </a:r>
            <a:endParaRPr lang="en-US" sz="900" dirty="0"/>
          </a:p>
        </p:txBody>
      </p:sp>
      <p:sp>
        <p:nvSpPr>
          <p:cNvPr id="39" name="Text 37"/>
          <p:cNvSpPr/>
          <p:nvPr/>
        </p:nvSpPr>
        <p:spPr>
          <a:xfrm>
            <a:off x="10351008" y="3474720"/>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diagram</a:t>
            </a:r>
            <a:endParaRPr lang="en-US" sz="850" dirty="0"/>
          </a:p>
        </p:txBody>
      </p:sp>
      <p:sp>
        <p:nvSpPr>
          <p:cNvPr id="40" name="Text 38"/>
          <p:cNvSpPr/>
          <p:nvPr/>
        </p:nvSpPr>
        <p:spPr>
          <a:xfrm>
            <a:off x="8467344" y="3730752"/>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05  estimation</a:t>
            </a:r>
            <a:endParaRPr lang="en-US" sz="900" dirty="0"/>
          </a:p>
        </p:txBody>
      </p:sp>
      <p:sp>
        <p:nvSpPr>
          <p:cNvPr id="41" name="Text 39"/>
          <p:cNvSpPr/>
          <p:nvPr/>
        </p:nvSpPr>
        <p:spPr>
          <a:xfrm>
            <a:off x="10351008" y="3730752"/>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multipliers</a:t>
            </a:r>
            <a:endParaRPr lang="en-US" sz="850" dirty="0"/>
          </a:p>
        </p:txBody>
      </p:sp>
      <p:sp>
        <p:nvSpPr>
          <p:cNvPr id="42" name="Text 40"/>
          <p:cNvSpPr/>
          <p:nvPr/>
        </p:nvSpPr>
        <p:spPr>
          <a:xfrm>
            <a:off x="8467344" y="3986784"/>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06  b-pass-robotics</a:t>
            </a:r>
            <a:endParaRPr lang="en-US" sz="900" dirty="0"/>
          </a:p>
        </p:txBody>
      </p:sp>
      <p:sp>
        <p:nvSpPr>
          <p:cNvPr id="43" name="Text 41"/>
          <p:cNvSpPr/>
          <p:nvPr/>
        </p:nvSpPr>
        <p:spPr>
          <a:xfrm>
            <a:off x="10351008" y="3986784"/>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the pass</a:t>
            </a:r>
            <a:endParaRPr lang="en-US" sz="850" dirty="0"/>
          </a:p>
        </p:txBody>
      </p:sp>
      <p:sp>
        <p:nvSpPr>
          <p:cNvPr id="44" name="Text 42"/>
          <p:cNvSpPr/>
          <p:nvPr/>
        </p:nvSpPr>
        <p:spPr>
          <a:xfrm>
            <a:off x="8467344" y="4242816"/>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stories.md</a:t>
            </a:r>
            <a:endParaRPr lang="en-US" sz="900" dirty="0"/>
          </a:p>
        </p:txBody>
      </p:sp>
      <p:sp>
        <p:nvSpPr>
          <p:cNvPr id="45" name="Text 43"/>
          <p:cNvSpPr/>
          <p:nvPr/>
        </p:nvSpPr>
        <p:spPr>
          <a:xfrm>
            <a:off x="10351008" y="4242816"/>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revised set</a:t>
            </a:r>
            <a:endParaRPr lang="en-US" sz="850" dirty="0"/>
          </a:p>
        </p:txBody>
      </p:sp>
      <p:sp>
        <p:nvSpPr>
          <p:cNvPr id="46" name="Text 44"/>
          <p:cNvSpPr/>
          <p:nvPr/>
        </p:nvSpPr>
        <p:spPr>
          <a:xfrm>
            <a:off x="8467344" y="4498848"/>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firmware-schema</a:t>
            </a:r>
            <a:endParaRPr lang="en-US" sz="900" dirty="0"/>
          </a:p>
        </p:txBody>
      </p:sp>
      <p:sp>
        <p:nvSpPr>
          <p:cNvPr id="47" name="Text 45"/>
          <p:cNvSpPr/>
          <p:nvPr/>
        </p:nvSpPr>
        <p:spPr>
          <a:xfrm>
            <a:off x="10351008" y="4498848"/>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the contract</a:t>
            </a:r>
            <a:endParaRPr lang="en-US" sz="850" dirty="0"/>
          </a:p>
        </p:txBody>
      </p:sp>
      <p:sp>
        <p:nvSpPr>
          <p:cNvPr id="48" name="Text 46"/>
          <p:cNvSpPr/>
          <p:nvPr/>
        </p:nvSpPr>
        <p:spPr>
          <a:xfrm>
            <a:off x="8467344" y="4754880"/>
            <a:ext cx="1920240" cy="219456"/>
          </a:xfrm>
          <a:prstGeom prst="rect">
            <a:avLst/>
          </a:prstGeom>
          <a:noFill/>
          <a:ln/>
        </p:spPr>
        <p:txBody>
          <a:bodyPr wrap="square" lIns="0" tIns="0" rIns="0" bIns="0" rtlCol="0" anchor="ctr"/>
          <a:lstStyle/>
          <a:p>
            <a:pPr marL="0" indent="0">
              <a:buNone/>
            </a:pPr>
            <a:r>
              <a:rPr lang="en-US" sz="900" b="1" dirty="0">
                <a:solidFill>
                  <a:srgbClr val="1C1F26"/>
                </a:solidFill>
                <a:latin typeface="Courier New" pitchFamily="34" charset="0"/>
                <a:ea typeface="Courier New" pitchFamily="34" charset="-122"/>
                <a:cs typeface="Courier New" pitchFamily="34" charset="-120"/>
              </a:rPr>
              <a:t>slices/</a:t>
            </a:r>
            <a:endParaRPr lang="en-US" sz="900" dirty="0"/>
          </a:p>
        </p:txBody>
      </p:sp>
      <p:sp>
        <p:nvSpPr>
          <p:cNvPr id="49" name="Text 47"/>
          <p:cNvSpPr/>
          <p:nvPr/>
        </p:nvSpPr>
        <p:spPr>
          <a:xfrm>
            <a:off x="10351008" y="4754880"/>
            <a:ext cx="960120" cy="219456"/>
          </a:xfrm>
          <a:prstGeom prst="rect">
            <a:avLst/>
          </a:prstGeom>
          <a:noFill/>
          <a:ln/>
        </p:spPr>
        <p:txBody>
          <a:bodyPr wrap="square" lIns="0" tIns="0" rIns="0" bIns="0" rtlCol="0" anchor="ctr"/>
          <a:lstStyle/>
          <a:p>
            <a:pPr marL="0" indent="0" algn="r">
              <a:buNone/>
            </a:pPr>
            <a:endParaRPr lang="en-US" sz="850" dirty="0"/>
          </a:p>
        </p:txBody>
      </p:sp>
      <p:sp>
        <p:nvSpPr>
          <p:cNvPr id="50" name="Text 48"/>
          <p:cNvSpPr/>
          <p:nvPr/>
        </p:nvSpPr>
        <p:spPr>
          <a:xfrm>
            <a:off x="8467344" y="5010912"/>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estop-audit</a:t>
            </a:r>
            <a:endParaRPr lang="en-US" sz="900" dirty="0"/>
          </a:p>
        </p:txBody>
      </p:sp>
      <p:sp>
        <p:nvSpPr>
          <p:cNvPr id="51" name="Text 49"/>
          <p:cNvSpPr/>
          <p:nvPr/>
        </p:nvSpPr>
        <p:spPr>
          <a:xfrm>
            <a:off x="10351008" y="5010912"/>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Python</a:t>
            </a:r>
            <a:endParaRPr lang="en-US" sz="850" dirty="0"/>
          </a:p>
        </p:txBody>
      </p:sp>
      <p:sp>
        <p:nvSpPr>
          <p:cNvPr id="52" name="Text 50"/>
          <p:cNvSpPr/>
          <p:nvPr/>
        </p:nvSpPr>
        <p:spPr>
          <a:xfrm>
            <a:off x="8467344" y="5266944"/>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revision-impact</a:t>
            </a:r>
            <a:endParaRPr lang="en-US" sz="900" dirty="0"/>
          </a:p>
        </p:txBody>
      </p:sp>
      <p:sp>
        <p:nvSpPr>
          <p:cNvPr id="53" name="Text 51"/>
          <p:cNvSpPr/>
          <p:nvPr/>
        </p:nvSpPr>
        <p:spPr>
          <a:xfrm>
            <a:off x="10351008" y="5266944"/>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TypeScript</a:t>
            </a:r>
            <a:endParaRPr lang="en-US" sz="850" dirty="0"/>
          </a:p>
        </p:txBody>
      </p:sp>
      <p:sp>
        <p:nvSpPr>
          <p:cNvPr id="54" name="Text 52"/>
          <p:cNvSpPr/>
          <p:nvPr/>
        </p:nvSpPr>
        <p:spPr>
          <a:xfrm>
            <a:off x="640080" y="6309360"/>
            <a:ext cx="10881360" cy="292608"/>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Ten minutes: 00, then 04, then 03. That is the plan; everything else is the working.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Two chains not traced</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Both were under-costed, by different people, and they converge on one event.</a:t>
            </a:r>
            <a:endParaRPr lang="en-US" sz="1400" dirty="0"/>
          </a:p>
        </p:txBody>
      </p:sp>
      <p:sp>
        <p:nvSpPr>
          <p:cNvPr id="6" name="Text 4"/>
          <p:cNvSpPr/>
          <p:nvPr/>
        </p:nvSpPr>
        <p:spPr>
          <a:xfrm>
            <a:off x="640080" y="1298448"/>
            <a:ext cx="4572000" cy="237744"/>
          </a:xfrm>
          <a:prstGeom prst="rect">
            <a:avLst/>
          </a:prstGeom>
          <a:noFill/>
          <a:ln/>
        </p:spPr>
        <p:txBody>
          <a:bodyPr wrap="square" lIns="0" tIns="0" rIns="0" bIns="0" rtlCol="0" anchor="ctr"/>
          <a:lstStyle/>
          <a:p>
            <a:pPr marL="0" indent="0">
              <a:buNone/>
            </a:pPr>
            <a:r>
              <a:rPr lang="en-US" sz="1050" b="1" kern="0" spc="120" dirty="0">
                <a:solidFill>
                  <a:srgbClr val="6E7781"/>
                </a:solidFill>
                <a:latin typeface="Calibri" pitchFamily="34" charset="0"/>
                <a:ea typeface="Calibri" pitchFamily="34" charset="-122"/>
                <a:cs typeface="Calibri" pitchFamily="34" charset="-120"/>
              </a:rPr>
              <a:t>SOFTWARE CHAIN</a:t>
            </a:r>
            <a:endParaRPr lang="en-US" sz="1050" dirty="0"/>
          </a:p>
        </p:txBody>
      </p:sp>
      <p:sp>
        <p:nvSpPr>
          <p:cNvPr id="7" name="Shape 5"/>
          <p:cNvSpPr/>
          <p:nvPr/>
        </p:nvSpPr>
        <p:spPr>
          <a:xfrm>
            <a:off x="822960" y="1591056"/>
            <a:ext cx="1508760" cy="402336"/>
          </a:xfrm>
          <a:prstGeom prst="rect">
            <a:avLst/>
          </a:prstGeom>
          <a:solidFill>
            <a:srgbClr val="A32020"/>
          </a:solidFill>
          <a:ln/>
        </p:spPr>
        <p:txBody>
          <a:bodyPr/>
          <a:lstStyle/>
          <a:p>
            <a:endParaRPr lang="en-US"/>
          </a:p>
        </p:txBody>
      </p:sp>
      <p:sp>
        <p:nvSpPr>
          <p:cNvPr id="8" name="Text 6"/>
          <p:cNvSpPr/>
          <p:nvPr/>
        </p:nvSpPr>
        <p:spPr>
          <a:xfrm>
            <a:off x="877824" y="1591056"/>
            <a:ext cx="139903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a2  e-stop logging</a:t>
            </a:r>
            <a:endParaRPr lang="en-US" sz="1050" dirty="0"/>
          </a:p>
        </p:txBody>
      </p:sp>
      <p:sp>
        <p:nvSpPr>
          <p:cNvPr id="9" name="Shape 7"/>
          <p:cNvSpPr/>
          <p:nvPr/>
        </p:nvSpPr>
        <p:spPr>
          <a:xfrm>
            <a:off x="2331720" y="1591056"/>
            <a:ext cx="1508760" cy="402336"/>
          </a:xfrm>
          <a:prstGeom prst="rect">
            <a:avLst/>
          </a:prstGeom>
          <a:solidFill>
            <a:srgbClr val="A32020"/>
          </a:solidFill>
          <a:ln/>
        </p:spPr>
        <p:txBody>
          <a:bodyPr/>
          <a:lstStyle/>
          <a:p>
            <a:endParaRPr lang="en-US"/>
          </a:p>
        </p:txBody>
      </p:sp>
      <p:sp>
        <p:nvSpPr>
          <p:cNvPr id="10" name="Text 8"/>
          <p:cNvSpPr/>
          <p:nvPr/>
        </p:nvSpPr>
        <p:spPr>
          <a:xfrm>
            <a:off x="2386584" y="1591056"/>
            <a:ext cx="139903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a3  stop response</a:t>
            </a:r>
            <a:endParaRPr lang="en-US" sz="1050" dirty="0"/>
          </a:p>
        </p:txBody>
      </p:sp>
      <p:sp>
        <p:nvSpPr>
          <p:cNvPr id="11" name="Shape 9"/>
          <p:cNvSpPr/>
          <p:nvPr/>
        </p:nvSpPr>
        <p:spPr>
          <a:xfrm>
            <a:off x="3840480" y="1591056"/>
            <a:ext cx="2011680" cy="402336"/>
          </a:xfrm>
          <a:prstGeom prst="rect">
            <a:avLst/>
          </a:prstGeom>
          <a:solidFill>
            <a:srgbClr val="C9C2B6"/>
          </a:solidFill>
          <a:ln/>
        </p:spPr>
        <p:txBody>
          <a:bodyPr/>
          <a:lstStyle/>
          <a:p>
            <a:endParaRPr lang="en-US"/>
          </a:p>
        </p:txBody>
      </p:sp>
      <p:sp>
        <p:nvSpPr>
          <p:cNvPr id="12" name="Text 10"/>
          <p:cNvSpPr/>
          <p:nvPr/>
        </p:nvSpPr>
        <p:spPr>
          <a:xfrm>
            <a:off x="3895344" y="1591056"/>
            <a:ext cx="1901952" cy="402336"/>
          </a:xfrm>
          <a:prstGeom prst="rect">
            <a:avLst/>
          </a:prstGeom>
          <a:noFill/>
          <a:ln/>
        </p:spPr>
        <p:txBody>
          <a:bodyPr wrap="square" lIns="0" tIns="0" rIns="0" bIns="0" rtlCol="0" anchor="ctr"/>
          <a:lstStyle/>
          <a:p>
            <a:pPr marL="0" indent="0">
              <a:buNone/>
            </a:pPr>
            <a:r>
              <a:rPr lang="en-US" sz="1050" dirty="0">
                <a:solidFill>
                  <a:srgbClr val="1C1F26"/>
                </a:solidFill>
                <a:latin typeface="Calibri" pitchFamily="34" charset="0"/>
                <a:ea typeface="Calibri" pitchFamily="34" charset="-122"/>
                <a:cs typeface="Calibri" pitchFamily="34" charset="-120"/>
              </a:rPr>
              <a:t>float — 9 days reserve</a:t>
            </a:r>
            <a:endParaRPr lang="en-US" sz="1050" dirty="0"/>
          </a:p>
        </p:txBody>
      </p:sp>
      <p:sp>
        <p:nvSpPr>
          <p:cNvPr id="13" name="Text 11"/>
          <p:cNvSpPr/>
          <p:nvPr/>
        </p:nvSpPr>
        <p:spPr>
          <a:xfrm>
            <a:off x="640080" y="2157984"/>
            <a:ext cx="4572000" cy="237744"/>
          </a:xfrm>
          <a:prstGeom prst="rect">
            <a:avLst/>
          </a:prstGeom>
          <a:noFill/>
          <a:ln/>
        </p:spPr>
        <p:txBody>
          <a:bodyPr wrap="square" lIns="0" tIns="0" rIns="0" bIns="0" rtlCol="0" anchor="ctr"/>
          <a:lstStyle/>
          <a:p>
            <a:pPr marL="0" indent="0">
              <a:buNone/>
            </a:pPr>
            <a:r>
              <a:rPr lang="en-US" sz="1050" b="1" kern="0" spc="120" dirty="0">
                <a:solidFill>
                  <a:srgbClr val="6E7781"/>
                </a:solidFill>
                <a:latin typeface="Calibri" pitchFamily="34" charset="0"/>
                <a:ea typeface="Calibri" pitchFamily="34" charset="-122"/>
                <a:cs typeface="Calibri" pitchFamily="34" charset="-120"/>
              </a:rPr>
              <a:t>FIRMWARE CHAIN — binding</a:t>
            </a:r>
            <a:endParaRPr lang="en-US" sz="1050" dirty="0"/>
          </a:p>
        </p:txBody>
      </p:sp>
      <p:sp>
        <p:nvSpPr>
          <p:cNvPr id="14" name="Shape 12"/>
          <p:cNvSpPr/>
          <p:nvPr/>
        </p:nvSpPr>
        <p:spPr>
          <a:xfrm>
            <a:off x="3337560" y="2450592"/>
            <a:ext cx="1257300" cy="402336"/>
          </a:xfrm>
          <a:prstGeom prst="rect">
            <a:avLst/>
          </a:prstGeom>
          <a:solidFill>
            <a:srgbClr val="B8621B"/>
          </a:solidFill>
          <a:ln/>
        </p:spPr>
        <p:txBody>
          <a:bodyPr/>
          <a:lstStyle/>
          <a:p>
            <a:endParaRPr lang="en-US"/>
          </a:p>
        </p:txBody>
      </p:sp>
      <p:sp>
        <p:nvSpPr>
          <p:cNvPr id="15" name="Text 13"/>
          <p:cNvSpPr/>
          <p:nvPr/>
        </p:nvSpPr>
        <p:spPr>
          <a:xfrm>
            <a:off x="3392424" y="2450592"/>
            <a:ext cx="114757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v4.2a  stop path</a:t>
            </a:r>
            <a:endParaRPr lang="en-US" sz="1050" dirty="0"/>
          </a:p>
        </p:txBody>
      </p:sp>
      <p:sp>
        <p:nvSpPr>
          <p:cNvPr id="16" name="Shape 14"/>
          <p:cNvSpPr/>
          <p:nvPr/>
        </p:nvSpPr>
        <p:spPr>
          <a:xfrm>
            <a:off x="4594860" y="2450592"/>
            <a:ext cx="628650" cy="402336"/>
          </a:xfrm>
          <a:prstGeom prst="rect">
            <a:avLst/>
          </a:prstGeom>
          <a:solidFill>
            <a:srgbClr val="B8621B"/>
          </a:solidFill>
          <a:ln/>
        </p:spPr>
        <p:txBody>
          <a:bodyPr/>
          <a:lstStyle/>
          <a:p>
            <a:endParaRPr lang="en-US"/>
          </a:p>
        </p:txBody>
      </p:sp>
      <p:sp>
        <p:nvSpPr>
          <p:cNvPr id="17" name="Text 15"/>
          <p:cNvSpPr/>
          <p:nvPr/>
        </p:nvSpPr>
        <p:spPr>
          <a:xfrm>
            <a:off x="4649724" y="2450592"/>
            <a:ext cx="51892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bench</a:t>
            </a:r>
            <a:endParaRPr lang="en-US" sz="1050" dirty="0"/>
          </a:p>
        </p:txBody>
      </p:sp>
      <p:sp>
        <p:nvSpPr>
          <p:cNvPr id="18" name="Shape 16"/>
          <p:cNvSpPr/>
          <p:nvPr/>
        </p:nvSpPr>
        <p:spPr>
          <a:xfrm>
            <a:off x="5223510" y="2450592"/>
            <a:ext cx="628650" cy="402336"/>
          </a:xfrm>
          <a:prstGeom prst="rect">
            <a:avLst/>
          </a:prstGeom>
          <a:solidFill>
            <a:srgbClr val="B8621B"/>
          </a:solidFill>
          <a:ln/>
        </p:spPr>
        <p:txBody>
          <a:bodyPr/>
          <a:lstStyle/>
          <a:p>
            <a:endParaRPr lang="en-US"/>
          </a:p>
        </p:txBody>
      </p:sp>
      <p:sp>
        <p:nvSpPr>
          <p:cNvPr id="19" name="Text 17"/>
          <p:cNvSpPr/>
          <p:nvPr/>
        </p:nvSpPr>
        <p:spPr>
          <a:xfrm>
            <a:off x="5278374" y="2450592"/>
            <a:ext cx="51892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deploy</a:t>
            </a:r>
            <a:endParaRPr lang="en-US" sz="1050" dirty="0"/>
          </a:p>
        </p:txBody>
      </p:sp>
      <p:sp>
        <p:nvSpPr>
          <p:cNvPr id="20" name="Text 18"/>
          <p:cNvSpPr/>
          <p:nvPr/>
        </p:nvSpPr>
        <p:spPr>
          <a:xfrm>
            <a:off x="640080" y="3017520"/>
            <a:ext cx="4572000" cy="237744"/>
          </a:xfrm>
          <a:prstGeom prst="rect">
            <a:avLst/>
          </a:prstGeom>
          <a:noFill/>
          <a:ln/>
        </p:spPr>
        <p:txBody>
          <a:bodyPr wrap="square" lIns="0" tIns="0" rIns="0" bIns="0" rtlCol="0" anchor="ctr"/>
          <a:lstStyle/>
          <a:p>
            <a:pPr marL="0" indent="0">
              <a:buNone/>
            </a:pPr>
            <a:r>
              <a:rPr lang="en-US" sz="1050" b="1" kern="0" spc="120" dirty="0">
                <a:solidFill>
                  <a:srgbClr val="6E7781"/>
                </a:solidFill>
                <a:latin typeface="Calibri" pitchFamily="34" charset="0"/>
                <a:ea typeface="Calibri" pitchFamily="34" charset="-122"/>
                <a:cs typeface="Calibri" pitchFamily="34" charset="-120"/>
              </a:rPr>
              <a:t>THE GATE</a:t>
            </a:r>
            <a:endParaRPr lang="en-US" sz="1050" dirty="0"/>
          </a:p>
        </p:txBody>
      </p:sp>
      <p:sp>
        <p:nvSpPr>
          <p:cNvPr id="21" name="Shape 19"/>
          <p:cNvSpPr/>
          <p:nvPr/>
        </p:nvSpPr>
        <p:spPr>
          <a:xfrm>
            <a:off x="5852160" y="3310128"/>
            <a:ext cx="1257300" cy="402336"/>
          </a:xfrm>
          <a:prstGeom prst="rect">
            <a:avLst/>
          </a:prstGeom>
          <a:solidFill>
            <a:srgbClr val="A32020"/>
          </a:solidFill>
          <a:ln/>
        </p:spPr>
        <p:txBody>
          <a:bodyPr/>
          <a:lstStyle/>
          <a:p>
            <a:endParaRPr lang="en-US"/>
          </a:p>
        </p:txBody>
      </p:sp>
      <p:sp>
        <p:nvSpPr>
          <p:cNvPr id="22" name="Text 20"/>
          <p:cNvSpPr/>
          <p:nvPr/>
        </p:nvSpPr>
        <p:spPr>
          <a:xfrm>
            <a:off x="5907024" y="3310128"/>
            <a:ext cx="114757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a5  cell re-test</a:t>
            </a:r>
            <a:endParaRPr lang="en-US" sz="1050" dirty="0"/>
          </a:p>
        </p:txBody>
      </p:sp>
      <p:sp>
        <p:nvSpPr>
          <p:cNvPr id="23" name="Shape 21"/>
          <p:cNvSpPr/>
          <p:nvPr/>
        </p:nvSpPr>
        <p:spPr>
          <a:xfrm>
            <a:off x="7360920" y="3310128"/>
            <a:ext cx="2514600" cy="402336"/>
          </a:xfrm>
          <a:prstGeom prst="rect">
            <a:avLst/>
          </a:prstGeom>
          <a:solidFill>
            <a:srgbClr val="1C1F26"/>
          </a:solidFill>
          <a:ln/>
        </p:spPr>
        <p:txBody>
          <a:bodyPr/>
          <a:lstStyle/>
          <a:p>
            <a:endParaRPr lang="en-US"/>
          </a:p>
        </p:txBody>
      </p:sp>
      <p:sp>
        <p:nvSpPr>
          <p:cNvPr id="24" name="Text 22"/>
          <p:cNvSpPr/>
          <p:nvPr/>
        </p:nvSpPr>
        <p:spPr>
          <a:xfrm>
            <a:off x="7415784" y="3310128"/>
            <a:ext cx="240487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a7  inspector — EXTERNAL, 10 working days</a:t>
            </a:r>
            <a:endParaRPr lang="en-US" sz="1050" dirty="0"/>
          </a:p>
        </p:txBody>
      </p:sp>
      <p:sp>
        <p:nvSpPr>
          <p:cNvPr id="25" name="Text 23"/>
          <p:cNvSpPr/>
          <p:nvPr/>
        </p:nvSpPr>
        <p:spPr>
          <a:xfrm>
            <a:off x="3017520" y="2011680"/>
            <a:ext cx="822960" cy="365760"/>
          </a:xfrm>
          <a:prstGeom prst="rect">
            <a:avLst/>
          </a:prstGeom>
          <a:noFill/>
          <a:ln/>
        </p:spPr>
        <p:txBody>
          <a:bodyPr wrap="square" lIns="0" tIns="0" rIns="0" bIns="0" rtlCol="0" anchor="ctr"/>
          <a:lstStyle/>
          <a:p>
            <a:pPr marL="0" indent="0" algn="ctr">
              <a:buNone/>
            </a:pPr>
            <a:r>
              <a:rPr lang="en-US" sz="900" dirty="0">
                <a:solidFill>
                  <a:srgbClr val="6E7781"/>
                </a:solidFill>
                <a:latin typeface="Calibri" pitchFamily="34" charset="0"/>
                <a:ea typeface="Calibri" pitchFamily="34" charset="-122"/>
                <a:cs typeface="Calibri" pitchFamily="34" charset="-120"/>
              </a:rPr>
              <a:t>boards</a:t>
            </a:r>
            <a:endParaRPr lang="en-US" sz="900" dirty="0"/>
          </a:p>
          <a:p>
            <a:pPr marL="0" indent="0" algn="ctr">
              <a:buNone/>
            </a:pPr>
            <a:r>
              <a:rPr lang="en-US" sz="900" dirty="0">
                <a:solidFill>
                  <a:srgbClr val="6E7781"/>
                </a:solidFill>
                <a:latin typeface="Calibri" pitchFamily="34" charset="0"/>
                <a:ea typeface="Calibri" pitchFamily="34" charset="-122"/>
                <a:cs typeface="Calibri" pitchFamily="34" charset="-120"/>
              </a:rPr>
              <a:t>arrive</a:t>
            </a:r>
            <a:endParaRPr lang="en-US" sz="900" dirty="0"/>
          </a:p>
        </p:txBody>
      </p:sp>
      <p:sp>
        <p:nvSpPr>
          <p:cNvPr id="26" name="Shape 24"/>
          <p:cNvSpPr/>
          <p:nvPr/>
        </p:nvSpPr>
        <p:spPr>
          <a:xfrm>
            <a:off x="7235190" y="1426464"/>
            <a:ext cx="22860" cy="2395728"/>
          </a:xfrm>
          <a:prstGeom prst="rect">
            <a:avLst/>
          </a:prstGeom>
          <a:solidFill>
            <a:srgbClr val="A32020"/>
          </a:solidFill>
          <a:ln/>
        </p:spPr>
        <p:txBody>
          <a:bodyPr/>
          <a:lstStyle/>
          <a:p>
            <a:endParaRPr lang="en-US"/>
          </a:p>
        </p:txBody>
      </p:sp>
      <p:sp>
        <p:nvSpPr>
          <p:cNvPr id="27" name="Text 25"/>
          <p:cNvSpPr/>
          <p:nvPr/>
        </p:nvSpPr>
        <p:spPr>
          <a:xfrm>
            <a:off x="6549390" y="3895344"/>
            <a:ext cx="1371600" cy="457200"/>
          </a:xfrm>
          <a:prstGeom prst="rect">
            <a:avLst/>
          </a:prstGeom>
          <a:noFill/>
          <a:ln/>
        </p:spPr>
        <p:txBody>
          <a:bodyPr wrap="square" lIns="0" tIns="0" rIns="0" bIns="0" rtlCol="0" anchor="ctr"/>
          <a:lstStyle/>
          <a:p>
            <a:pPr marL="0" indent="0" algn="ctr">
              <a:buNone/>
            </a:pPr>
            <a:r>
              <a:rPr lang="en-US" sz="950" b="1" dirty="0">
                <a:solidFill>
                  <a:srgbClr val="A32020"/>
                </a:solidFill>
                <a:latin typeface="Calibri" pitchFamily="34" charset="0"/>
                <a:ea typeface="Calibri" pitchFamily="34" charset="-122"/>
                <a:cs typeface="Calibri" pitchFamily="34" charset="-120"/>
              </a:rPr>
              <a:t>THE WALL</a:t>
            </a:r>
            <a:endParaRPr lang="en-US" sz="950" dirty="0"/>
          </a:p>
          <a:p>
            <a:pPr marL="0" indent="0" algn="ctr">
              <a:buNone/>
            </a:pPr>
            <a:r>
              <a:rPr lang="en-US" sz="950" b="1" dirty="0">
                <a:solidFill>
                  <a:srgbClr val="A32020"/>
                </a:solidFill>
                <a:latin typeface="Calibri" pitchFamily="34" charset="0"/>
                <a:ea typeface="Calibri" pitchFamily="34" charset="-122"/>
                <a:cs typeface="Calibri" pitchFamily="34" charset="-120"/>
              </a:rPr>
              <a:t>Wed 23 Sep</a:t>
            </a:r>
            <a:endParaRPr lang="en-US" sz="950" dirty="0"/>
          </a:p>
        </p:txBody>
      </p:sp>
      <p:sp>
        <p:nvSpPr>
          <p:cNvPr id="28" name="Shape 26"/>
          <p:cNvSpPr/>
          <p:nvPr/>
        </p:nvSpPr>
        <p:spPr>
          <a:xfrm>
            <a:off x="10755630" y="1426464"/>
            <a:ext cx="22860" cy="2395728"/>
          </a:xfrm>
          <a:prstGeom prst="rect">
            <a:avLst/>
          </a:prstGeom>
          <a:solidFill>
            <a:srgbClr val="1C1F26"/>
          </a:solidFill>
          <a:ln/>
        </p:spPr>
        <p:txBody>
          <a:bodyPr/>
          <a:lstStyle/>
          <a:p>
            <a:endParaRPr lang="en-US"/>
          </a:p>
        </p:txBody>
      </p:sp>
      <p:sp>
        <p:nvSpPr>
          <p:cNvPr id="29" name="Text 27"/>
          <p:cNvSpPr/>
          <p:nvPr/>
        </p:nvSpPr>
        <p:spPr>
          <a:xfrm>
            <a:off x="9932670" y="3895344"/>
            <a:ext cx="1371600" cy="457200"/>
          </a:xfrm>
          <a:prstGeom prst="rect">
            <a:avLst/>
          </a:prstGeom>
          <a:noFill/>
          <a:ln/>
        </p:spPr>
        <p:txBody>
          <a:bodyPr wrap="square" lIns="0" tIns="0" rIns="0" bIns="0" rtlCol="0" anchor="ctr"/>
          <a:lstStyle/>
          <a:p>
            <a:pPr marL="0" indent="0" algn="ctr">
              <a:buNone/>
            </a:pPr>
            <a:r>
              <a:rPr lang="en-US" sz="950" b="1" dirty="0">
                <a:solidFill>
                  <a:srgbClr val="1C1F26"/>
                </a:solidFill>
                <a:latin typeface="Calibri" pitchFamily="34" charset="0"/>
                <a:ea typeface="Calibri" pitchFamily="34" charset="-122"/>
                <a:cs typeface="Calibri" pitchFamily="34" charset="-120"/>
              </a:rPr>
              <a:t>DEMO</a:t>
            </a:r>
            <a:endParaRPr lang="en-US" sz="950" dirty="0"/>
          </a:p>
          <a:p>
            <a:pPr marL="0" indent="0" algn="ctr">
              <a:buNone/>
            </a:pPr>
            <a:r>
              <a:rPr lang="en-US" sz="950" b="1" dirty="0">
                <a:solidFill>
                  <a:srgbClr val="1C1F26"/>
                </a:solidFill>
                <a:latin typeface="Calibri" pitchFamily="34" charset="0"/>
                <a:ea typeface="Calibri" pitchFamily="34" charset="-122"/>
                <a:cs typeface="Calibri" pitchFamily="34" charset="-120"/>
              </a:rPr>
              <a:t>Mon 12 Oct</a:t>
            </a:r>
            <a:endParaRPr lang="en-US" sz="950" dirty="0"/>
          </a:p>
        </p:txBody>
      </p:sp>
      <p:sp>
        <p:nvSpPr>
          <p:cNvPr id="30" name="Shape 28"/>
          <p:cNvSpPr/>
          <p:nvPr/>
        </p:nvSpPr>
        <p:spPr>
          <a:xfrm>
            <a:off x="640080" y="4709160"/>
            <a:ext cx="5349240" cy="1371600"/>
          </a:xfrm>
          <a:prstGeom prst="rect">
            <a:avLst/>
          </a:prstGeom>
          <a:solidFill>
            <a:srgbClr val="FFFFFF"/>
          </a:solidFill>
          <a:ln w="12700">
            <a:solidFill>
              <a:srgbClr val="D8D2C9"/>
            </a:solidFill>
            <a:prstDash val="solid"/>
          </a:ln>
        </p:spPr>
        <p:txBody>
          <a:bodyPr/>
          <a:lstStyle/>
          <a:p>
            <a:endParaRPr lang="en-US"/>
          </a:p>
        </p:txBody>
      </p:sp>
      <p:sp>
        <p:nvSpPr>
          <p:cNvPr id="31" name="Text 29"/>
          <p:cNvSpPr/>
          <p:nvPr/>
        </p:nvSpPr>
        <p:spPr>
          <a:xfrm>
            <a:off x="859536" y="4864608"/>
            <a:ext cx="4937760" cy="384048"/>
          </a:xfrm>
          <a:prstGeom prst="rect">
            <a:avLst/>
          </a:prstGeom>
          <a:noFill/>
          <a:ln/>
        </p:spPr>
        <p:txBody>
          <a:bodyPr wrap="square" lIns="0" tIns="0" rIns="0" bIns="0" rtlCol="0" anchor="ctr"/>
          <a:lstStyle/>
          <a:p>
            <a:pPr marL="0" indent="0">
              <a:buNone/>
            </a:pPr>
            <a:r>
              <a:rPr lang="en-US" sz="1500" b="1" i="1" dirty="0">
                <a:solidFill>
                  <a:srgbClr val="1C1F26"/>
                </a:solidFill>
                <a:latin typeface="Cambria" pitchFamily="34" charset="0"/>
                <a:ea typeface="Cambria" pitchFamily="34" charset="-122"/>
                <a:cs typeface="Cambria" pitchFamily="34" charset="-120"/>
              </a:rPr>
              <a:t>"I don't think there's much in there."</a:t>
            </a:r>
            <a:endParaRPr lang="en-US" sz="1500" dirty="0"/>
          </a:p>
        </p:txBody>
      </p:sp>
      <p:sp>
        <p:nvSpPr>
          <p:cNvPr id="32" name="Text 30"/>
          <p:cNvSpPr/>
          <p:nvPr/>
        </p:nvSpPr>
        <p:spPr>
          <a:xfrm>
            <a:off x="859536" y="5285232"/>
            <a:ext cx="4937760" cy="65836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 CTO, on the site inspection actions. It is 24 working days with a 10-day external lead time on the end.</a:t>
            </a:r>
            <a:endParaRPr lang="en-US" sz="1150" dirty="0"/>
          </a:p>
        </p:txBody>
      </p:sp>
      <p:sp>
        <p:nvSpPr>
          <p:cNvPr id="33" name="Shape 31"/>
          <p:cNvSpPr/>
          <p:nvPr/>
        </p:nvSpPr>
        <p:spPr>
          <a:xfrm>
            <a:off x="6172200" y="4709160"/>
            <a:ext cx="5349240" cy="1371600"/>
          </a:xfrm>
          <a:prstGeom prst="rect">
            <a:avLst/>
          </a:prstGeom>
          <a:solidFill>
            <a:srgbClr val="FFFFFF"/>
          </a:solidFill>
          <a:ln w="12700">
            <a:solidFill>
              <a:srgbClr val="D8D2C9"/>
            </a:solidFill>
            <a:prstDash val="solid"/>
          </a:ln>
        </p:spPr>
        <p:txBody>
          <a:bodyPr/>
          <a:lstStyle/>
          <a:p>
            <a:endParaRPr lang="en-US"/>
          </a:p>
        </p:txBody>
      </p:sp>
      <p:sp>
        <p:nvSpPr>
          <p:cNvPr id="34" name="Text 32"/>
          <p:cNvSpPr/>
          <p:nvPr/>
        </p:nvSpPr>
        <p:spPr>
          <a:xfrm>
            <a:off x="6391656" y="4864608"/>
            <a:ext cx="4937760" cy="384048"/>
          </a:xfrm>
          <a:prstGeom prst="rect">
            <a:avLst/>
          </a:prstGeom>
          <a:noFill/>
          <a:ln/>
        </p:spPr>
        <p:txBody>
          <a:bodyPr wrap="square" lIns="0" tIns="0" rIns="0" bIns="0" rtlCol="0" anchor="ctr"/>
          <a:lstStyle/>
          <a:p>
            <a:pPr marL="0" indent="0">
              <a:buNone/>
            </a:pPr>
            <a:r>
              <a:rPr lang="en-US" sz="1500" b="1" i="1" dirty="0">
                <a:solidFill>
                  <a:srgbClr val="1C1F26"/>
                </a:solidFill>
                <a:latin typeface="Cambria" pitchFamily="34" charset="0"/>
                <a:ea typeface="Cambria" pitchFamily="34" charset="-122"/>
                <a:cs typeface="Cambria" pitchFamily="34" charset="-120"/>
              </a:rPr>
              <a:t>"Firmware is on the cell end of week 5."</a:t>
            </a:r>
            <a:endParaRPr lang="en-US" sz="1500" dirty="0"/>
          </a:p>
        </p:txBody>
      </p:sp>
      <p:sp>
        <p:nvSpPr>
          <p:cNvPr id="35" name="Text 33"/>
          <p:cNvSpPr/>
          <p:nvPr/>
        </p:nvSpPr>
        <p:spPr>
          <a:xfrm>
            <a:off x="6391656" y="5285232"/>
            <a:ext cx="4937760" cy="65836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 Chris, by email. His own attached plan (2.5w + 1.0w + 0.5w from week 3) says end of week 7.</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One question decides the shape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Asked in week one, before anyone has built anything. Not discovered in week six.</a:t>
            </a:r>
            <a:endParaRPr lang="en-US" sz="1400" dirty="0"/>
          </a:p>
        </p:txBody>
      </p:sp>
      <p:sp>
        <p:nvSpPr>
          <p:cNvPr id="6" name="Shape 4"/>
          <p:cNvSpPr/>
          <p:nvPr/>
        </p:nvSpPr>
        <p:spPr>
          <a:xfrm>
            <a:off x="640080" y="1371600"/>
            <a:ext cx="10881360" cy="1133856"/>
          </a:xfrm>
          <a:prstGeom prst="rect">
            <a:avLst/>
          </a:prstGeom>
          <a:solidFill>
            <a:srgbClr val="FFFFFF"/>
          </a:solidFill>
          <a:ln w="12700">
            <a:solidFill>
              <a:srgbClr val="B8621B"/>
            </a:solidFill>
            <a:prstDash val="solid"/>
          </a:ln>
        </p:spPr>
        <p:txBody>
          <a:bodyPr/>
          <a:lstStyle/>
          <a:p>
            <a:endParaRPr lang="en-US"/>
          </a:p>
        </p:txBody>
      </p:sp>
      <p:sp>
        <p:nvSpPr>
          <p:cNvPr id="7" name="Text 5"/>
          <p:cNvSpPr/>
          <p:nvPr/>
        </p:nvSpPr>
        <p:spPr>
          <a:xfrm>
            <a:off x="914400" y="1517904"/>
            <a:ext cx="10332720" cy="365760"/>
          </a:xfrm>
          <a:prstGeom prst="rect">
            <a:avLst/>
          </a:prstGeom>
          <a:noFill/>
          <a:ln/>
        </p:spPr>
        <p:txBody>
          <a:bodyPr wrap="square" lIns="0" tIns="0" rIns="0" bIns="0" rtlCol="0" anchor="ctr"/>
          <a:lstStyle/>
          <a:p>
            <a:pPr marL="0" indent="0">
              <a:buNone/>
            </a:pPr>
            <a:r>
              <a:rPr lang="en-US" sz="1400" b="1" dirty="0">
                <a:solidFill>
                  <a:srgbClr val="B8621B"/>
                </a:solidFill>
                <a:latin typeface="Calibri" pitchFamily="34" charset="0"/>
                <a:ea typeface="Calibri" pitchFamily="34" charset="-122"/>
                <a:cs typeface="Calibri" pitchFamily="34" charset="-120"/>
              </a:rPr>
              <a:t>Q-A  </a:t>
            </a:r>
            <a:r>
              <a:rPr lang="en-US" sz="1400" dirty="0">
                <a:solidFill>
                  <a:srgbClr val="1C1F26"/>
                </a:solidFill>
                <a:latin typeface="Calibri" pitchFamily="34" charset="0"/>
                <a:ea typeface="Calibri" pitchFamily="34" charset="-122"/>
                <a:cs typeface="Calibri" pitchFamily="34" charset="-120"/>
              </a:rPr>
              <a:t>Can v4.2 split so the stop path ships first and observability ships after sign-off?</a:t>
            </a:r>
            <a:endParaRPr lang="en-US" sz="1400" dirty="0"/>
          </a:p>
        </p:txBody>
      </p:sp>
      <p:sp>
        <p:nvSpPr>
          <p:cNvPr id="8" name="Text 6"/>
          <p:cNvSpPr/>
          <p:nvPr/>
        </p:nvSpPr>
        <p:spPr>
          <a:xfrm>
            <a:off x="914400" y="1883664"/>
            <a:ext cx="10332720" cy="365760"/>
          </a:xfrm>
          <a:prstGeom prst="rect">
            <a:avLst/>
          </a:prstGeom>
          <a:noFill/>
          <a:ln/>
        </p:spPr>
        <p:txBody>
          <a:bodyPr wrap="square" lIns="0" tIns="0" rIns="0" bIns="0" rtlCol="0" anchor="ctr"/>
          <a:lstStyle/>
          <a:p>
            <a:pPr marL="0" indent="0">
              <a:buNone/>
            </a:pPr>
            <a:r>
              <a:rPr lang="en-US" sz="1400" b="1" dirty="0">
                <a:solidFill>
                  <a:srgbClr val="B8621B"/>
                </a:solidFill>
                <a:latin typeface="Calibri" pitchFamily="34" charset="0"/>
                <a:ea typeface="Calibri" pitchFamily="34" charset="-122"/>
                <a:cs typeface="Calibri" pitchFamily="34" charset="-120"/>
              </a:rPr>
              <a:t>Q-B  </a:t>
            </a:r>
            <a:r>
              <a:rPr lang="en-US" sz="1400" dirty="0">
                <a:solidFill>
                  <a:srgbClr val="1C1F26"/>
                </a:solidFill>
                <a:latin typeface="Calibri" pitchFamily="34" charset="0"/>
                <a:ea typeface="Calibri" pitchFamily="34" charset="-122"/>
                <a:cs typeface="Calibri" pitchFamily="34" charset="-120"/>
              </a:rPr>
              <a:t>Can the run-event stream ride in the early half without extending its build?</a:t>
            </a:r>
            <a:endParaRPr lang="en-US" sz="1400" dirty="0"/>
          </a:p>
        </p:txBody>
      </p:sp>
      <p:sp>
        <p:nvSpPr>
          <p:cNvPr id="9" name="Text 7"/>
          <p:cNvSpPr/>
          <p:nvPr/>
        </p:nvSpPr>
        <p:spPr>
          <a:xfrm>
            <a:off x="914400" y="2212848"/>
            <a:ext cx="10332720" cy="274320"/>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Q-A asks whether the split is possible. Q-B asks whether it is worth having.</a:t>
            </a:r>
            <a:endParaRPr lang="en-US" sz="1150" dirty="0"/>
          </a:p>
        </p:txBody>
      </p:sp>
      <p:sp>
        <p:nvSpPr>
          <p:cNvPr id="10" name="Shape 8"/>
          <p:cNvSpPr/>
          <p:nvPr/>
        </p:nvSpPr>
        <p:spPr>
          <a:xfrm>
            <a:off x="640080" y="2724912"/>
            <a:ext cx="5349240" cy="2487168"/>
          </a:xfrm>
          <a:prstGeom prst="rect">
            <a:avLst/>
          </a:prstGeom>
          <a:solidFill>
            <a:srgbClr val="FFFFFF"/>
          </a:solidFill>
          <a:ln w="12700">
            <a:solidFill>
              <a:srgbClr val="D8D2C9"/>
            </a:solidFill>
            <a:prstDash val="solid"/>
          </a:ln>
        </p:spPr>
        <p:txBody>
          <a:bodyPr/>
          <a:lstStyle/>
          <a:p>
            <a:endParaRPr lang="en-US"/>
          </a:p>
        </p:txBody>
      </p:sp>
      <p:sp>
        <p:nvSpPr>
          <p:cNvPr id="11" name="Shape 9"/>
          <p:cNvSpPr/>
          <p:nvPr/>
        </p:nvSpPr>
        <p:spPr>
          <a:xfrm>
            <a:off x="640080" y="2724912"/>
            <a:ext cx="5349240" cy="420624"/>
          </a:xfrm>
          <a:prstGeom prst="rect">
            <a:avLst/>
          </a:prstGeom>
          <a:solidFill>
            <a:srgbClr val="B8621B"/>
          </a:solidFill>
          <a:ln/>
        </p:spPr>
        <p:txBody>
          <a:bodyPr/>
          <a:lstStyle/>
          <a:p>
            <a:endParaRPr lang="en-US"/>
          </a:p>
        </p:txBody>
      </p:sp>
      <p:sp>
        <p:nvSpPr>
          <p:cNvPr id="12" name="Text 10"/>
          <p:cNvSpPr/>
          <p:nvPr/>
        </p:nvSpPr>
        <p:spPr>
          <a:xfrm>
            <a:off x="859536" y="2724912"/>
            <a:ext cx="49377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PLAN A — split works</a:t>
            </a:r>
            <a:endParaRPr lang="en-US" sz="1250" dirty="0"/>
          </a:p>
        </p:txBody>
      </p:sp>
      <p:sp>
        <p:nvSpPr>
          <p:cNvPr id="13" name="Text 11"/>
          <p:cNvSpPr/>
          <p:nvPr/>
        </p:nvSpPr>
        <p:spPr>
          <a:xfrm>
            <a:off x="859536" y="3255264"/>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Demo 12 Oct</a:t>
            </a:r>
            <a:endParaRPr lang="en-US" sz="1150" dirty="0"/>
          </a:p>
        </p:txBody>
      </p:sp>
      <p:sp>
        <p:nvSpPr>
          <p:cNvPr id="14" name="Text 12"/>
          <p:cNvSpPr/>
          <p:nvPr/>
        </p:nvSpPr>
        <p:spPr>
          <a:xfrm>
            <a:off x="4023360" y="3255264"/>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Unsupervised</a:t>
            </a:r>
            <a:endParaRPr lang="en-US" sz="1150" dirty="0"/>
          </a:p>
        </p:txBody>
      </p:sp>
      <p:sp>
        <p:nvSpPr>
          <p:cNvPr id="15" name="Text 13"/>
          <p:cNvSpPr/>
          <p:nvPr/>
        </p:nvSpPr>
        <p:spPr>
          <a:xfrm>
            <a:off x="859536" y="3639312"/>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Certificate</a:t>
            </a:r>
            <a:endParaRPr lang="en-US" sz="1150" dirty="0"/>
          </a:p>
        </p:txBody>
      </p:sp>
      <p:sp>
        <p:nvSpPr>
          <p:cNvPr id="16" name="Text 14"/>
          <p:cNvSpPr/>
          <p:nvPr/>
        </p:nvSpPr>
        <p:spPr>
          <a:xfrm>
            <a:off x="4023360" y="3639312"/>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Wed 7 Oct</a:t>
            </a:r>
            <a:endParaRPr lang="en-US" sz="1150" dirty="0"/>
          </a:p>
        </p:txBody>
      </p:sp>
      <p:sp>
        <p:nvSpPr>
          <p:cNvPr id="17" name="Text 15"/>
          <p:cNvSpPr/>
          <p:nvPr/>
        </p:nvSpPr>
        <p:spPr>
          <a:xfrm>
            <a:off x="859536" y="4023360"/>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Fleet Monitor real-cell integration</a:t>
            </a:r>
            <a:endParaRPr lang="en-US" sz="1150" dirty="0"/>
          </a:p>
        </p:txBody>
      </p:sp>
      <p:sp>
        <p:nvSpPr>
          <p:cNvPr id="18" name="Text 16"/>
          <p:cNvSpPr/>
          <p:nvPr/>
        </p:nvSpPr>
        <p:spPr>
          <a:xfrm>
            <a:off x="4023360" y="4023360"/>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1 week</a:t>
            </a:r>
            <a:endParaRPr lang="en-US" sz="1150" dirty="0"/>
          </a:p>
        </p:txBody>
      </p:sp>
      <p:sp>
        <p:nvSpPr>
          <p:cNvPr id="19" name="Text 17"/>
          <p:cNvSpPr/>
          <p:nvPr/>
        </p:nvSpPr>
        <p:spPr>
          <a:xfrm>
            <a:off x="859536" y="4407408"/>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FM-4 buffer</a:t>
            </a:r>
            <a:endParaRPr lang="en-US" sz="1150" dirty="0"/>
          </a:p>
        </p:txBody>
      </p:sp>
      <p:sp>
        <p:nvSpPr>
          <p:cNvPr id="20" name="Text 18"/>
          <p:cNvSpPr/>
          <p:nvPr/>
        </p:nvSpPr>
        <p:spPr>
          <a:xfrm>
            <a:off x="4023360" y="4407408"/>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Cut</a:t>
            </a:r>
            <a:endParaRPr lang="en-US" sz="1150" dirty="0"/>
          </a:p>
        </p:txBody>
      </p:sp>
      <p:sp>
        <p:nvSpPr>
          <p:cNvPr id="21" name="Text 19"/>
          <p:cNvSpPr/>
          <p:nvPr/>
        </p:nvSpPr>
        <p:spPr>
          <a:xfrm>
            <a:off x="859536" y="4791456"/>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Float on robotics chain</a:t>
            </a:r>
            <a:endParaRPr lang="en-US" sz="1150" dirty="0"/>
          </a:p>
        </p:txBody>
      </p:sp>
      <p:sp>
        <p:nvSpPr>
          <p:cNvPr id="22" name="Text 20"/>
          <p:cNvSpPr/>
          <p:nvPr/>
        </p:nvSpPr>
        <p:spPr>
          <a:xfrm>
            <a:off x="4023360" y="4791456"/>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~1 day</a:t>
            </a:r>
            <a:endParaRPr lang="en-US" sz="1150" dirty="0"/>
          </a:p>
        </p:txBody>
      </p:sp>
      <p:sp>
        <p:nvSpPr>
          <p:cNvPr id="23" name="Shape 21"/>
          <p:cNvSpPr/>
          <p:nvPr/>
        </p:nvSpPr>
        <p:spPr>
          <a:xfrm>
            <a:off x="6172200" y="2724912"/>
            <a:ext cx="5349240" cy="2487168"/>
          </a:xfrm>
          <a:prstGeom prst="rect">
            <a:avLst/>
          </a:prstGeom>
          <a:solidFill>
            <a:srgbClr val="FFFFFF"/>
          </a:solidFill>
          <a:ln w="12700">
            <a:solidFill>
              <a:srgbClr val="D8D2C9"/>
            </a:solidFill>
            <a:prstDash val="solid"/>
          </a:ln>
        </p:spPr>
        <p:txBody>
          <a:bodyPr/>
          <a:lstStyle/>
          <a:p>
            <a:endParaRPr lang="en-US"/>
          </a:p>
        </p:txBody>
      </p:sp>
      <p:sp>
        <p:nvSpPr>
          <p:cNvPr id="24" name="Shape 22"/>
          <p:cNvSpPr/>
          <p:nvPr/>
        </p:nvSpPr>
        <p:spPr>
          <a:xfrm>
            <a:off x="6172200" y="2724912"/>
            <a:ext cx="5349240" cy="420624"/>
          </a:xfrm>
          <a:prstGeom prst="rect">
            <a:avLst/>
          </a:prstGeom>
          <a:solidFill>
            <a:srgbClr val="1C1F26"/>
          </a:solidFill>
          <a:ln/>
        </p:spPr>
        <p:txBody>
          <a:bodyPr/>
          <a:lstStyle/>
          <a:p>
            <a:endParaRPr lang="en-US"/>
          </a:p>
        </p:txBody>
      </p:sp>
      <p:sp>
        <p:nvSpPr>
          <p:cNvPr id="25" name="Text 23"/>
          <p:cNvSpPr/>
          <p:nvPr/>
        </p:nvSpPr>
        <p:spPr>
          <a:xfrm>
            <a:off x="6391656" y="2724912"/>
            <a:ext cx="49377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PLAN B — split does not work</a:t>
            </a:r>
            <a:endParaRPr lang="en-US" sz="1250" dirty="0"/>
          </a:p>
        </p:txBody>
      </p:sp>
      <p:sp>
        <p:nvSpPr>
          <p:cNvPr id="26" name="Text 24"/>
          <p:cNvSpPr/>
          <p:nvPr/>
        </p:nvSpPr>
        <p:spPr>
          <a:xfrm>
            <a:off x="6391656" y="3255264"/>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Demo 12 Oct</a:t>
            </a:r>
            <a:endParaRPr lang="en-US" sz="1150" dirty="0"/>
          </a:p>
        </p:txBody>
      </p:sp>
      <p:sp>
        <p:nvSpPr>
          <p:cNvPr id="27" name="Text 25"/>
          <p:cNvSpPr/>
          <p:nvPr/>
        </p:nvSpPr>
        <p:spPr>
          <a:xfrm>
            <a:off x="9555480" y="3255264"/>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Supervised</a:t>
            </a:r>
            <a:endParaRPr lang="en-US" sz="1150" dirty="0"/>
          </a:p>
        </p:txBody>
      </p:sp>
      <p:sp>
        <p:nvSpPr>
          <p:cNvPr id="28" name="Text 26"/>
          <p:cNvSpPr/>
          <p:nvPr/>
        </p:nvSpPr>
        <p:spPr>
          <a:xfrm>
            <a:off x="6391656" y="3639312"/>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Certificate</a:t>
            </a:r>
            <a:endParaRPr lang="en-US" sz="1150" dirty="0"/>
          </a:p>
        </p:txBody>
      </p:sp>
      <p:sp>
        <p:nvSpPr>
          <p:cNvPr id="29" name="Text 27"/>
          <p:cNvSpPr/>
          <p:nvPr/>
        </p:nvSpPr>
        <p:spPr>
          <a:xfrm>
            <a:off x="9555480" y="3639312"/>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~Mon 2 Nov</a:t>
            </a:r>
            <a:endParaRPr lang="en-US" sz="1150" dirty="0"/>
          </a:p>
        </p:txBody>
      </p:sp>
      <p:sp>
        <p:nvSpPr>
          <p:cNvPr id="30" name="Text 28"/>
          <p:cNvSpPr/>
          <p:nvPr/>
        </p:nvSpPr>
        <p:spPr>
          <a:xfrm>
            <a:off x="6391656" y="4023360"/>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Fleet Monitor real-cell integration</a:t>
            </a:r>
            <a:endParaRPr lang="en-US" sz="1150" dirty="0"/>
          </a:p>
        </p:txBody>
      </p:sp>
      <p:sp>
        <p:nvSpPr>
          <p:cNvPr id="31" name="Text 29"/>
          <p:cNvSpPr/>
          <p:nvPr/>
        </p:nvSpPr>
        <p:spPr>
          <a:xfrm>
            <a:off x="9555480" y="4023360"/>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3+ weeks</a:t>
            </a:r>
            <a:endParaRPr lang="en-US" sz="1150" dirty="0"/>
          </a:p>
        </p:txBody>
      </p:sp>
      <p:sp>
        <p:nvSpPr>
          <p:cNvPr id="32" name="Text 30"/>
          <p:cNvSpPr/>
          <p:nvPr/>
        </p:nvSpPr>
        <p:spPr>
          <a:xfrm>
            <a:off x="6391656" y="4407408"/>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FM-4 buffer</a:t>
            </a:r>
            <a:endParaRPr lang="en-US" sz="1150" dirty="0"/>
          </a:p>
        </p:txBody>
      </p:sp>
      <p:sp>
        <p:nvSpPr>
          <p:cNvPr id="33" name="Text 31"/>
          <p:cNvSpPr/>
          <p:nvPr/>
        </p:nvSpPr>
        <p:spPr>
          <a:xfrm>
            <a:off x="9555480" y="4407408"/>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Ships</a:t>
            </a:r>
            <a:endParaRPr lang="en-US" sz="1150" dirty="0"/>
          </a:p>
        </p:txBody>
      </p:sp>
      <p:sp>
        <p:nvSpPr>
          <p:cNvPr id="34" name="Text 32"/>
          <p:cNvSpPr/>
          <p:nvPr/>
        </p:nvSpPr>
        <p:spPr>
          <a:xfrm>
            <a:off x="6391656" y="4791456"/>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Float on robotics chain</a:t>
            </a:r>
            <a:endParaRPr lang="en-US" sz="1150" dirty="0"/>
          </a:p>
        </p:txBody>
      </p:sp>
      <p:sp>
        <p:nvSpPr>
          <p:cNvPr id="35" name="Text 33"/>
          <p:cNvSpPr/>
          <p:nvPr/>
        </p:nvSpPr>
        <p:spPr>
          <a:xfrm>
            <a:off x="9555480" y="4791456"/>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~2 weeks</a:t>
            </a:r>
            <a:endParaRPr lang="en-US" sz="1150" dirty="0"/>
          </a:p>
        </p:txBody>
      </p:sp>
      <p:sp>
        <p:nvSpPr>
          <p:cNvPr id="36" name="Shape 34"/>
          <p:cNvSpPr/>
          <p:nvPr/>
        </p:nvSpPr>
        <p:spPr>
          <a:xfrm>
            <a:off x="640080" y="5431536"/>
            <a:ext cx="10881360" cy="786384"/>
          </a:xfrm>
          <a:prstGeom prst="rect">
            <a:avLst/>
          </a:prstGeom>
          <a:solidFill>
            <a:srgbClr val="1C1F26"/>
          </a:solidFill>
          <a:ln w="12700">
            <a:solidFill>
              <a:srgbClr val="1C1F26"/>
            </a:solidFill>
            <a:prstDash val="solid"/>
          </a:ln>
        </p:spPr>
        <p:txBody>
          <a:bodyPr/>
          <a:lstStyle/>
          <a:p>
            <a:endParaRPr lang="en-US"/>
          </a:p>
        </p:txBody>
      </p:sp>
      <p:sp>
        <p:nvSpPr>
          <p:cNvPr id="37" name="Text 35"/>
          <p:cNvSpPr/>
          <p:nvPr/>
        </p:nvSpPr>
        <p:spPr>
          <a:xfrm>
            <a:off x="914400" y="5431536"/>
            <a:ext cx="10332720" cy="786384"/>
          </a:xfrm>
          <a:prstGeom prst="rect">
            <a:avLst/>
          </a:prstGeom>
          <a:noFill/>
          <a:ln/>
        </p:spPr>
        <p:txBody>
          <a:bodyPr wrap="square" lIns="0" tIns="0" rIns="0" bIns="0" rtlCol="0" anchor="ctr"/>
          <a:lstStyle/>
          <a:p>
            <a:pPr marL="0" indent="0">
              <a:buNone/>
            </a:pPr>
            <a:r>
              <a:rPr lang="en-US" sz="1250" b="1" dirty="0">
                <a:solidFill>
                  <a:srgbClr val="B8621B"/>
                </a:solidFill>
                <a:latin typeface="Calibri" pitchFamily="34" charset="0"/>
                <a:ea typeface="Calibri" pitchFamily="34" charset="-122"/>
                <a:cs typeface="Calibri" pitchFamily="34" charset="-120"/>
              </a:rPr>
              <a:t>Recommendation:  </a:t>
            </a:r>
            <a:r>
              <a:rPr lang="en-US" sz="1250" dirty="0">
                <a:solidFill>
                  <a:srgbClr val="FFFFFF"/>
                </a:solidFill>
                <a:latin typeface="Calibri" pitchFamily="34" charset="0"/>
                <a:ea typeface="Calibri" pitchFamily="34" charset="-122"/>
                <a:cs typeface="Calibri" pitchFamily="34" charset="-120"/>
              </a:rPr>
              <a:t>Plan B, unless both answers are yes. Plan A as originally scoped delivers an unsupervised demo of under-integrated software — and the under-integrated half is the feature the customer came for.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What I cut, and the number behind each</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Demand as handed over: 35.6 person-weeks against 23.9 available. Roughly 49% over.</a:t>
            </a:r>
            <a:endParaRPr lang="en-US" sz="1400" dirty="0"/>
          </a:p>
        </p:txBody>
      </p:sp>
      <p:sp>
        <p:nvSpPr>
          <p:cNvPr id="6" name="Shape 4"/>
          <p:cNvSpPr/>
          <p:nvPr/>
        </p:nvSpPr>
        <p:spPr>
          <a:xfrm>
            <a:off x="640080" y="1481328"/>
            <a:ext cx="10881360" cy="1042416"/>
          </a:xfrm>
          <a:prstGeom prst="rect">
            <a:avLst/>
          </a:prstGeom>
          <a:solidFill>
            <a:srgbClr val="FFFFFF"/>
          </a:solidFill>
          <a:ln w="12700">
            <a:solidFill>
              <a:srgbClr val="D8D2C9"/>
            </a:solidFill>
            <a:prstDash val="solid"/>
          </a:ln>
        </p:spPr>
        <p:txBody>
          <a:bodyPr/>
          <a:lstStyle/>
          <a:p>
            <a:endParaRPr lang="en-US"/>
          </a:p>
        </p:txBody>
      </p:sp>
      <p:sp>
        <p:nvSpPr>
          <p:cNvPr id="7" name="Text 5"/>
          <p:cNvSpPr/>
          <p:nvPr/>
        </p:nvSpPr>
        <p:spPr>
          <a:xfrm>
            <a:off x="859536" y="1627632"/>
            <a:ext cx="1051560" cy="566928"/>
          </a:xfrm>
          <a:prstGeom prst="rect">
            <a:avLst/>
          </a:prstGeom>
          <a:noFill/>
          <a:ln/>
        </p:spPr>
        <p:txBody>
          <a:bodyPr wrap="square" lIns="0" tIns="0" rIns="0" bIns="0" rtlCol="0" anchor="ctr"/>
          <a:lstStyle/>
          <a:p>
            <a:pPr marL="0" indent="0" algn="ctr">
              <a:buNone/>
            </a:pPr>
            <a:r>
              <a:rPr lang="en-US" sz="3000" b="1" dirty="0">
                <a:solidFill>
                  <a:srgbClr val="B8621B"/>
                </a:solidFill>
                <a:latin typeface="Cambria" pitchFamily="34" charset="0"/>
                <a:ea typeface="Cambria" pitchFamily="34" charset="-122"/>
                <a:cs typeface="Cambria" pitchFamily="34" charset="-120"/>
              </a:rPr>
              <a:t>4.5</a:t>
            </a:r>
            <a:endParaRPr lang="en-US" sz="3000" dirty="0"/>
          </a:p>
        </p:txBody>
      </p:sp>
      <p:sp>
        <p:nvSpPr>
          <p:cNvPr id="8" name="Text 6"/>
          <p:cNvSpPr/>
          <p:nvPr/>
        </p:nvSpPr>
        <p:spPr>
          <a:xfrm>
            <a:off x="859536" y="2176272"/>
            <a:ext cx="1051560" cy="219456"/>
          </a:xfrm>
          <a:prstGeom prst="rect">
            <a:avLst/>
          </a:prstGeom>
          <a:noFill/>
          <a:ln/>
        </p:spPr>
        <p:txBody>
          <a:bodyPr wrap="square" lIns="0" tIns="0" rIns="0" bIns="0" rtlCol="0" anchor="ctr"/>
          <a:lstStyle/>
          <a:p>
            <a:pPr marL="0" indent="0" algn="ctr">
              <a:buNone/>
            </a:pPr>
            <a:r>
              <a:rPr lang="en-US" sz="950" dirty="0">
                <a:solidFill>
                  <a:srgbClr val="6E7781"/>
                </a:solidFill>
                <a:latin typeface="Calibri" pitchFamily="34" charset="0"/>
                <a:ea typeface="Calibri" pitchFamily="34" charset="-122"/>
                <a:cs typeface="Calibri" pitchFamily="34" charset="-120"/>
              </a:rPr>
              <a:t>wks</a:t>
            </a:r>
            <a:endParaRPr lang="en-US" sz="950" dirty="0"/>
          </a:p>
        </p:txBody>
      </p:sp>
      <p:sp>
        <p:nvSpPr>
          <p:cNvPr id="9" name="Text 7"/>
          <p:cNvSpPr/>
          <p:nvPr/>
        </p:nvSpPr>
        <p:spPr>
          <a:xfrm>
            <a:off x="2121408" y="1627632"/>
            <a:ext cx="9052560" cy="310896"/>
          </a:xfrm>
          <a:prstGeom prst="rect">
            <a:avLst/>
          </a:prstGeom>
          <a:noFill/>
          <a:ln/>
        </p:spPr>
        <p:txBody>
          <a:bodyPr wrap="square" lIns="0" tIns="0" rIns="0" bIns="0" rtlCol="0" anchor="ctr"/>
          <a:lstStyle/>
          <a:p>
            <a:pPr marL="0" indent="0">
              <a:buNone/>
            </a:pPr>
            <a:r>
              <a:rPr lang="en-US" sz="1400" b="1" dirty="0">
                <a:solidFill>
                  <a:srgbClr val="1C1F26"/>
                </a:solidFill>
                <a:latin typeface="Calibri" pitchFamily="34" charset="0"/>
                <a:ea typeface="Calibri" pitchFamily="34" charset="-122"/>
                <a:cs typeface="Calibri" pitchFamily="34" charset="-120"/>
              </a:rPr>
              <a:t>Build model migration cutover</a:t>
            </a:r>
            <a:endParaRPr lang="en-US" sz="1400" dirty="0"/>
          </a:p>
        </p:txBody>
      </p:sp>
      <p:sp>
        <p:nvSpPr>
          <p:cNvPr id="10" name="Text 8"/>
          <p:cNvSpPr/>
          <p:nvPr/>
        </p:nvSpPr>
        <p:spPr>
          <a:xfrm>
            <a:off x="2121408" y="1956816"/>
            <a:ext cx="9052560" cy="45720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Jo has 2.8 weeks of capacity before the week-3 target and is away weeks 4–5. Replaced by a read-only adapter; cutover moves to Q4.</a:t>
            </a:r>
            <a:endParaRPr lang="en-US" sz="1150" dirty="0"/>
          </a:p>
        </p:txBody>
      </p:sp>
      <p:sp>
        <p:nvSpPr>
          <p:cNvPr id="11" name="Shape 9"/>
          <p:cNvSpPr/>
          <p:nvPr/>
        </p:nvSpPr>
        <p:spPr>
          <a:xfrm>
            <a:off x="640080" y="2651760"/>
            <a:ext cx="10881360" cy="1042416"/>
          </a:xfrm>
          <a:prstGeom prst="rect">
            <a:avLst/>
          </a:prstGeom>
          <a:solidFill>
            <a:srgbClr val="FFFFFF"/>
          </a:solidFill>
          <a:ln w="12700">
            <a:solidFill>
              <a:srgbClr val="D8D2C9"/>
            </a:solidFill>
            <a:prstDash val="solid"/>
          </a:ln>
        </p:spPr>
        <p:txBody>
          <a:bodyPr/>
          <a:lstStyle/>
          <a:p>
            <a:endParaRPr lang="en-US"/>
          </a:p>
        </p:txBody>
      </p:sp>
      <p:sp>
        <p:nvSpPr>
          <p:cNvPr id="12" name="Text 10"/>
          <p:cNvSpPr/>
          <p:nvPr/>
        </p:nvSpPr>
        <p:spPr>
          <a:xfrm>
            <a:off x="859536" y="2798064"/>
            <a:ext cx="1051560" cy="566928"/>
          </a:xfrm>
          <a:prstGeom prst="rect">
            <a:avLst/>
          </a:prstGeom>
          <a:noFill/>
          <a:ln/>
        </p:spPr>
        <p:txBody>
          <a:bodyPr wrap="square" lIns="0" tIns="0" rIns="0" bIns="0" rtlCol="0" anchor="ctr"/>
          <a:lstStyle/>
          <a:p>
            <a:pPr marL="0" indent="0" algn="ctr">
              <a:buNone/>
            </a:pPr>
            <a:r>
              <a:rPr lang="en-US" sz="3000" b="1" dirty="0">
                <a:solidFill>
                  <a:srgbClr val="B8621B"/>
                </a:solidFill>
                <a:latin typeface="Cambria" pitchFamily="34" charset="0"/>
                <a:ea typeface="Cambria" pitchFamily="34" charset="-122"/>
                <a:cs typeface="Cambria" pitchFamily="34" charset="-120"/>
              </a:rPr>
              <a:t>2.3</a:t>
            </a:r>
            <a:endParaRPr lang="en-US" sz="3000" dirty="0"/>
          </a:p>
        </p:txBody>
      </p:sp>
      <p:sp>
        <p:nvSpPr>
          <p:cNvPr id="13" name="Text 11"/>
          <p:cNvSpPr/>
          <p:nvPr/>
        </p:nvSpPr>
        <p:spPr>
          <a:xfrm>
            <a:off x="859536" y="3346704"/>
            <a:ext cx="1051560" cy="219456"/>
          </a:xfrm>
          <a:prstGeom prst="rect">
            <a:avLst/>
          </a:prstGeom>
          <a:noFill/>
          <a:ln/>
        </p:spPr>
        <p:txBody>
          <a:bodyPr wrap="square" lIns="0" tIns="0" rIns="0" bIns="0" rtlCol="0" anchor="ctr"/>
          <a:lstStyle/>
          <a:p>
            <a:pPr marL="0" indent="0" algn="ctr">
              <a:buNone/>
            </a:pPr>
            <a:r>
              <a:rPr lang="en-US" sz="950" dirty="0">
                <a:solidFill>
                  <a:srgbClr val="6E7781"/>
                </a:solidFill>
                <a:latin typeface="Calibri" pitchFamily="34" charset="0"/>
                <a:ea typeface="Calibri" pitchFamily="34" charset="-122"/>
                <a:cs typeface="Calibri" pitchFamily="34" charset="-120"/>
              </a:rPr>
              <a:t>wks</a:t>
            </a:r>
            <a:endParaRPr lang="en-US" sz="950" dirty="0"/>
          </a:p>
        </p:txBody>
      </p:sp>
      <p:sp>
        <p:nvSpPr>
          <p:cNvPr id="14" name="Text 12"/>
          <p:cNvSpPr/>
          <p:nvPr/>
        </p:nvSpPr>
        <p:spPr>
          <a:xfrm>
            <a:off x="2121408" y="2798064"/>
            <a:ext cx="9052560" cy="310896"/>
          </a:xfrm>
          <a:prstGeom prst="rect">
            <a:avLst/>
          </a:prstGeom>
          <a:noFill/>
          <a:ln/>
        </p:spPr>
        <p:txBody>
          <a:bodyPr wrap="square" lIns="0" tIns="0" rIns="0" bIns="0" rtlCol="0" anchor="ctr"/>
          <a:lstStyle/>
          <a:p>
            <a:pPr marL="0" indent="0">
              <a:buNone/>
            </a:pPr>
            <a:r>
              <a:rPr lang="en-US" sz="1400" b="1" dirty="0">
                <a:solidFill>
                  <a:srgbClr val="1C1F26"/>
                </a:solidFill>
                <a:latin typeface="Calibri" pitchFamily="34" charset="0"/>
                <a:ea typeface="Calibri" pitchFamily="34" charset="-122"/>
                <a:cs typeface="Calibri" pitchFamily="34" charset="-120"/>
              </a:rPr>
              <a:t>Indirect effects, as designed</a:t>
            </a:r>
            <a:endParaRPr lang="en-US" sz="1400" dirty="0"/>
          </a:p>
        </p:txBody>
      </p:sp>
      <p:sp>
        <p:nvSpPr>
          <p:cNvPr id="15" name="Text 13"/>
          <p:cNvSpPr/>
          <p:nvPr/>
        </p:nvSpPr>
        <p:spPr>
          <a:xfrm>
            <a:off x="2121408" y="3127248"/>
            <a:ext cx="9052560" cy="45720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Adjacency flags 13 of 20 panels on the real fixture, against a 12% waste baseline. Worse than the status quo.</a:t>
            </a:r>
            <a:endParaRPr lang="en-US" sz="1150" dirty="0"/>
          </a:p>
        </p:txBody>
      </p:sp>
      <p:sp>
        <p:nvSpPr>
          <p:cNvPr id="16" name="Shape 14"/>
          <p:cNvSpPr/>
          <p:nvPr/>
        </p:nvSpPr>
        <p:spPr>
          <a:xfrm>
            <a:off x="640080" y="3822192"/>
            <a:ext cx="10881360" cy="1042416"/>
          </a:xfrm>
          <a:prstGeom prst="rect">
            <a:avLst/>
          </a:prstGeom>
          <a:solidFill>
            <a:srgbClr val="FFFFFF"/>
          </a:solidFill>
          <a:ln w="12700">
            <a:solidFill>
              <a:srgbClr val="D8D2C9"/>
            </a:solidFill>
            <a:prstDash val="solid"/>
          </a:ln>
        </p:spPr>
        <p:txBody>
          <a:bodyPr/>
          <a:lstStyle/>
          <a:p>
            <a:endParaRPr lang="en-US"/>
          </a:p>
        </p:txBody>
      </p:sp>
      <p:sp>
        <p:nvSpPr>
          <p:cNvPr id="17" name="Text 15"/>
          <p:cNvSpPr/>
          <p:nvPr/>
        </p:nvSpPr>
        <p:spPr>
          <a:xfrm>
            <a:off x="859536" y="3968496"/>
            <a:ext cx="1051560" cy="566928"/>
          </a:xfrm>
          <a:prstGeom prst="rect">
            <a:avLst/>
          </a:prstGeom>
          <a:noFill/>
          <a:ln/>
        </p:spPr>
        <p:txBody>
          <a:bodyPr wrap="square" lIns="0" tIns="0" rIns="0" bIns="0" rtlCol="0" anchor="ctr"/>
          <a:lstStyle/>
          <a:p>
            <a:pPr marL="0" indent="0" algn="ctr">
              <a:buNone/>
            </a:pPr>
            <a:r>
              <a:rPr lang="en-US" sz="3000" b="1" dirty="0">
                <a:solidFill>
                  <a:srgbClr val="B8621B"/>
                </a:solidFill>
                <a:latin typeface="Cambria" pitchFamily="34" charset="0"/>
                <a:ea typeface="Cambria" pitchFamily="34" charset="-122"/>
                <a:cs typeface="Cambria" pitchFamily="34" charset="-120"/>
              </a:rPr>
              <a:t>3.6</a:t>
            </a:r>
            <a:endParaRPr lang="en-US" sz="3000" dirty="0"/>
          </a:p>
        </p:txBody>
      </p:sp>
      <p:sp>
        <p:nvSpPr>
          <p:cNvPr id="18" name="Text 16"/>
          <p:cNvSpPr/>
          <p:nvPr/>
        </p:nvSpPr>
        <p:spPr>
          <a:xfrm>
            <a:off x="859536" y="4517136"/>
            <a:ext cx="1051560" cy="219456"/>
          </a:xfrm>
          <a:prstGeom prst="rect">
            <a:avLst/>
          </a:prstGeom>
          <a:noFill/>
          <a:ln/>
        </p:spPr>
        <p:txBody>
          <a:bodyPr wrap="square" lIns="0" tIns="0" rIns="0" bIns="0" rtlCol="0" anchor="ctr"/>
          <a:lstStyle/>
          <a:p>
            <a:pPr marL="0" indent="0" algn="ctr">
              <a:buNone/>
            </a:pPr>
            <a:r>
              <a:rPr lang="en-US" sz="950" dirty="0">
                <a:solidFill>
                  <a:srgbClr val="6E7781"/>
                </a:solidFill>
                <a:latin typeface="Calibri" pitchFamily="34" charset="0"/>
                <a:ea typeface="Calibri" pitchFamily="34" charset="-122"/>
                <a:cs typeface="Calibri" pitchFamily="34" charset="-120"/>
              </a:rPr>
              <a:t>wks</a:t>
            </a:r>
            <a:endParaRPr lang="en-US" sz="950" dirty="0"/>
          </a:p>
        </p:txBody>
      </p:sp>
      <p:sp>
        <p:nvSpPr>
          <p:cNvPr id="19" name="Text 17"/>
          <p:cNvSpPr/>
          <p:nvPr/>
        </p:nvSpPr>
        <p:spPr>
          <a:xfrm>
            <a:off x="2121408" y="3968496"/>
            <a:ext cx="9052560" cy="310896"/>
          </a:xfrm>
          <a:prstGeom prst="rect">
            <a:avLst/>
          </a:prstGeom>
          <a:noFill/>
          <a:ln/>
        </p:spPr>
        <p:txBody>
          <a:bodyPr wrap="square" lIns="0" tIns="0" rIns="0" bIns="0" rtlCol="0" anchor="ctr"/>
          <a:lstStyle/>
          <a:p>
            <a:pPr marL="0" indent="0">
              <a:buNone/>
            </a:pPr>
            <a:r>
              <a:rPr lang="en-US" sz="1400" b="1" dirty="0">
                <a:solidFill>
                  <a:srgbClr val="1C1F26"/>
                </a:solidFill>
                <a:latin typeface="Calibri" pitchFamily="34" charset="0"/>
                <a:ea typeface="Calibri" pitchFamily="34" charset="-122"/>
                <a:cs typeface="Calibri" pitchFamily="34" charset="-120"/>
              </a:rPr>
              <a:t>Run-progress estimator</a:t>
            </a:r>
            <a:endParaRPr lang="en-US" sz="1400" dirty="0"/>
          </a:p>
        </p:txBody>
      </p:sp>
      <p:sp>
        <p:nvSpPr>
          <p:cNvPr id="20" name="Text 18"/>
          <p:cNvSpPr/>
          <p:nvPr/>
        </p:nvSpPr>
        <p:spPr>
          <a:xfrm>
            <a:off x="2121408" y="4297680"/>
            <a:ext cx="9052560" cy="45720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cycleSeconds does not reconcile with wall clock — 388s reported against 376s elapsed. Derive from panel counts instead.</a:t>
            </a:r>
            <a:endParaRPr lang="en-US" sz="1150" dirty="0"/>
          </a:p>
        </p:txBody>
      </p:sp>
      <p:sp>
        <p:nvSpPr>
          <p:cNvPr id="21" name="Shape 19"/>
          <p:cNvSpPr/>
          <p:nvPr/>
        </p:nvSpPr>
        <p:spPr>
          <a:xfrm>
            <a:off x="640080" y="4992624"/>
            <a:ext cx="10881360" cy="1042416"/>
          </a:xfrm>
          <a:prstGeom prst="rect">
            <a:avLst/>
          </a:prstGeom>
          <a:solidFill>
            <a:srgbClr val="FFFFFF"/>
          </a:solidFill>
          <a:ln w="12700">
            <a:solidFill>
              <a:srgbClr val="D8D2C9"/>
            </a:solidFill>
            <a:prstDash val="solid"/>
          </a:ln>
        </p:spPr>
        <p:txBody>
          <a:bodyPr/>
          <a:lstStyle/>
          <a:p>
            <a:endParaRPr lang="en-US"/>
          </a:p>
        </p:txBody>
      </p:sp>
      <p:sp>
        <p:nvSpPr>
          <p:cNvPr id="22" name="Text 20"/>
          <p:cNvSpPr/>
          <p:nvPr/>
        </p:nvSpPr>
        <p:spPr>
          <a:xfrm>
            <a:off x="859536" y="5138928"/>
            <a:ext cx="1051560" cy="566928"/>
          </a:xfrm>
          <a:prstGeom prst="rect">
            <a:avLst/>
          </a:prstGeom>
          <a:noFill/>
          <a:ln/>
        </p:spPr>
        <p:txBody>
          <a:bodyPr wrap="square" lIns="0" tIns="0" rIns="0" bIns="0" rtlCol="0" anchor="ctr"/>
          <a:lstStyle/>
          <a:p>
            <a:pPr marL="0" indent="0" algn="ctr">
              <a:buNone/>
            </a:pPr>
            <a:r>
              <a:rPr lang="en-US" sz="3000" b="1" dirty="0">
                <a:solidFill>
                  <a:srgbClr val="B8621B"/>
                </a:solidFill>
                <a:latin typeface="Cambria" pitchFamily="34" charset="0"/>
                <a:ea typeface="Cambria" pitchFamily="34" charset="-122"/>
                <a:cs typeface="Cambria" pitchFamily="34" charset="-120"/>
              </a:rPr>
              <a:t>0.7</a:t>
            </a:r>
            <a:endParaRPr lang="en-US" sz="3000" dirty="0"/>
          </a:p>
        </p:txBody>
      </p:sp>
      <p:sp>
        <p:nvSpPr>
          <p:cNvPr id="23" name="Text 21"/>
          <p:cNvSpPr/>
          <p:nvPr/>
        </p:nvSpPr>
        <p:spPr>
          <a:xfrm>
            <a:off x="859536" y="5687568"/>
            <a:ext cx="1051560" cy="219456"/>
          </a:xfrm>
          <a:prstGeom prst="rect">
            <a:avLst/>
          </a:prstGeom>
          <a:noFill/>
          <a:ln/>
        </p:spPr>
        <p:txBody>
          <a:bodyPr wrap="square" lIns="0" tIns="0" rIns="0" bIns="0" rtlCol="0" anchor="ctr"/>
          <a:lstStyle/>
          <a:p>
            <a:pPr marL="0" indent="0" algn="ctr">
              <a:buNone/>
            </a:pPr>
            <a:r>
              <a:rPr lang="en-US" sz="950" dirty="0">
                <a:solidFill>
                  <a:srgbClr val="6E7781"/>
                </a:solidFill>
                <a:latin typeface="Calibri" pitchFamily="34" charset="0"/>
                <a:ea typeface="Calibri" pitchFamily="34" charset="-122"/>
                <a:cs typeface="Calibri" pitchFamily="34" charset="-120"/>
              </a:rPr>
              <a:t>wks</a:t>
            </a:r>
            <a:endParaRPr lang="en-US" sz="950" dirty="0"/>
          </a:p>
        </p:txBody>
      </p:sp>
      <p:sp>
        <p:nvSpPr>
          <p:cNvPr id="24" name="Text 22"/>
          <p:cNvSpPr/>
          <p:nvPr/>
        </p:nvSpPr>
        <p:spPr>
          <a:xfrm>
            <a:off x="2121408" y="5138928"/>
            <a:ext cx="9052560" cy="310896"/>
          </a:xfrm>
          <a:prstGeom prst="rect">
            <a:avLst/>
          </a:prstGeom>
          <a:noFill/>
          <a:ln/>
        </p:spPr>
        <p:txBody>
          <a:bodyPr wrap="square" lIns="0" tIns="0" rIns="0" bIns="0" rtlCol="0" anchor="ctr"/>
          <a:lstStyle/>
          <a:p>
            <a:pPr marL="0" indent="0">
              <a:buNone/>
            </a:pPr>
            <a:r>
              <a:rPr lang="en-US" sz="1400" b="1" dirty="0">
                <a:solidFill>
                  <a:srgbClr val="1C1F26"/>
                </a:solidFill>
                <a:latin typeface="Calibri" pitchFamily="34" charset="0"/>
                <a:ea typeface="Calibri" pitchFamily="34" charset="-122"/>
                <a:cs typeface="Calibri" pitchFamily="34" charset="-120"/>
              </a:rPr>
              <a:t>Operator sign-in (a4)</a:t>
            </a:r>
            <a:endParaRPr lang="en-US" sz="1400" dirty="0"/>
          </a:p>
        </p:txBody>
      </p:sp>
      <p:sp>
        <p:nvSpPr>
          <p:cNvPr id="25" name="Text 23"/>
          <p:cNvSpPr/>
          <p:nvPr/>
        </p:nvSpPr>
        <p:spPr>
          <a:xfrm>
            <a:off x="2121408" y="5468112"/>
            <a:ext cx="9052560" cy="45720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The only inspection action that does not block unsupervised running. run.started may already carry the data.</a:t>
            </a:r>
            <a:endParaRPr lang="en-US" sz="1150" dirty="0"/>
          </a:p>
        </p:txBody>
      </p:sp>
      <p:sp>
        <p:nvSpPr>
          <p:cNvPr id="26" name="Text 24"/>
          <p:cNvSpPr/>
          <p:nvPr/>
        </p:nvSpPr>
        <p:spPr>
          <a:xfrm>
            <a:off x="640080" y="6236208"/>
            <a:ext cx="10881360" cy="292608"/>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After cuts: ~21.4 against 23.9. About 10% slack, so the release valves are pre-agreed rather than found later.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What I added, and why it came from the data</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Neither was in the hand-over. Both fall out of reading the fixtures.</a:t>
            </a:r>
            <a:endParaRPr lang="en-US" sz="1400" dirty="0"/>
          </a:p>
        </p:txBody>
      </p:sp>
      <p:sp>
        <p:nvSpPr>
          <p:cNvPr id="6" name="Shape 4"/>
          <p:cNvSpPr/>
          <p:nvPr/>
        </p:nvSpPr>
        <p:spPr>
          <a:xfrm>
            <a:off x="640080" y="1417320"/>
            <a:ext cx="5349240" cy="3703320"/>
          </a:xfrm>
          <a:prstGeom prst="rect">
            <a:avLst/>
          </a:prstGeom>
          <a:solidFill>
            <a:srgbClr val="FFFFFF"/>
          </a:solidFill>
          <a:ln w="12700">
            <a:solidFill>
              <a:srgbClr val="D8D2C9"/>
            </a:solidFill>
            <a:prstDash val="solid"/>
          </a:ln>
        </p:spPr>
        <p:txBody>
          <a:bodyPr/>
          <a:lstStyle/>
          <a:p>
            <a:endParaRPr lang="en-US"/>
          </a:p>
        </p:txBody>
      </p:sp>
      <p:sp>
        <p:nvSpPr>
          <p:cNvPr id="7" name="Shape 5"/>
          <p:cNvSpPr/>
          <p:nvPr/>
        </p:nvSpPr>
        <p:spPr>
          <a:xfrm>
            <a:off x="640080" y="1417320"/>
            <a:ext cx="5349240" cy="420624"/>
          </a:xfrm>
          <a:prstGeom prst="rect">
            <a:avLst/>
          </a:prstGeom>
          <a:solidFill>
            <a:srgbClr val="B8621B"/>
          </a:solidFill>
          <a:ln/>
        </p:spPr>
        <p:txBody>
          <a:bodyPr/>
          <a:lstStyle/>
          <a:p>
            <a:endParaRPr lang="en-US"/>
          </a:p>
        </p:txBody>
      </p:sp>
      <p:sp>
        <p:nvSpPr>
          <p:cNvPr id="8" name="Text 6"/>
          <p:cNvSpPr/>
          <p:nvPr/>
        </p:nvSpPr>
        <p:spPr>
          <a:xfrm>
            <a:off x="859536" y="1417320"/>
            <a:ext cx="49377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PR-6  Impact and cost assessment</a:t>
            </a:r>
            <a:endParaRPr lang="en-US" sz="1250" dirty="0"/>
          </a:p>
        </p:txBody>
      </p:sp>
      <p:sp>
        <p:nvSpPr>
          <p:cNvPr id="9" name="Text 7"/>
          <p:cNvSpPr/>
          <p:nvPr/>
        </p:nvSpPr>
        <p:spPr>
          <a:xfrm>
            <a:off x="859536" y="1956816"/>
            <a:ext cx="4937760" cy="56692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Seven of twenty panels changed between r3 and r4. Their recoverability differs completely — and that difference is the whole feature.</a:t>
            </a:r>
            <a:endParaRPr lang="en-US" sz="1150" dirty="0"/>
          </a:p>
        </p:txBody>
      </p:sp>
      <p:sp>
        <p:nvSpPr>
          <p:cNvPr id="10" name="Text 8"/>
          <p:cNvSpPr/>
          <p:nvPr/>
        </p:nvSpPr>
        <p:spPr>
          <a:xfrm>
            <a:off x="859536" y="2615184"/>
            <a:ext cx="1737360" cy="310896"/>
          </a:xfrm>
          <a:prstGeom prst="rect">
            <a:avLst/>
          </a:prstGeom>
          <a:noFill/>
          <a:ln/>
        </p:spPr>
        <p:txBody>
          <a:bodyPr wrap="square" lIns="0" tIns="0" rIns="0" bIns="0" rtlCol="0" anchor="ctr"/>
          <a:lstStyle/>
          <a:p>
            <a:pPr marL="0" indent="0">
              <a:buNone/>
            </a:pPr>
            <a:r>
              <a:rPr lang="en-US" sz="1200" b="1" dirty="0">
                <a:solidFill>
                  <a:srgbClr val="1C1F26"/>
                </a:solidFill>
                <a:latin typeface="Calibri" pitchFamily="34" charset="0"/>
                <a:ea typeface="Calibri" pitchFamily="34" charset="-122"/>
                <a:cs typeface="Calibri" pitchFamily="34" charset="-120"/>
              </a:rPr>
              <a:t>4 manufactured</a:t>
            </a:r>
            <a:endParaRPr lang="en-US" sz="1200" dirty="0"/>
          </a:p>
        </p:txBody>
      </p:sp>
      <p:sp>
        <p:nvSpPr>
          <p:cNvPr id="11" name="Text 9"/>
          <p:cNvSpPr/>
          <p:nvPr/>
        </p:nvSpPr>
        <p:spPr>
          <a:xfrm>
            <a:off x="2651760" y="2615184"/>
            <a:ext cx="1097280" cy="310896"/>
          </a:xfrm>
          <a:prstGeom prst="rect">
            <a:avLst/>
          </a:prstGeom>
          <a:noFill/>
          <a:ln/>
        </p:spPr>
        <p:txBody>
          <a:bodyPr wrap="square" lIns="0" tIns="0" rIns="0" bIns="0" rtlCol="0" anchor="ctr"/>
          <a:lstStyle/>
          <a:p>
            <a:pPr marL="0" indent="0">
              <a:buNone/>
            </a:pPr>
            <a:r>
              <a:rPr lang="en-US" sz="1200" b="1" dirty="0">
                <a:solidFill>
                  <a:srgbClr val="A32020"/>
                </a:solidFill>
                <a:latin typeface="Calibri" pitchFamily="34" charset="0"/>
                <a:ea typeface="Calibri" pitchFamily="34" charset="-122"/>
                <a:cs typeface="Calibri" pitchFamily="34" charset="-120"/>
              </a:rPr>
              <a:t>£720</a:t>
            </a:r>
            <a:endParaRPr lang="en-US" sz="1200" dirty="0"/>
          </a:p>
        </p:txBody>
      </p:sp>
      <p:sp>
        <p:nvSpPr>
          <p:cNvPr id="12" name="Text 10"/>
          <p:cNvSpPr/>
          <p:nvPr/>
        </p:nvSpPr>
        <p:spPr>
          <a:xfrm>
            <a:off x="3794760" y="2615184"/>
            <a:ext cx="2011680" cy="310896"/>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must be re-made</a:t>
            </a:r>
            <a:endParaRPr lang="en-US" sz="1100" dirty="0"/>
          </a:p>
        </p:txBody>
      </p:sp>
      <p:sp>
        <p:nvSpPr>
          <p:cNvPr id="13" name="Text 11"/>
          <p:cNvSpPr/>
          <p:nvPr/>
        </p:nvSpPr>
        <p:spPr>
          <a:xfrm>
            <a:off x="859536" y="3182112"/>
            <a:ext cx="1737360" cy="310896"/>
          </a:xfrm>
          <a:prstGeom prst="rect">
            <a:avLst/>
          </a:prstGeom>
          <a:noFill/>
          <a:ln/>
        </p:spPr>
        <p:txBody>
          <a:bodyPr wrap="square" lIns="0" tIns="0" rIns="0" bIns="0" rtlCol="0" anchor="ctr"/>
          <a:lstStyle/>
          <a:p>
            <a:pPr marL="0" indent="0">
              <a:buNone/>
            </a:pPr>
            <a:r>
              <a:rPr lang="en-US" sz="1200" b="1" dirty="0">
                <a:solidFill>
                  <a:srgbClr val="1C1F26"/>
                </a:solidFill>
                <a:latin typeface="Calibri" pitchFamily="34" charset="0"/>
                <a:ea typeface="Calibri" pitchFamily="34" charset="-122"/>
                <a:cs typeface="Calibri" pitchFamily="34" charset="-120"/>
              </a:rPr>
              <a:t>2 planned</a:t>
            </a:r>
            <a:endParaRPr lang="en-US" sz="1200" dirty="0"/>
          </a:p>
        </p:txBody>
      </p:sp>
      <p:sp>
        <p:nvSpPr>
          <p:cNvPr id="14" name="Text 12"/>
          <p:cNvSpPr/>
          <p:nvPr/>
        </p:nvSpPr>
        <p:spPr>
          <a:xfrm>
            <a:off x="2651760" y="3182112"/>
            <a:ext cx="1097280" cy="310896"/>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£0</a:t>
            </a:r>
            <a:endParaRPr lang="en-US" sz="1200" dirty="0"/>
          </a:p>
        </p:txBody>
      </p:sp>
      <p:sp>
        <p:nvSpPr>
          <p:cNvPr id="15" name="Text 13"/>
          <p:cNvSpPr/>
          <p:nvPr/>
        </p:nvSpPr>
        <p:spPr>
          <a:xfrm>
            <a:off x="3794760" y="3182112"/>
            <a:ext cx="2011680" cy="310896"/>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just re-queue</a:t>
            </a:r>
            <a:endParaRPr lang="en-US" sz="1100" dirty="0"/>
          </a:p>
        </p:txBody>
      </p:sp>
      <p:sp>
        <p:nvSpPr>
          <p:cNvPr id="16" name="Text 14"/>
          <p:cNvSpPr/>
          <p:nvPr/>
        </p:nvSpPr>
        <p:spPr>
          <a:xfrm>
            <a:off x="859536" y="3749040"/>
            <a:ext cx="1737360" cy="310896"/>
          </a:xfrm>
          <a:prstGeom prst="rect">
            <a:avLst/>
          </a:prstGeom>
          <a:noFill/>
          <a:ln/>
        </p:spPr>
        <p:txBody>
          <a:bodyPr wrap="square" lIns="0" tIns="0" rIns="0" bIns="0" rtlCol="0" anchor="ctr"/>
          <a:lstStyle/>
          <a:p>
            <a:pPr marL="0" indent="0">
              <a:buNone/>
            </a:pPr>
            <a:r>
              <a:rPr lang="en-US" sz="1200" b="1" dirty="0">
                <a:solidFill>
                  <a:srgbClr val="1C1F26"/>
                </a:solidFill>
                <a:latin typeface="Calibri" pitchFamily="34" charset="0"/>
                <a:ea typeface="Calibri" pitchFamily="34" charset="-122"/>
                <a:cs typeface="Calibri" pitchFamily="34" charset="-120"/>
              </a:rPr>
              <a:t>1 installed</a:t>
            </a:r>
            <a:endParaRPr lang="en-US" sz="1200" dirty="0"/>
          </a:p>
        </p:txBody>
      </p:sp>
      <p:sp>
        <p:nvSpPr>
          <p:cNvPr id="17" name="Text 15"/>
          <p:cNvSpPr/>
          <p:nvPr/>
        </p:nvSpPr>
        <p:spPr>
          <a:xfrm>
            <a:off x="2651760" y="3749040"/>
            <a:ext cx="1097280" cy="310896"/>
          </a:xfrm>
          <a:prstGeom prst="rect">
            <a:avLst/>
          </a:prstGeom>
          <a:noFill/>
          <a:ln/>
        </p:spPr>
        <p:txBody>
          <a:bodyPr wrap="square" lIns="0" tIns="0" rIns="0" bIns="0" rtlCol="0" anchor="ctr"/>
          <a:lstStyle/>
          <a:p>
            <a:pPr marL="0" indent="0">
              <a:buNone/>
            </a:pPr>
            <a:r>
              <a:rPr lang="en-US" sz="1200" b="1" dirty="0">
                <a:solidFill>
                  <a:srgbClr val="1C1F26"/>
                </a:solidFill>
                <a:latin typeface="Calibri" pitchFamily="34" charset="0"/>
                <a:ea typeface="Calibri" pitchFamily="34" charset="-122"/>
                <a:cs typeface="Calibri" pitchFamily="34" charset="-120"/>
              </a:rPr>
              <a:t>escalate</a:t>
            </a:r>
            <a:endParaRPr lang="en-US" sz="1200" dirty="0"/>
          </a:p>
        </p:txBody>
      </p:sp>
      <p:sp>
        <p:nvSpPr>
          <p:cNvPr id="18" name="Text 16"/>
          <p:cNvSpPr/>
          <p:nvPr/>
        </p:nvSpPr>
        <p:spPr>
          <a:xfrm>
            <a:off x="3794760" y="3749040"/>
            <a:ext cx="2011680" cy="310896"/>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standing in a building</a:t>
            </a:r>
            <a:endParaRPr lang="en-US" sz="1100" dirty="0"/>
          </a:p>
        </p:txBody>
      </p:sp>
      <p:sp>
        <p:nvSpPr>
          <p:cNvPr id="19" name="Text 17"/>
          <p:cNvSpPr/>
          <p:nvPr/>
        </p:nvSpPr>
        <p:spPr>
          <a:xfrm>
            <a:off x="859536" y="4370832"/>
            <a:ext cx="4937760" cy="64008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A tool that shows all seven as equally "affected" reproduces the £430-per-build waste it exists to prevent. The only story that surfaced money was marked Should.</a:t>
            </a:r>
            <a:endParaRPr lang="en-US" sz="1150" dirty="0"/>
          </a:p>
        </p:txBody>
      </p:sp>
      <p:sp>
        <p:nvSpPr>
          <p:cNvPr id="20" name="Shape 18"/>
          <p:cNvSpPr/>
          <p:nvPr/>
        </p:nvSpPr>
        <p:spPr>
          <a:xfrm>
            <a:off x="6172200" y="1417320"/>
            <a:ext cx="5349240" cy="3703320"/>
          </a:xfrm>
          <a:prstGeom prst="rect">
            <a:avLst/>
          </a:prstGeom>
          <a:solidFill>
            <a:srgbClr val="FFFFFF"/>
          </a:solidFill>
          <a:ln w="12700">
            <a:solidFill>
              <a:srgbClr val="D8D2C9"/>
            </a:solidFill>
            <a:prstDash val="solid"/>
          </a:ln>
        </p:spPr>
        <p:txBody>
          <a:bodyPr/>
          <a:lstStyle/>
          <a:p>
            <a:endParaRPr lang="en-US"/>
          </a:p>
        </p:txBody>
      </p:sp>
      <p:sp>
        <p:nvSpPr>
          <p:cNvPr id="21" name="Shape 19"/>
          <p:cNvSpPr/>
          <p:nvPr/>
        </p:nvSpPr>
        <p:spPr>
          <a:xfrm>
            <a:off x="6172200" y="1417320"/>
            <a:ext cx="5349240" cy="420624"/>
          </a:xfrm>
          <a:prstGeom prst="rect">
            <a:avLst/>
          </a:prstGeom>
          <a:solidFill>
            <a:srgbClr val="1C1F26"/>
          </a:solidFill>
          <a:ln/>
        </p:spPr>
        <p:txBody>
          <a:bodyPr/>
          <a:lstStyle/>
          <a:p>
            <a:endParaRPr lang="en-US"/>
          </a:p>
        </p:txBody>
      </p:sp>
      <p:sp>
        <p:nvSpPr>
          <p:cNvPr id="22" name="Text 20"/>
          <p:cNvSpPr/>
          <p:nvPr/>
        </p:nvSpPr>
        <p:spPr>
          <a:xfrm>
            <a:off x="6391656" y="1417320"/>
            <a:ext cx="49377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Firmware v4.2 event schema contract</a:t>
            </a:r>
            <a:endParaRPr lang="en-US" sz="1250" dirty="0"/>
          </a:p>
        </p:txBody>
      </p:sp>
      <p:sp>
        <p:nvSpPr>
          <p:cNvPr id="23" name="Text 21"/>
          <p:cNvSpPr/>
          <p:nvPr/>
        </p:nvSpPr>
        <p:spPr>
          <a:xfrm>
            <a:off x="6391656" y="1956816"/>
            <a:ext cx="4937760" cy="56692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Three separate blockers turn out to be one missing document. Nobody wrote down what the controller must emit — only what it must do.</a:t>
            </a:r>
            <a:endParaRPr lang="en-US" sz="1150" dirty="0"/>
          </a:p>
        </p:txBody>
      </p:sp>
      <p:sp>
        <p:nvSpPr>
          <p:cNvPr id="24" name="Text 22"/>
          <p:cNvSpPr/>
          <p:nvPr/>
        </p:nvSpPr>
        <p:spPr>
          <a:xfrm>
            <a:off x="6391656" y="2615184"/>
            <a:ext cx="2651760" cy="310896"/>
          </a:xfrm>
          <a:prstGeom prst="rect">
            <a:avLst/>
          </a:prstGeom>
          <a:noFill/>
          <a:ln/>
        </p:spPr>
        <p:txBody>
          <a:bodyPr wrap="square" lIns="0" tIns="0" rIns="0" bIns="0" rtlCol="0" anchor="ctr"/>
          <a:lstStyle/>
          <a:p>
            <a:pPr marL="0" indent="0">
              <a:buNone/>
            </a:pPr>
            <a:r>
              <a:rPr lang="en-US" sz="1150" b="1" dirty="0">
                <a:solidFill>
                  <a:srgbClr val="1C1F26"/>
                </a:solidFill>
                <a:latin typeface="Calibri" pitchFamily="34" charset="0"/>
                <a:ea typeface="Calibri" pitchFamily="34" charset="-122"/>
                <a:cs typeface="Calibri" pitchFamily="34" charset="-120"/>
              </a:rPr>
              <a:t>FM-4  buffer and reconcile</a:t>
            </a:r>
            <a:endParaRPr lang="en-US" sz="1150" dirty="0"/>
          </a:p>
        </p:txBody>
      </p:sp>
      <p:sp>
        <p:nvSpPr>
          <p:cNvPr id="25" name="Text 23"/>
          <p:cNvSpPr/>
          <p:nvPr/>
        </p:nvSpPr>
        <p:spPr>
          <a:xfrm>
            <a:off x="9098280" y="2615184"/>
            <a:ext cx="2240280" cy="31089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Blocked → fully fixed</a:t>
            </a:r>
            <a:endParaRPr lang="en-US" sz="1100" dirty="0"/>
          </a:p>
        </p:txBody>
      </p:sp>
      <p:sp>
        <p:nvSpPr>
          <p:cNvPr id="26" name="Text 24"/>
          <p:cNvSpPr/>
          <p:nvPr/>
        </p:nvSpPr>
        <p:spPr>
          <a:xfrm>
            <a:off x="6391656" y="3182112"/>
            <a:ext cx="2651760" cy="310896"/>
          </a:xfrm>
          <a:prstGeom prst="rect">
            <a:avLst/>
          </a:prstGeom>
          <a:noFill/>
          <a:ln/>
        </p:spPr>
        <p:txBody>
          <a:bodyPr wrap="square" lIns="0" tIns="0" rIns="0" bIns="0" rtlCol="0" anchor="ctr"/>
          <a:lstStyle/>
          <a:p>
            <a:pPr marL="0" indent="0">
              <a:buNone/>
            </a:pPr>
            <a:r>
              <a:rPr lang="en-US" sz="1150" b="1" dirty="0">
                <a:solidFill>
                  <a:srgbClr val="1C1F26"/>
                </a:solidFill>
                <a:latin typeface="Calibri" pitchFamily="34" charset="0"/>
                <a:ea typeface="Calibri" pitchFamily="34" charset="-122"/>
                <a:cs typeface="Calibri" pitchFamily="34" charset="-120"/>
              </a:rPr>
              <a:t>a2  e-stop audit log</a:t>
            </a:r>
            <a:endParaRPr lang="en-US" sz="1150" dirty="0"/>
          </a:p>
        </p:txBody>
      </p:sp>
      <p:sp>
        <p:nvSpPr>
          <p:cNvPr id="27" name="Text 25"/>
          <p:cNvSpPr/>
          <p:nvPr/>
        </p:nvSpPr>
        <p:spPr>
          <a:xfrm>
            <a:off x="9098280" y="3182112"/>
            <a:ext cx="2240280" cy="31089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Buildable now → improved</a:t>
            </a:r>
            <a:endParaRPr lang="en-US" sz="1100" dirty="0"/>
          </a:p>
        </p:txBody>
      </p:sp>
      <p:sp>
        <p:nvSpPr>
          <p:cNvPr id="28" name="Text 26"/>
          <p:cNvSpPr/>
          <p:nvPr/>
        </p:nvSpPr>
        <p:spPr>
          <a:xfrm>
            <a:off x="6391656" y="3749040"/>
            <a:ext cx="2651760" cy="310896"/>
          </a:xfrm>
          <a:prstGeom prst="rect">
            <a:avLst/>
          </a:prstGeom>
          <a:noFill/>
          <a:ln/>
        </p:spPr>
        <p:txBody>
          <a:bodyPr wrap="square" lIns="0" tIns="0" rIns="0" bIns="0" rtlCol="0" anchor="ctr"/>
          <a:lstStyle/>
          <a:p>
            <a:pPr marL="0" indent="0">
              <a:buNone/>
            </a:pPr>
            <a:r>
              <a:rPr lang="en-US" sz="1150" b="1" dirty="0">
                <a:solidFill>
                  <a:srgbClr val="1C1F26"/>
                </a:solidFill>
                <a:latin typeface="Calibri" pitchFamily="34" charset="0"/>
                <a:ea typeface="Calibri" pitchFamily="34" charset="-122"/>
                <a:cs typeface="Calibri" pitchFamily="34" charset="-120"/>
              </a:rPr>
              <a:t>a3  per-axis stop timing</a:t>
            </a:r>
            <a:endParaRPr lang="en-US" sz="1150" dirty="0"/>
          </a:p>
        </p:txBody>
      </p:sp>
      <p:sp>
        <p:nvSpPr>
          <p:cNvPr id="29" name="Text 27"/>
          <p:cNvSpPr/>
          <p:nvPr/>
        </p:nvSpPr>
        <p:spPr>
          <a:xfrm>
            <a:off x="9098280" y="3749040"/>
            <a:ext cx="2240280" cy="31089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Needs a new event type</a:t>
            </a:r>
            <a:endParaRPr lang="en-US" sz="1100" dirty="0"/>
          </a:p>
        </p:txBody>
      </p:sp>
      <p:sp>
        <p:nvSpPr>
          <p:cNvPr id="30" name="Text 28"/>
          <p:cNvSpPr/>
          <p:nvPr/>
        </p:nvSpPr>
        <p:spPr>
          <a:xfrm>
            <a:off x="6391656" y="4370832"/>
            <a:ext cx="4937760" cy="64008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One document, three blockers, three different resolutions — I was wrong to say it fixed all three. It must be agreed before boards land in week 3, because there is no v4.3 before the demo.</a:t>
            </a:r>
            <a:endParaRPr lang="en-US" sz="1150" dirty="0"/>
          </a:p>
        </p:txBody>
      </p:sp>
      <p:sp>
        <p:nvSpPr>
          <p:cNvPr id="31" name="Text 29"/>
          <p:cNvSpPr/>
          <p:nvPr/>
        </p:nvSpPr>
        <p:spPr>
          <a:xfrm>
            <a:off x="640080" y="5321808"/>
            <a:ext cx="10881360" cy="310896"/>
          </a:xfrm>
          <a:prstGeom prst="rect">
            <a:avLst/>
          </a:prstGeom>
          <a:noFill/>
          <a:ln/>
        </p:spPr>
        <p:txBody>
          <a:bodyPr wrap="square" lIns="0" tIns="0" rIns="0" bIns="0" rtlCol="0" anchor="ctr"/>
          <a:lstStyle/>
          <a:p>
            <a:pPr marL="0" indent="0">
              <a:buNone/>
            </a:pPr>
            <a:r>
              <a:rPr lang="en-US" sz="1200" i="1" dirty="0">
                <a:solidFill>
                  <a:srgbClr val="6E7781"/>
                </a:solidFill>
                <a:latin typeface="Calibri" pitchFamily="34" charset="0"/>
                <a:ea typeface="Calibri" pitchFamily="34" charset="-122"/>
                <a:cs typeface="Calibri" pitchFamily="34" charset="-120"/>
              </a:rPr>
              <a:t>Both findings came from running the fixture data rather than reading the briefs.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What I built, and why not the obvious one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The brief asks for one slice. The second settles an architectural disagreement in code.</a:t>
            </a:r>
            <a:endParaRPr lang="en-US" sz="1400" dirty="0"/>
          </a:p>
        </p:txBody>
      </p:sp>
      <p:sp>
        <p:nvSpPr>
          <p:cNvPr id="6" name="Shape 4"/>
          <p:cNvSpPr/>
          <p:nvPr/>
        </p:nvSpPr>
        <p:spPr>
          <a:xfrm>
            <a:off x="640080" y="1417320"/>
            <a:ext cx="5349240" cy="4206240"/>
          </a:xfrm>
          <a:prstGeom prst="rect">
            <a:avLst/>
          </a:prstGeom>
          <a:solidFill>
            <a:srgbClr val="FFFFFF"/>
          </a:solidFill>
          <a:ln w="12700">
            <a:solidFill>
              <a:srgbClr val="D8D2C9"/>
            </a:solidFill>
            <a:prstDash val="solid"/>
          </a:ln>
        </p:spPr>
        <p:txBody>
          <a:bodyPr/>
          <a:lstStyle/>
          <a:p>
            <a:endParaRPr lang="en-US"/>
          </a:p>
        </p:txBody>
      </p:sp>
      <p:sp>
        <p:nvSpPr>
          <p:cNvPr id="7" name="Text 5"/>
          <p:cNvSpPr/>
          <p:nvPr/>
        </p:nvSpPr>
        <p:spPr>
          <a:xfrm>
            <a:off x="859536" y="1591056"/>
            <a:ext cx="4937760" cy="256032"/>
          </a:xfrm>
          <a:prstGeom prst="rect">
            <a:avLst/>
          </a:prstGeom>
          <a:noFill/>
          <a:ln/>
        </p:spPr>
        <p:txBody>
          <a:bodyPr wrap="square" lIns="0" tIns="0" rIns="0" bIns="0" rtlCol="0" anchor="ctr"/>
          <a:lstStyle/>
          <a:p>
            <a:pPr marL="0" indent="0">
              <a:buNone/>
            </a:pPr>
            <a:r>
              <a:rPr lang="en-US" sz="1000" b="1" kern="0" spc="140" dirty="0">
                <a:solidFill>
                  <a:srgbClr val="A32020"/>
                </a:solidFill>
                <a:latin typeface="Calibri" pitchFamily="34" charset="0"/>
                <a:ea typeface="Calibri" pitchFamily="34" charset="-122"/>
                <a:cs typeface="Calibri" pitchFamily="34" charset="-120"/>
              </a:rPr>
              <a:t>SLICE 1 · PYTHON</a:t>
            </a:r>
            <a:endParaRPr lang="en-US" sz="1000" dirty="0"/>
          </a:p>
        </p:txBody>
      </p:sp>
      <p:sp>
        <p:nvSpPr>
          <p:cNvPr id="8" name="Text 6"/>
          <p:cNvSpPr/>
          <p:nvPr/>
        </p:nvSpPr>
        <p:spPr>
          <a:xfrm>
            <a:off x="859536" y="1883664"/>
            <a:ext cx="4937760" cy="384048"/>
          </a:xfrm>
          <a:prstGeom prst="rect">
            <a:avLst/>
          </a:prstGeom>
          <a:noFill/>
          <a:ln/>
        </p:spPr>
        <p:txBody>
          <a:bodyPr wrap="square" lIns="0" tIns="0" rIns="0" bIns="0" rtlCol="0" anchor="ctr"/>
          <a:lstStyle/>
          <a:p>
            <a:pPr marL="0" indent="0">
              <a:buNone/>
            </a:pPr>
            <a:r>
              <a:rPr lang="en-US" sz="1900" b="1" dirty="0">
                <a:solidFill>
                  <a:srgbClr val="1C1F26"/>
                </a:solidFill>
                <a:latin typeface="Cambria" pitchFamily="34" charset="0"/>
                <a:ea typeface="Cambria" pitchFamily="34" charset="-122"/>
                <a:cs typeface="Cambria" pitchFamily="34" charset="-120"/>
              </a:rPr>
              <a:t>E-stop audit and stop-response</a:t>
            </a:r>
            <a:endParaRPr lang="en-US" sz="1900" dirty="0"/>
          </a:p>
        </p:txBody>
      </p:sp>
      <p:sp>
        <p:nvSpPr>
          <p:cNvPr id="9" name="Text 7"/>
          <p:cNvSpPr/>
          <p:nvPr/>
        </p:nvSpPr>
        <p:spPr>
          <a:xfrm>
            <a:off x="859536" y="2286000"/>
            <a:ext cx="4937760" cy="274320"/>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Inspection actions a2 and a3</a:t>
            </a:r>
            <a:endParaRPr lang="en-US" sz="1150" dirty="0"/>
          </a:p>
        </p:txBody>
      </p:sp>
      <p:sp>
        <p:nvSpPr>
          <p:cNvPr id="10" name="Shape 8"/>
          <p:cNvSpPr/>
          <p:nvPr/>
        </p:nvSpPr>
        <p:spPr>
          <a:xfrm>
            <a:off x="877824" y="2807208"/>
            <a:ext cx="91440" cy="91440"/>
          </a:xfrm>
          <a:prstGeom prst="rect">
            <a:avLst/>
          </a:prstGeom>
          <a:solidFill>
            <a:srgbClr val="A32020"/>
          </a:solidFill>
          <a:ln/>
        </p:spPr>
        <p:txBody>
          <a:bodyPr/>
          <a:lstStyle/>
          <a:p>
            <a:endParaRPr lang="en-US"/>
          </a:p>
        </p:txBody>
      </p:sp>
      <p:sp>
        <p:nvSpPr>
          <p:cNvPr id="11" name="Text 9"/>
          <p:cNvSpPr/>
          <p:nvPr/>
        </p:nvSpPr>
        <p:spPr>
          <a:xfrm>
            <a:off x="1115568" y="2724912"/>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a2 is the first link in the chain that gates the unsupervised demo.</a:t>
            </a:r>
            <a:endParaRPr lang="en-US" sz="1150" dirty="0"/>
          </a:p>
        </p:txBody>
      </p:sp>
      <p:sp>
        <p:nvSpPr>
          <p:cNvPr id="12" name="Shape 10"/>
          <p:cNvSpPr/>
          <p:nvPr/>
        </p:nvSpPr>
        <p:spPr>
          <a:xfrm>
            <a:off x="877824" y="3410712"/>
            <a:ext cx="91440" cy="91440"/>
          </a:xfrm>
          <a:prstGeom prst="rect">
            <a:avLst/>
          </a:prstGeom>
          <a:solidFill>
            <a:srgbClr val="A32020"/>
          </a:solidFill>
          <a:ln/>
        </p:spPr>
        <p:txBody>
          <a:bodyPr/>
          <a:lstStyle/>
          <a:p>
            <a:endParaRPr lang="en-US"/>
          </a:p>
        </p:txBody>
      </p:sp>
      <p:sp>
        <p:nvSpPr>
          <p:cNvPr id="13" name="Text 11"/>
          <p:cNvSpPr/>
          <p:nvPr/>
        </p:nvSpPr>
        <p:spPr>
          <a:xfrm>
            <a:off x="1115568" y="3328416"/>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a3 had no owner — the hand-over reads "Not agreed".</a:t>
            </a:r>
            <a:endParaRPr lang="en-US" sz="1150" dirty="0"/>
          </a:p>
        </p:txBody>
      </p:sp>
      <p:sp>
        <p:nvSpPr>
          <p:cNvPr id="14" name="Shape 12"/>
          <p:cNvSpPr/>
          <p:nvPr/>
        </p:nvSpPr>
        <p:spPr>
          <a:xfrm>
            <a:off x="877824" y="4014216"/>
            <a:ext cx="91440" cy="91440"/>
          </a:xfrm>
          <a:prstGeom prst="rect">
            <a:avLst/>
          </a:prstGeom>
          <a:solidFill>
            <a:srgbClr val="A32020"/>
          </a:solidFill>
          <a:ln/>
        </p:spPr>
        <p:txBody>
          <a:bodyPr/>
          <a:lstStyle/>
          <a:p>
            <a:endParaRPr lang="en-US"/>
          </a:p>
        </p:txBody>
      </p:sp>
      <p:sp>
        <p:nvSpPr>
          <p:cNvPr id="15" name="Text 13"/>
          <p:cNvSpPr/>
          <p:nvPr/>
        </p:nvSpPr>
        <p:spPr>
          <a:xfrm>
            <a:off x="1115568" y="3931920"/>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Sits across the software/robotics boundary, where a lead should be.</a:t>
            </a:r>
            <a:endParaRPr lang="en-US" sz="1150" dirty="0"/>
          </a:p>
        </p:txBody>
      </p:sp>
      <p:sp>
        <p:nvSpPr>
          <p:cNvPr id="16" name="Text 14"/>
          <p:cNvSpPr/>
          <p:nvPr/>
        </p:nvSpPr>
        <p:spPr>
          <a:xfrm>
            <a:off x="859536" y="4700016"/>
            <a:ext cx="4937760" cy="749808"/>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Records a ≤1s resolution limit rather than false precision. Per-axis deltas are not derivable: six axes, one event, one timestamp.</a:t>
            </a:r>
            <a:endParaRPr lang="en-US" sz="1050" dirty="0"/>
          </a:p>
        </p:txBody>
      </p:sp>
      <p:sp>
        <p:nvSpPr>
          <p:cNvPr id="17" name="Shape 15"/>
          <p:cNvSpPr/>
          <p:nvPr/>
        </p:nvSpPr>
        <p:spPr>
          <a:xfrm>
            <a:off x="6172200" y="1417320"/>
            <a:ext cx="5349240" cy="4206240"/>
          </a:xfrm>
          <a:prstGeom prst="rect">
            <a:avLst/>
          </a:prstGeom>
          <a:solidFill>
            <a:srgbClr val="FFFFFF"/>
          </a:solidFill>
          <a:ln w="12700">
            <a:solidFill>
              <a:srgbClr val="D8D2C9"/>
            </a:solidFill>
            <a:prstDash val="solid"/>
          </a:ln>
        </p:spPr>
        <p:txBody>
          <a:bodyPr/>
          <a:lstStyle/>
          <a:p>
            <a:endParaRPr lang="en-US"/>
          </a:p>
        </p:txBody>
      </p:sp>
      <p:sp>
        <p:nvSpPr>
          <p:cNvPr id="18" name="Text 16"/>
          <p:cNvSpPr/>
          <p:nvPr/>
        </p:nvSpPr>
        <p:spPr>
          <a:xfrm>
            <a:off x="6391656" y="1591056"/>
            <a:ext cx="4937760" cy="256032"/>
          </a:xfrm>
          <a:prstGeom prst="rect">
            <a:avLst/>
          </a:prstGeom>
          <a:noFill/>
          <a:ln/>
        </p:spPr>
        <p:txBody>
          <a:bodyPr wrap="square" lIns="0" tIns="0" rIns="0" bIns="0" rtlCol="0" anchor="ctr"/>
          <a:lstStyle/>
          <a:p>
            <a:pPr marL="0" indent="0">
              <a:buNone/>
            </a:pPr>
            <a:r>
              <a:rPr lang="en-US" sz="1000" b="1" kern="0" spc="140" dirty="0">
                <a:solidFill>
                  <a:srgbClr val="B8621B"/>
                </a:solidFill>
                <a:latin typeface="Calibri" pitchFamily="34" charset="0"/>
                <a:ea typeface="Calibri" pitchFamily="34" charset="-122"/>
                <a:cs typeface="Calibri" pitchFamily="34" charset="-120"/>
              </a:rPr>
              <a:t>SLICE 2 · TYPESCRIPT</a:t>
            </a:r>
            <a:endParaRPr lang="en-US" sz="1000" dirty="0"/>
          </a:p>
        </p:txBody>
      </p:sp>
      <p:sp>
        <p:nvSpPr>
          <p:cNvPr id="19" name="Text 17"/>
          <p:cNvSpPr/>
          <p:nvPr/>
        </p:nvSpPr>
        <p:spPr>
          <a:xfrm>
            <a:off x="6391656" y="1883664"/>
            <a:ext cx="4937760" cy="384048"/>
          </a:xfrm>
          <a:prstGeom prst="rect">
            <a:avLst/>
          </a:prstGeom>
          <a:noFill/>
          <a:ln/>
        </p:spPr>
        <p:txBody>
          <a:bodyPr wrap="square" lIns="0" tIns="0" rIns="0" bIns="0" rtlCol="0" anchor="ctr"/>
          <a:lstStyle/>
          <a:p>
            <a:pPr marL="0" indent="0">
              <a:buNone/>
            </a:pPr>
            <a:r>
              <a:rPr lang="en-US" sz="1900" b="1" dirty="0">
                <a:solidFill>
                  <a:srgbClr val="1C1F26"/>
                </a:solidFill>
                <a:latin typeface="Cambria" pitchFamily="34" charset="0"/>
                <a:ea typeface="Cambria" pitchFamily="34" charset="-122"/>
                <a:cs typeface="Cambria" pitchFamily="34" charset="-120"/>
              </a:rPr>
              <a:t>Revision impact and cost</a:t>
            </a:r>
            <a:endParaRPr lang="en-US" sz="1900" dirty="0"/>
          </a:p>
        </p:txBody>
      </p:sp>
      <p:sp>
        <p:nvSpPr>
          <p:cNvPr id="20" name="Text 18"/>
          <p:cNvSpPr/>
          <p:nvPr/>
        </p:nvSpPr>
        <p:spPr>
          <a:xfrm>
            <a:off x="6391656" y="2286000"/>
            <a:ext cx="4937760" cy="274320"/>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Stories PR-1 and PR-6</a:t>
            </a:r>
            <a:endParaRPr lang="en-US" sz="1150" dirty="0"/>
          </a:p>
        </p:txBody>
      </p:sp>
      <p:sp>
        <p:nvSpPr>
          <p:cNvPr id="21" name="Shape 19"/>
          <p:cNvSpPr/>
          <p:nvPr/>
        </p:nvSpPr>
        <p:spPr>
          <a:xfrm>
            <a:off x="6409944" y="2807208"/>
            <a:ext cx="91440" cy="91440"/>
          </a:xfrm>
          <a:prstGeom prst="rect">
            <a:avLst/>
          </a:prstGeom>
          <a:solidFill>
            <a:srgbClr val="B8621B"/>
          </a:solidFill>
          <a:ln/>
        </p:spPr>
        <p:txBody>
          <a:bodyPr/>
          <a:lstStyle/>
          <a:p>
            <a:endParaRPr lang="en-US"/>
          </a:p>
        </p:txBody>
      </p:sp>
      <p:sp>
        <p:nvSpPr>
          <p:cNvPr id="22" name="Text 20"/>
          <p:cNvSpPr/>
          <p:nvPr/>
        </p:nvSpPr>
        <p:spPr>
          <a:xfrm>
            <a:off x="6647688" y="2724912"/>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The money is in classification, not detection.</a:t>
            </a:r>
            <a:endParaRPr lang="en-US" sz="1150" dirty="0"/>
          </a:p>
        </p:txBody>
      </p:sp>
      <p:sp>
        <p:nvSpPr>
          <p:cNvPr id="23" name="Shape 21"/>
          <p:cNvSpPr/>
          <p:nvPr/>
        </p:nvSpPr>
        <p:spPr>
          <a:xfrm>
            <a:off x="6409944" y="3410712"/>
            <a:ext cx="91440" cy="91440"/>
          </a:xfrm>
          <a:prstGeom prst="rect">
            <a:avLst/>
          </a:prstGeom>
          <a:solidFill>
            <a:srgbClr val="B8621B"/>
          </a:solidFill>
          <a:ln/>
        </p:spPr>
        <p:txBody>
          <a:bodyPr/>
          <a:lstStyle/>
          <a:p>
            <a:endParaRPr lang="en-US"/>
          </a:p>
        </p:txBody>
      </p:sp>
      <p:sp>
        <p:nvSpPr>
          <p:cNvPr id="24" name="Text 22"/>
          <p:cNvSpPr/>
          <p:nvPr/>
        </p:nvSpPr>
        <p:spPr>
          <a:xfrm>
            <a:off x="6647688" y="3328416"/>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A pure function over two whole builds — no schema mutation.</a:t>
            </a:r>
            <a:endParaRPr lang="en-US" sz="1150" dirty="0"/>
          </a:p>
        </p:txBody>
      </p:sp>
      <p:sp>
        <p:nvSpPr>
          <p:cNvPr id="25" name="Shape 23"/>
          <p:cNvSpPr/>
          <p:nvPr/>
        </p:nvSpPr>
        <p:spPr>
          <a:xfrm>
            <a:off x="6409944" y="4014216"/>
            <a:ext cx="91440" cy="91440"/>
          </a:xfrm>
          <a:prstGeom prst="rect">
            <a:avLst/>
          </a:prstGeom>
          <a:solidFill>
            <a:srgbClr val="B8621B"/>
          </a:solidFill>
          <a:ln/>
        </p:spPr>
        <p:txBody>
          <a:bodyPr/>
          <a:lstStyle/>
          <a:p>
            <a:endParaRPr lang="en-US"/>
          </a:p>
        </p:txBody>
      </p:sp>
      <p:sp>
        <p:nvSpPr>
          <p:cNvPr id="26" name="Text 24"/>
          <p:cNvSpPr/>
          <p:nvPr/>
        </p:nvSpPr>
        <p:spPr>
          <a:xfrm>
            <a:off x="6647688" y="3931920"/>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If it works without previousSpec, that argument is over.</a:t>
            </a:r>
            <a:endParaRPr lang="en-US" sz="1150" dirty="0"/>
          </a:p>
        </p:txBody>
      </p:sp>
      <p:sp>
        <p:nvSpPr>
          <p:cNvPr id="27" name="Text 25"/>
          <p:cNvSpPr/>
          <p:nvPr/>
        </p:nvSpPr>
        <p:spPr>
          <a:xfrm>
            <a:off x="6391656" y="4700016"/>
            <a:ext cx="4937760" cy="749808"/>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Alex planned to add revision and previousSpec to PanelSpec — a schema Jo is deleting — which supports only one step back and forces a rewrite at cutover.</a:t>
            </a:r>
            <a:endParaRPr lang="en-US" sz="1050" dirty="0"/>
          </a:p>
        </p:txBody>
      </p:sp>
      <p:sp>
        <p:nvSpPr>
          <p:cNvPr id="28" name="Text 26"/>
          <p:cNvSpPr/>
          <p:nvPr/>
        </p:nvSpPr>
        <p:spPr>
          <a:xfrm>
            <a:off x="640080" y="5833872"/>
            <a:ext cx="10881360" cy="457200"/>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Not built: the telemetry buffer (not buildable on the current schema — the deliverable was the contract), any UI (Sam's work), estimation tooling (ships nothing on 12 Oct).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The assumptions that carry weight</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Each written so it can be proved wrong. Ten in the plan; these four decide the outcome.</a:t>
            </a:r>
            <a:endParaRPr lang="en-US" sz="1400" dirty="0"/>
          </a:p>
        </p:txBody>
      </p:sp>
      <p:sp>
        <p:nvSpPr>
          <p:cNvPr id="6" name="Shape 4"/>
          <p:cNvSpPr/>
          <p:nvPr/>
        </p:nvSpPr>
        <p:spPr>
          <a:xfrm>
            <a:off x="640080" y="1463040"/>
            <a:ext cx="10881360" cy="1060704"/>
          </a:xfrm>
          <a:prstGeom prst="rect">
            <a:avLst/>
          </a:prstGeom>
          <a:solidFill>
            <a:srgbClr val="FFFFFF"/>
          </a:solidFill>
          <a:ln w="12700">
            <a:solidFill>
              <a:srgbClr val="D8D2C9"/>
            </a:solidFill>
            <a:prstDash val="solid"/>
          </a:ln>
        </p:spPr>
        <p:txBody>
          <a:bodyPr/>
          <a:lstStyle/>
          <a:p>
            <a:endParaRPr lang="en-US"/>
          </a:p>
        </p:txBody>
      </p:sp>
      <p:sp>
        <p:nvSpPr>
          <p:cNvPr id="7" name="Text 5"/>
          <p:cNvSpPr/>
          <p:nvPr/>
        </p:nvSpPr>
        <p:spPr>
          <a:xfrm>
            <a:off x="841248" y="1627632"/>
            <a:ext cx="658368" cy="384048"/>
          </a:xfrm>
          <a:prstGeom prst="rect">
            <a:avLst/>
          </a:prstGeom>
          <a:noFill/>
          <a:ln/>
        </p:spPr>
        <p:txBody>
          <a:bodyPr wrap="square" lIns="0" tIns="0" rIns="0" bIns="0" rtlCol="0" anchor="ctr"/>
          <a:lstStyle/>
          <a:p>
            <a:pPr marL="0" indent="0" algn="ctr">
              <a:buNone/>
            </a:pPr>
            <a:r>
              <a:rPr lang="en-US" sz="2000" b="1" dirty="0">
                <a:solidFill>
                  <a:srgbClr val="A32020"/>
                </a:solidFill>
                <a:latin typeface="Cambria" pitchFamily="34" charset="0"/>
                <a:ea typeface="Cambria" pitchFamily="34" charset="-122"/>
                <a:cs typeface="Cambria" pitchFamily="34" charset="-120"/>
              </a:rPr>
              <a:t>A1</a:t>
            </a:r>
            <a:endParaRPr lang="en-US" sz="2000" dirty="0"/>
          </a:p>
        </p:txBody>
      </p:sp>
      <p:sp>
        <p:nvSpPr>
          <p:cNvPr id="8" name="Text 6"/>
          <p:cNvSpPr/>
          <p:nvPr/>
        </p:nvSpPr>
        <p:spPr>
          <a:xfrm>
            <a:off x="1609344" y="1618488"/>
            <a:ext cx="5120640" cy="7498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a3's measurement comes from Chris's rig, not from v4.2 firmware timing</a:t>
            </a:r>
            <a:endParaRPr lang="en-US" sz="1250" dirty="0"/>
          </a:p>
        </p:txBody>
      </p:sp>
      <p:sp>
        <p:nvSpPr>
          <p:cNvPr id="9" name="Text 7"/>
          <p:cNvSpPr/>
          <p:nvPr/>
        </p:nvSpPr>
        <p:spPr>
          <a:xfrm>
            <a:off x="6949440" y="1609344"/>
            <a:ext cx="1097280" cy="219456"/>
          </a:xfrm>
          <a:prstGeom prst="rect">
            <a:avLst/>
          </a:prstGeom>
          <a:noFill/>
          <a:ln/>
        </p:spPr>
        <p:txBody>
          <a:bodyPr wrap="square" lIns="0" tIns="0" rIns="0" bIns="0" rtlCol="0" anchor="ctr"/>
          <a:lstStyle/>
          <a:p>
            <a:pPr marL="0" indent="0">
              <a:buNone/>
            </a:pPr>
            <a:r>
              <a:rPr lang="en-US" sz="850" b="1" kern="0" spc="120" dirty="0">
                <a:solidFill>
                  <a:srgbClr val="6E7781"/>
                </a:solidFill>
                <a:latin typeface="Calibri" pitchFamily="34" charset="0"/>
                <a:ea typeface="Calibri" pitchFamily="34" charset="-122"/>
                <a:cs typeface="Calibri" pitchFamily="34" charset="-120"/>
              </a:rPr>
              <a:t>IF WRONG</a:t>
            </a:r>
            <a:endParaRPr lang="en-US" sz="850" dirty="0"/>
          </a:p>
        </p:txBody>
      </p:sp>
      <p:sp>
        <p:nvSpPr>
          <p:cNvPr id="10" name="Text 8"/>
          <p:cNvSpPr/>
          <p:nvPr/>
        </p:nvSpPr>
        <p:spPr>
          <a:xfrm>
            <a:off x="6949440" y="1828800"/>
            <a:ext cx="4297680" cy="603504"/>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The chain cannot complete before 12 Oct. Unsupervised is off, full stop.</a:t>
            </a:r>
            <a:endParaRPr lang="en-US" sz="1100" dirty="0"/>
          </a:p>
        </p:txBody>
      </p:sp>
      <p:sp>
        <p:nvSpPr>
          <p:cNvPr id="11" name="Shape 9"/>
          <p:cNvSpPr/>
          <p:nvPr/>
        </p:nvSpPr>
        <p:spPr>
          <a:xfrm>
            <a:off x="640080" y="2651760"/>
            <a:ext cx="10881360" cy="1060704"/>
          </a:xfrm>
          <a:prstGeom prst="rect">
            <a:avLst/>
          </a:prstGeom>
          <a:solidFill>
            <a:srgbClr val="FFFFFF"/>
          </a:solidFill>
          <a:ln w="12700">
            <a:solidFill>
              <a:srgbClr val="D8D2C9"/>
            </a:solidFill>
            <a:prstDash val="solid"/>
          </a:ln>
        </p:spPr>
        <p:txBody>
          <a:bodyPr/>
          <a:lstStyle/>
          <a:p>
            <a:endParaRPr lang="en-US"/>
          </a:p>
        </p:txBody>
      </p:sp>
      <p:sp>
        <p:nvSpPr>
          <p:cNvPr id="12" name="Text 10"/>
          <p:cNvSpPr/>
          <p:nvPr/>
        </p:nvSpPr>
        <p:spPr>
          <a:xfrm>
            <a:off x="841248" y="2816352"/>
            <a:ext cx="658368" cy="384048"/>
          </a:xfrm>
          <a:prstGeom prst="rect">
            <a:avLst/>
          </a:prstGeom>
          <a:noFill/>
          <a:ln/>
        </p:spPr>
        <p:txBody>
          <a:bodyPr wrap="square" lIns="0" tIns="0" rIns="0" bIns="0" rtlCol="0" anchor="ctr"/>
          <a:lstStyle/>
          <a:p>
            <a:pPr marL="0" indent="0" algn="ctr">
              <a:buNone/>
            </a:pPr>
            <a:r>
              <a:rPr lang="en-US" sz="2000" b="1" dirty="0">
                <a:solidFill>
                  <a:srgbClr val="B8621B"/>
                </a:solidFill>
                <a:latin typeface="Cambria" pitchFamily="34" charset="0"/>
                <a:ea typeface="Cambria" pitchFamily="34" charset="-122"/>
                <a:cs typeface="Cambria" pitchFamily="34" charset="-120"/>
              </a:rPr>
              <a:t>A2</a:t>
            </a:r>
            <a:endParaRPr lang="en-US" sz="2000" dirty="0"/>
          </a:p>
        </p:txBody>
      </p:sp>
      <p:sp>
        <p:nvSpPr>
          <p:cNvPr id="13" name="Text 11"/>
          <p:cNvSpPr/>
          <p:nvPr/>
        </p:nvSpPr>
        <p:spPr>
          <a:xfrm>
            <a:off x="1609344" y="2807208"/>
            <a:ext cx="5120640" cy="7498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Deploying v4.2 after the cell re-test would invalidate it</a:t>
            </a:r>
            <a:endParaRPr lang="en-US" sz="1250" dirty="0"/>
          </a:p>
        </p:txBody>
      </p:sp>
      <p:sp>
        <p:nvSpPr>
          <p:cNvPr id="14" name="Text 12"/>
          <p:cNvSpPr/>
          <p:nvPr/>
        </p:nvSpPr>
        <p:spPr>
          <a:xfrm>
            <a:off x="6949440" y="2798064"/>
            <a:ext cx="1097280" cy="219456"/>
          </a:xfrm>
          <a:prstGeom prst="rect">
            <a:avLst/>
          </a:prstGeom>
          <a:noFill/>
          <a:ln/>
        </p:spPr>
        <p:txBody>
          <a:bodyPr wrap="square" lIns="0" tIns="0" rIns="0" bIns="0" rtlCol="0" anchor="ctr"/>
          <a:lstStyle/>
          <a:p>
            <a:pPr marL="0" indent="0">
              <a:buNone/>
            </a:pPr>
            <a:r>
              <a:rPr lang="en-US" sz="850" b="1" kern="0" spc="120" dirty="0">
                <a:solidFill>
                  <a:srgbClr val="6E7781"/>
                </a:solidFill>
                <a:latin typeface="Calibri" pitchFamily="34" charset="0"/>
                <a:ea typeface="Calibri" pitchFamily="34" charset="-122"/>
                <a:cs typeface="Calibri" pitchFamily="34" charset="-120"/>
              </a:rPr>
              <a:t>IF WRONG</a:t>
            </a:r>
            <a:endParaRPr lang="en-US" sz="850" dirty="0"/>
          </a:p>
        </p:txBody>
      </p:sp>
      <p:sp>
        <p:nvSpPr>
          <p:cNvPr id="15" name="Text 13"/>
          <p:cNvSpPr/>
          <p:nvPr/>
        </p:nvSpPr>
        <p:spPr>
          <a:xfrm>
            <a:off x="6949440" y="3017520"/>
            <a:ext cx="4297680" cy="603504"/>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This is why the firmware splits at all. If the inspector only cares about measured behaviour, the whole ordering problem shrinks.</a:t>
            </a:r>
            <a:endParaRPr lang="en-US" sz="1100" dirty="0"/>
          </a:p>
        </p:txBody>
      </p:sp>
      <p:sp>
        <p:nvSpPr>
          <p:cNvPr id="16" name="Shape 14"/>
          <p:cNvSpPr/>
          <p:nvPr/>
        </p:nvSpPr>
        <p:spPr>
          <a:xfrm>
            <a:off x="640080" y="3840480"/>
            <a:ext cx="10881360" cy="1060704"/>
          </a:xfrm>
          <a:prstGeom prst="rect">
            <a:avLst/>
          </a:prstGeom>
          <a:solidFill>
            <a:srgbClr val="FFFFFF"/>
          </a:solidFill>
          <a:ln w="12700">
            <a:solidFill>
              <a:srgbClr val="D8D2C9"/>
            </a:solidFill>
            <a:prstDash val="solid"/>
          </a:ln>
        </p:spPr>
        <p:txBody>
          <a:bodyPr/>
          <a:lstStyle/>
          <a:p>
            <a:endParaRPr lang="en-US"/>
          </a:p>
        </p:txBody>
      </p:sp>
      <p:sp>
        <p:nvSpPr>
          <p:cNvPr id="17" name="Text 15"/>
          <p:cNvSpPr/>
          <p:nvPr/>
        </p:nvSpPr>
        <p:spPr>
          <a:xfrm>
            <a:off x="841248" y="4005072"/>
            <a:ext cx="658368" cy="384048"/>
          </a:xfrm>
          <a:prstGeom prst="rect">
            <a:avLst/>
          </a:prstGeom>
          <a:noFill/>
          <a:ln/>
        </p:spPr>
        <p:txBody>
          <a:bodyPr wrap="square" lIns="0" tIns="0" rIns="0" bIns="0" rtlCol="0" anchor="ctr"/>
          <a:lstStyle/>
          <a:p>
            <a:pPr marL="0" indent="0" algn="ctr">
              <a:buNone/>
            </a:pPr>
            <a:r>
              <a:rPr lang="en-US" sz="2000" b="1" dirty="0">
                <a:solidFill>
                  <a:srgbClr val="A32020"/>
                </a:solidFill>
                <a:latin typeface="Cambria" pitchFamily="34" charset="0"/>
                <a:ea typeface="Cambria" pitchFamily="34" charset="-122"/>
                <a:cs typeface="Cambria" pitchFamily="34" charset="-120"/>
              </a:rPr>
              <a:t>A4</a:t>
            </a:r>
            <a:endParaRPr lang="en-US" sz="2000" dirty="0"/>
          </a:p>
        </p:txBody>
      </p:sp>
      <p:sp>
        <p:nvSpPr>
          <p:cNvPr id="18" name="Text 16"/>
          <p:cNvSpPr/>
          <p:nvPr/>
        </p:nvSpPr>
        <p:spPr>
          <a:xfrm>
            <a:off x="1609344" y="3995928"/>
            <a:ext cx="5120640" cy="7498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Boards clear supplier testing and arrive in week 3</a:t>
            </a:r>
            <a:endParaRPr lang="en-US" sz="1250" dirty="0"/>
          </a:p>
        </p:txBody>
      </p:sp>
      <p:sp>
        <p:nvSpPr>
          <p:cNvPr id="19" name="Text 17"/>
          <p:cNvSpPr/>
          <p:nvPr/>
        </p:nvSpPr>
        <p:spPr>
          <a:xfrm>
            <a:off x="6949440" y="3986784"/>
            <a:ext cx="1097280" cy="219456"/>
          </a:xfrm>
          <a:prstGeom prst="rect">
            <a:avLst/>
          </a:prstGeom>
          <a:noFill/>
          <a:ln/>
        </p:spPr>
        <p:txBody>
          <a:bodyPr wrap="square" lIns="0" tIns="0" rIns="0" bIns="0" rtlCol="0" anchor="ctr"/>
          <a:lstStyle/>
          <a:p>
            <a:pPr marL="0" indent="0">
              <a:buNone/>
            </a:pPr>
            <a:r>
              <a:rPr lang="en-US" sz="850" b="1" kern="0" spc="120" dirty="0">
                <a:solidFill>
                  <a:srgbClr val="6E7781"/>
                </a:solidFill>
                <a:latin typeface="Calibri" pitchFamily="34" charset="0"/>
                <a:ea typeface="Calibri" pitchFamily="34" charset="-122"/>
                <a:cs typeface="Calibri" pitchFamily="34" charset="-120"/>
              </a:rPr>
              <a:t>IF WRONG</a:t>
            </a:r>
            <a:endParaRPr lang="en-US" sz="850" dirty="0"/>
          </a:p>
        </p:txBody>
      </p:sp>
      <p:sp>
        <p:nvSpPr>
          <p:cNvPr id="20" name="Text 18"/>
          <p:cNvSpPr/>
          <p:nvPr/>
        </p:nvSpPr>
        <p:spPr>
          <a:xfrm>
            <a:off x="6949440" y="4206240"/>
            <a:ext cx="4297680" cy="603504"/>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Firmware slips 1:1. Plan A has one day of float, so a week's slip forces Plan B.</a:t>
            </a:r>
            <a:endParaRPr lang="en-US" sz="1100" dirty="0"/>
          </a:p>
        </p:txBody>
      </p:sp>
      <p:sp>
        <p:nvSpPr>
          <p:cNvPr id="21" name="Shape 19"/>
          <p:cNvSpPr/>
          <p:nvPr/>
        </p:nvSpPr>
        <p:spPr>
          <a:xfrm>
            <a:off x="640080" y="5029200"/>
            <a:ext cx="10881360" cy="1060704"/>
          </a:xfrm>
          <a:prstGeom prst="rect">
            <a:avLst/>
          </a:prstGeom>
          <a:solidFill>
            <a:srgbClr val="FFFFFF"/>
          </a:solidFill>
          <a:ln w="12700">
            <a:solidFill>
              <a:srgbClr val="D8D2C9"/>
            </a:solidFill>
            <a:prstDash val="solid"/>
          </a:ln>
        </p:spPr>
        <p:txBody>
          <a:bodyPr/>
          <a:lstStyle/>
          <a:p>
            <a:endParaRPr lang="en-US"/>
          </a:p>
        </p:txBody>
      </p:sp>
      <p:sp>
        <p:nvSpPr>
          <p:cNvPr id="22" name="Text 20"/>
          <p:cNvSpPr/>
          <p:nvPr/>
        </p:nvSpPr>
        <p:spPr>
          <a:xfrm>
            <a:off x="841248" y="5193792"/>
            <a:ext cx="658368" cy="384048"/>
          </a:xfrm>
          <a:prstGeom prst="rect">
            <a:avLst/>
          </a:prstGeom>
          <a:noFill/>
          <a:ln/>
        </p:spPr>
        <p:txBody>
          <a:bodyPr wrap="square" lIns="0" tIns="0" rIns="0" bIns="0" rtlCol="0" anchor="ctr"/>
          <a:lstStyle/>
          <a:p>
            <a:pPr marL="0" indent="0" algn="ctr">
              <a:buNone/>
            </a:pPr>
            <a:r>
              <a:rPr lang="en-US" sz="2000" b="1" dirty="0">
                <a:solidFill>
                  <a:srgbClr val="B8621B"/>
                </a:solidFill>
                <a:latin typeface="Cambria" pitchFamily="34" charset="0"/>
                <a:ea typeface="Cambria" pitchFamily="34" charset="-122"/>
                <a:cs typeface="Cambria" pitchFamily="34" charset="-120"/>
              </a:rPr>
              <a:t>A10</a:t>
            </a:r>
            <a:endParaRPr lang="en-US" sz="2000" dirty="0"/>
          </a:p>
        </p:txBody>
      </p:sp>
      <p:sp>
        <p:nvSpPr>
          <p:cNvPr id="23" name="Text 21"/>
          <p:cNvSpPr/>
          <p:nvPr/>
        </p:nvSpPr>
        <p:spPr>
          <a:xfrm>
            <a:off x="1609344" y="5184648"/>
            <a:ext cx="5120640" cy="7498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Sam's two surfaces are about six weeks combined</a:t>
            </a:r>
            <a:endParaRPr lang="en-US" sz="1250" dirty="0"/>
          </a:p>
        </p:txBody>
      </p:sp>
      <p:sp>
        <p:nvSpPr>
          <p:cNvPr id="24" name="Text 22"/>
          <p:cNvSpPr/>
          <p:nvPr/>
        </p:nvSpPr>
        <p:spPr>
          <a:xfrm>
            <a:off x="6949440" y="5175504"/>
            <a:ext cx="1097280" cy="219456"/>
          </a:xfrm>
          <a:prstGeom prst="rect">
            <a:avLst/>
          </a:prstGeom>
          <a:noFill/>
          <a:ln/>
        </p:spPr>
        <p:txBody>
          <a:bodyPr wrap="square" lIns="0" tIns="0" rIns="0" bIns="0" rtlCol="0" anchor="ctr"/>
          <a:lstStyle/>
          <a:p>
            <a:pPr marL="0" indent="0">
              <a:buNone/>
            </a:pPr>
            <a:r>
              <a:rPr lang="en-US" sz="850" b="1" kern="0" spc="120" dirty="0">
                <a:solidFill>
                  <a:srgbClr val="6E7781"/>
                </a:solidFill>
                <a:latin typeface="Calibri" pitchFamily="34" charset="0"/>
                <a:ea typeface="Calibri" pitchFamily="34" charset="-122"/>
                <a:cs typeface="Calibri" pitchFamily="34" charset="-120"/>
              </a:rPr>
              <a:t>IF WRONG</a:t>
            </a:r>
            <a:endParaRPr lang="en-US" sz="850" dirty="0"/>
          </a:p>
        </p:txBody>
      </p:sp>
      <p:sp>
        <p:nvSpPr>
          <p:cNvPr id="25" name="Text 23"/>
          <p:cNvSpPr/>
          <p:nvPr/>
        </p:nvSpPr>
        <p:spPr>
          <a:xfrm>
            <a:off x="6949440" y="5394960"/>
            <a:ext cx="4297680" cy="603504"/>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My number, not his — inferred from comparable backlog items. Largest single unknown in the capacity table.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Day one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What happens in week one, with owners and dates. Nothing here waits on a decision.</a:t>
            </a:r>
            <a:endParaRPr lang="en-US" sz="1400" dirty="0"/>
          </a:p>
        </p:txBody>
      </p:sp>
      <p:sp>
        <p:nvSpPr>
          <p:cNvPr id="6" name="Shape 4"/>
          <p:cNvSpPr/>
          <p:nvPr/>
        </p:nvSpPr>
        <p:spPr>
          <a:xfrm>
            <a:off x="640080" y="1444752"/>
            <a:ext cx="10881360" cy="676656"/>
          </a:xfrm>
          <a:prstGeom prst="rect">
            <a:avLst/>
          </a:prstGeom>
          <a:solidFill>
            <a:srgbClr val="FFFFFF"/>
          </a:solidFill>
          <a:ln w="12700">
            <a:solidFill>
              <a:srgbClr val="D8D2C9"/>
            </a:solidFill>
            <a:prstDash val="solid"/>
          </a:ln>
        </p:spPr>
        <p:txBody>
          <a:bodyPr/>
          <a:lstStyle/>
          <a:p>
            <a:endParaRPr lang="en-US"/>
          </a:p>
        </p:txBody>
      </p:sp>
      <p:sp>
        <p:nvSpPr>
          <p:cNvPr id="7" name="Shape 5"/>
          <p:cNvSpPr/>
          <p:nvPr/>
        </p:nvSpPr>
        <p:spPr>
          <a:xfrm>
            <a:off x="841248" y="1719072"/>
            <a:ext cx="128016" cy="128016"/>
          </a:xfrm>
          <a:prstGeom prst="rect">
            <a:avLst/>
          </a:prstGeom>
          <a:solidFill>
            <a:srgbClr val="A32020"/>
          </a:solidFill>
          <a:ln/>
        </p:spPr>
        <p:txBody>
          <a:bodyPr/>
          <a:lstStyle/>
          <a:p>
            <a:endParaRPr lang="en-US"/>
          </a:p>
        </p:txBody>
      </p:sp>
      <p:sp>
        <p:nvSpPr>
          <p:cNvPr id="8" name="Text 6"/>
          <p:cNvSpPr/>
          <p:nvPr/>
        </p:nvSpPr>
        <p:spPr>
          <a:xfrm>
            <a:off x="1097280" y="1499616"/>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Q-A + Q-B to Chris</a:t>
            </a:r>
            <a:endParaRPr lang="en-US" sz="1250" dirty="0"/>
          </a:p>
        </p:txBody>
      </p:sp>
      <p:sp>
        <p:nvSpPr>
          <p:cNvPr id="9" name="Text 7"/>
          <p:cNvSpPr/>
          <p:nvPr/>
        </p:nvSpPr>
        <p:spPr>
          <a:xfrm>
            <a:off x="1097280" y="1792224"/>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Selects Plan A or Plan B before anyone builds against either.</a:t>
            </a:r>
            <a:endParaRPr lang="en-US" sz="1050" dirty="0"/>
          </a:p>
        </p:txBody>
      </p:sp>
      <p:sp>
        <p:nvSpPr>
          <p:cNvPr id="10" name="Text 8"/>
          <p:cNvSpPr/>
          <p:nvPr/>
        </p:nvSpPr>
        <p:spPr>
          <a:xfrm>
            <a:off x="8595360" y="1444752"/>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Chris</a:t>
            </a:r>
            <a:endParaRPr lang="en-US" sz="1100" dirty="0"/>
          </a:p>
        </p:txBody>
      </p:sp>
      <p:sp>
        <p:nvSpPr>
          <p:cNvPr id="11" name="Text 9"/>
          <p:cNvSpPr/>
          <p:nvPr/>
        </p:nvSpPr>
        <p:spPr>
          <a:xfrm>
            <a:off x="10424160" y="1444752"/>
            <a:ext cx="1005840" cy="676656"/>
          </a:xfrm>
          <a:prstGeom prst="rect">
            <a:avLst/>
          </a:prstGeom>
          <a:noFill/>
          <a:ln/>
        </p:spPr>
        <p:txBody>
          <a:bodyPr wrap="square" lIns="0" tIns="0" rIns="0" bIns="0" rtlCol="0" anchor="ctr"/>
          <a:lstStyle/>
          <a:p>
            <a:pPr marL="0" indent="0" algn="r">
              <a:buNone/>
            </a:pPr>
            <a:r>
              <a:rPr lang="en-US" sz="1100" b="1" dirty="0">
                <a:solidFill>
                  <a:srgbClr val="A32020"/>
                </a:solidFill>
                <a:latin typeface="Calibri" pitchFamily="34" charset="0"/>
                <a:ea typeface="Calibri" pitchFamily="34" charset="-122"/>
                <a:cs typeface="Calibri" pitchFamily="34" charset="-120"/>
              </a:rPr>
              <a:t>Fri wk 1</a:t>
            </a:r>
            <a:endParaRPr lang="en-US" sz="1100" dirty="0"/>
          </a:p>
        </p:txBody>
      </p:sp>
      <p:sp>
        <p:nvSpPr>
          <p:cNvPr id="12" name="Shape 10"/>
          <p:cNvSpPr/>
          <p:nvPr/>
        </p:nvSpPr>
        <p:spPr>
          <a:xfrm>
            <a:off x="640080" y="2231136"/>
            <a:ext cx="10881360" cy="676656"/>
          </a:xfrm>
          <a:prstGeom prst="rect">
            <a:avLst/>
          </a:prstGeom>
          <a:solidFill>
            <a:srgbClr val="FFFFFF"/>
          </a:solidFill>
          <a:ln w="12700">
            <a:solidFill>
              <a:srgbClr val="D8D2C9"/>
            </a:solidFill>
            <a:prstDash val="solid"/>
          </a:ln>
        </p:spPr>
        <p:txBody>
          <a:bodyPr/>
          <a:lstStyle/>
          <a:p>
            <a:endParaRPr lang="en-US"/>
          </a:p>
        </p:txBody>
      </p:sp>
      <p:sp>
        <p:nvSpPr>
          <p:cNvPr id="13" name="Shape 11"/>
          <p:cNvSpPr/>
          <p:nvPr/>
        </p:nvSpPr>
        <p:spPr>
          <a:xfrm>
            <a:off x="841248" y="2505456"/>
            <a:ext cx="128016" cy="128016"/>
          </a:xfrm>
          <a:prstGeom prst="rect">
            <a:avLst/>
          </a:prstGeom>
          <a:solidFill>
            <a:srgbClr val="A32020"/>
          </a:solidFill>
          <a:ln/>
        </p:spPr>
        <p:txBody>
          <a:bodyPr/>
          <a:lstStyle/>
          <a:p>
            <a:endParaRPr lang="en-US"/>
          </a:p>
        </p:txBody>
      </p:sp>
      <p:sp>
        <p:nvSpPr>
          <p:cNvPr id="14" name="Text 12"/>
          <p:cNvSpPr/>
          <p:nvPr/>
        </p:nvSpPr>
        <p:spPr>
          <a:xfrm>
            <a:off x="1097280" y="2286000"/>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Circulate the v4.2 event schema contract</a:t>
            </a:r>
            <a:endParaRPr lang="en-US" sz="1250" dirty="0"/>
          </a:p>
        </p:txBody>
      </p:sp>
      <p:sp>
        <p:nvSpPr>
          <p:cNvPr id="15" name="Text 13"/>
          <p:cNvSpPr/>
          <p:nvPr/>
        </p:nvSpPr>
        <p:spPr>
          <a:xfrm>
            <a:off x="1097280" y="2578608"/>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Must be agreed before boards land. There is no v4.3.</a:t>
            </a:r>
            <a:endParaRPr lang="en-US" sz="1050" dirty="0"/>
          </a:p>
        </p:txBody>
      </p:sp>
      <p:sp>
        <p:nvSpPr>
          <p:cNvPr id="16" name="Text 14"/>
          <p:cNvSpPr/>
          <p:nvPr/>
        </p:nvSpPr>
        <p:spPr>
          <a:xfrm>
            <a:off x="8595360" y="2231136"/>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Lead → Chris</a:t>
            </a:r>
            <a:endParaRPr lang="en-US" sz="1100" dirty="0"/>
          </a:p>
        </p:txBody>
      </p:sp>
      <p:sp>
        <p:nvSpPr>
          <p:cNvPr id="17" name="Text 15"/>
          <p:cNvSpPr/>
          <p:nvPr/>
        </p:nvSpPr>
        <p:spPr>
          <a:xfrm>
            <a:off x="10424160" y="2231136"/>
            <a:ext cx="1005840" cy="676656"/>
          </a:xfrm>
          <a:prstGeom prst="rect">
            <a:avLst/>
          </a:prstGeom>
          <a:noFill/>
          <a:ln/>
        </p:spPr>
        <p:txBody>
          <a:bodyPr wrap="square" lIns="0" tIns="0" rIns="0" bIns="0" rtlCol="0" anchor="ctr"/>
          <a:lstStyle/>
          <a:p>
            <a:pPr marL="0" indent="0" algn="r">
              <a:buNone/>
            </a:pPr>
            <a:r>
              <a:rPr lang="en-US" sz="1100" b="1" dirty="0">
                <a:solidFill>
                  <a:srgbClr val="A32020"/>
                </a:solidFill>
                <a:latin typeface="Calibri" pitchFamily="34" charset="0"/>
                <a:ea typeface="Calibri" pitchFamily="34" charset="-122"/>
                <a:cs typeface="Calibri" pitchFamily="34" charset="-120"/>
              </a:rPr>
              <a:t>Fri wk 1</a:t>
            </a:r>
            <a:endParaRPr lang="en-US" sz="1100" dirty="0"/>
          </a:p>
        </p:txBody>
      </p:sp>
      <p:sp>
        <p:nvSpPr>
          <p:cNvPr id="18" name="Shape 16"/>
          <p:cNvSpPr/>
          <p:nvPr/>
        </p:nvSpPr>
        <p:spPr>
          <a:xfrm>
            <a:off x="640080" y="3017520"/>
            <a:ext cx="10881360" cy="676656"/>
          </a:xfrm>
          <a:prstGeom prst="rect">
            <a:avLst/>
          </a:prstGeom>
          <a:solidFill>
            <a:srgbClr val="FFFFFF"/>
          </a:solidFill>
          <a:ln w="12700">
            <a:solidFill>
              <a:srgbClr val="D8D2C9"/>
            </a:solidFill>
            <a:prstDash val="solid"/>
          </a:ln>
        </p:spPr>
        <p:txBody>
          <a:bodyPr/>
          <a:lstStyle/>
          <a:p>
            <a:endParaRPr lang="en-US"/>
          </a:p>
        </p:txBody>
      </p:sp>
      <p:sp>
        <p:nvSpPr>
          <p:cNvPr id="19" name="Shape 17"/>
          <p:cNvSpPr/>
          <p:nvPr/>
        </p:nvSpPr>
        <p:spPr>
          <a:xfrm>
            <a:off x="841248" y="3291840"/>
            <a:ext cx="128016" cy="128016"/>
          </a:xfrm>
          <a:prstGeom prst="rect">
            <a:avLst/>
          </a:prstGeom>
          <a:solidFill>
            <a:srgbClr val="B8621B"/>
          </a:solidFill>
          <a:ln/>
        </p:spPr>
        <p:txBody>
          <a:bodyPr/>
          <a:lstStyle/>
          <a:p>
            <a:endParaRPr lang="en-US"/>
          </a:p>
        </p:txBody>
      </p:sp>
      <p:sp>
        <p:nvSpPr>
          <p:cNvPr id="20" name="Text 18"/>
          <p:cNvSpPr/>
          <p:nvPr/>
        </p:nvSpPr>
        <p:spPr>
          <a:xfrm>
            <a:off x="1097280" y="3072384"/>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Start a2 — build slice 1</a:t>
            </a:r>
            <a:endParaRPr lang="en-US" sz="1250" dirty="0"/>
          </a:p>
        </p:txBody>
      </p:sp>
      <p:sp>
        <p:nvSpPr>
          <p:cNvPr id="21" name="Text 19"/>
          <p:cNvSpPr/>
          <p:nvPr/>
        </p:nvSpPr>
        <p:spPr>
          <a:xfrm>
            <a:off x="1097280" y="3364992"/>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First link in the chain. Also de-risks scheduling rig time.</a:t>
            </a:r>
            <a:endParaRPr lang="en-US" sz="1050" dirty="0"/>
          </a:p>
        </p:txBody>
      </p:sp>
      <p:sp>
        <p:nvSpPr>
          <p:cNvPr id="22" name="Text 20"/>
          <p:cNvSpPr/>
          <p:nvPr/>
        </p:nvSpPr>
        <p:spPr>
          <a:xfrm>
            <a:off x="8595360" y="3017520"/>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Lead</a:t>
            </a:r>
            <a:endParaRPr lang="en-US" sz="1100" dirty="0"/>
          </a:p>
        </p:txBody>
      </p:sp>
      <p:sp>
        <p:nvSpPr>
          <p:cNvPr id="23" name="Text 21"/>
          <p:cNvSpPr/>
          <p:nvPr/>
        </p:nvSpPr>
        <p:spPr>
          <a:xfrm>
            <a:off x="10424160" y="3017520"/>
            <a:ext cx="1005840" cy="676656"/>
          </a:xfrm>
          <a:prstGeom prst="rect">
            <a:avLst/>
          </a:prstGeom>
          <a:noFill/>
          <a:ln/>
        </p:spPr>
        <p:txBody>
          <a:bodyPr wrap="square" lIns="0" tIns="0" rIns="0" bIns="0" rtlCol="0" anchor="ctr"/>
          <a:lstStyle/>
          <a:p>
            <a:pPr marL="0" indent="0" algn="r">
              <a:buNone/>
            </a:pPr>
            <a:r>
              <a:rPr lang="en-US" sz="1100" b="1" dirty="0">
                <a:solidFill>
                  <a:srgbClr val="1C1F26"/>
                </a:solidFill>
                <a:latin typeface="Calibri" pitchFamily="34" charset="0"/>
                <a:ea typeface="Calibri" pitchFamily="34" charset="-122"/>
                <a:cs typeface="Calibri" pitchFamily="34" charset="-120"/>
              </a:rPr>
              <a:t>Day 1</a:t>
            </a:r>
            <a:endParaRPr lang="en-US" sz="1100" dirty="0"/>
          </a:p>
        </p:txBody>
      </p:sp>
      <p:sp>
        <p:nvSpPr>
          <p:cNvPr id="24" name="Shape 22"/>
          <p:cNvSpPr/>
          <p:nvPr/>
        </p:nvSpPr>
        <p:spPr>
          <a:xfrm>
            <a:off x="640080" y="3803904"/>
            <a:ext cx="10881360" cy="676656"/>
          </a:xfrm>
          <a:prstGeom prst="rect">
            <a:avLst/>
          </a:prstGeom>
          <a:solidFill>
            <a:srgbClr val="FFFFFF"/>
          </a:solidFill>
          <a:ln w="12700">
            <a:solidFill>
              <a:srgbClr val="D8D2C9"/>
            </a:solidFill>
            <a:prstDash val="solid"/>
          </a:ln>
        </p:spPr>
        <p:txBody>
          <a:bodyPr/>
          <a:lstStyle/>
          <a:p>
            <a:endParaRPr lang="en-US"/>
          </a:p>
        </p:txBody>
      </p:sp>
      <p:sp>
        <p:nvSpPr>
          <p:cNvPr id="25" name="Shape 23"/>
          <p:cNvSpPr/>
          <p:nvPr/>
        </p:nvSpPr>
        <p:spPr>
          <a:xfrm>
            <a:off x="841248" y="4078224"/>
            <a:ext cx="128016" cy="128016"/>
          </a:xfrm>
          <a:prstGeom prst="rect">
            <a:avLst/>
          </a:prstGeom>
          <a:solidFill>
            <a:srgbClr val="B8621B"/>
          </a:solidFill>
          <a:ln/>
        </p:spPr>
        <p:txBody>
          <a:bodyPr/>
          <a:lstStyle/>
          <a:p>
            <a:endParaRPr lang="en-US"/>
          </a:p>
        </p:txBody>
      </p:sp>
      <p:sp>
        <p:nvSpPr>
          <p:cNvPr id="26" name="Text 24"/>
          <p:cNvSpPr/>
          <p:nvPr/>
        </p:nvSpPr>
        <p:spPr>
          <a:xfrm>
            <a:off x="1097280" y="3858768"/>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Book the inspector provisionally</a:t>
            </a:r>
            <a:endParaRPr lang="en-US" sz="1250" dirty="0"/>
          </a:p>
        </p:txBody>
      </p:sp>
      <p:sp>
        <p:nvSpPr>
          <p:cNvPr id="27" name="Text 25"/>
          <p:cNvSpPr/>
          <p:nvPr/>
        </p:nvSpPr>
        <p:spPr>
          <a:xfrm>
            <a:off x="1097280" y="4151376"/>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Ten working days is the lead time from submission, not from asking.</a:t>
            </a:r>
            <a:endParaRPr lang="en-US" sz="1050" dirty="0"/>
          </a:p>
        </p:txBody>
      </p:sp>
      <p:sp>
        <p:nvSpPr>
          <p:cNvPr id="28" name="Text 26"/>
          <p:cNvSpPr/>
          <p:nvPr/>
        </p:nvSpPr>
        <p:spPr>
          <a:xfrm>
            <a:off x="8595360" y="3803904"/>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Lead</a:t>
            </a:r>
            <a:endParaRPr lang="en-US" sz="1100" dirty="0"/>
          </a:p>
        </p:txBody>
      </p:sp>
      <p:sp>
        <p:nvSpPr>
          <p:cNvPr id="29" name="Text 27"/>
          <p:cNvSpPr/>
          <p:nvPr/>
        </p:nvSpPr>
        <p:spPr>
          <a:xfrm>
            <a:off x="10424160" y="3803904"/>
            <a:ext cx="1005840" cy="676656"/>
          </a:xfrm>
          <a:prstGeom prst="rect">
            <a:avLst/>
          </a:prstGeom>
          <a:noFill/>
          <a:ln/>
        </p:spPr>
        <p:txBody>
          <a:bodyPr wrap="square" lIns="0" tIns="0" rIns="0" bIns="0" rtlCol="0" anchor="ctr"/>
          <a:lstStyle/>
          <a:p>
            <a:pPr marL="0" indent="0" algn="r">
              <a:buNone/>
            </a:pPr>
            <a:r>
              <a:rPr lang="en-US" sz="1100" b="1" dirty="0">
                <a:solidFill>
                  <a:srgbClr val="1C1F26"/>
                </a:solidFill>
                <a:latin typeface="Calibri" pitchFamily="34" charset="0"/>
                <a:ea typeface="Calibri" pitchFamily="34" charset="-122"/>
                <a:cs typeface="Calibri" pitchFamily="34" charset="-120"/>
              </a:rPr>
              <a:t>Day 1</a:t>
            </a:r>
            <a:endParaRPr lang="en-US" sz="1100" dirty="0"/>
          </a:p>
        </p:txBody>
      </p:sp>
      <p:sp>
        <p:nvSpPr>
          <p:cNvPr id="30" name="Shape 28"/>
          <p:cNvSpPr/>
          <p:nvPr/>
        </p:nvSpPr>
        <p:spPr>
          <a:xfrm>
            <a:off x="640080" y="4590288"/>
            <a:ext cx="10881360" cy="676656"/>
          </a:xfrm>
          <a:prstGeom prst="rect">
            <a:avLst/>
          </a:prstGeom>
          <a:solidFill>
            <a:srgbClr val="FFFFFF"/>
          </a:solidFill>
          <a:ln w="12700">
            <a:solidFill>
              <a:srgbClr val="D8D2C9"/>
            </a:solidFill>
            <a:prstDash val="solid"/>
          </a:ln>
        </p:spPr>
        <p:txBody>
          <a:bodyPr/>
          <a:lstStyle/>
          <a:p>
            <a:endParaRPr lang="en-US"/>
          </a:p>
        </p:txBody>
      </p:sp>
      <p:sp>
        <p:nvSpPr>
          <p:cNvPr id="31" name="Shape 29"/>
          <p:cNvSpPr/>
          <p:nvPr/>
        </p:nvSpPr>
        <p:spPr>
          <a:xfrm>
            <a:off x="841248" y="4864608"/>
            <a:ext cx="128016" cy="128016"/>
          </a:xfrm>
          <a:prstGeom prst="rect">
            <a:avLst/>
          </a:prstGeom>
          <a:solidFill>
            <a:srgbClr val="B8621B"/>
          </a:solidFill>
          <a:ln/>
        </p:spPr>
        <p:txBody>
          <a:bodyPr/>
          <a:lstStyle/>
          <a:p>
            <a:endParaRPr lang="en-US"/>
          </a:p>
        </p:txBody>
      </p:sp>
      <p:sp>
        <p:nvSpPr>
          <p:cNvPr id="32" name="Text 30"/>
          <p:cNvSpPr/>
          <p:nvPr/>
        </p:nvSpPr>
        <p:spPr>
          <a:xfrm>
            <a:off x="1097280" y="4645152"/>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Get Sam's breakdown + refreshed mocks</a:t>
            </a:r>
            <a:endParaRPr lang="en-US" sz="1250" dirty="0"/>
          </a:p>
        </p:txBody>
      </p:sp>
      <p:sp>
        <p:nvSpPr>
          <p:cNvPr id="33" name="Text 31"/>
          <p:cNvSpPr/>
          <p:nvPr/>
        </p:nvSpPr>
        <p:spPr>
          <a:xfrm>
            <a:off x="1097280" y="4937760"/>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Two of three user-facing surfaces are currently unplanned work.</a:t>
            </a:r>
            <a:endParaRPr lang="en-US" sz="1050" dirty="0"/>
          </a:p>
        </p:txBody>
      </p:sp>
      <p:sp>
        <p:nvSpPr>
          <p:cNvPr id="34" name="Text 32"/>
          <p:cNvSpPr/>
          <p:nvPr/>
        </p:nvSpPr>
        <p:spPr>
          <a:xfrm>
            <a:off x="8595360" y="4590288"/>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Sam, Robin</a:t>
            </a:r>
            <a:endParaRPr lang="en-US" sz="1100" dirty="0"/>
          </a:p>
        </p:txBody>
      </p:sp>
      <p:sp>
        <p:nvSpPr>
          <p:cNvPr id="35" name="Text 33"/>
          <p:cNvSpPr/>
          <p:nvPr/>
        </p:nvSpPr>
        <p:spPr>
          <a:xfrm>
            <a:off x="10424160" y="4590288"/>
            <a:ext cx="1005840" cy="676656"/>
          </a:xfrm>
          <a:prstGeom prst="rect">
            <a:avLst/>
          </a:prstGeom>
          <a:noFill/>
          <a:ln/>
        </p:spPr>
        <p:txBody>
          <a:bodyPr wrap="square" lIns="0" tIns="0" rIns="0" bIns="0" rtlCol="0" anchor="ctr"/>
          <a:lstStyle/>
          <a:p>
            <a:pPr marL="0" indent="0" algn="r">
              <a:buNone/>
            </a:pPr>
            <a:r>
              <a:rPr lang="en-US" sz="1100" b="1" dirty="0">
                <a:solidFill>
                  <a:srgbClr val="1C1F26"/>
                </a:solidFill>
                <a:latin typeface="Calibri" pitchFamily="34" charset="0"/>
                <a:ea typeface="Calibri" pitchFamily="34" charset="-122"/>
                <a:cs typeface="Calibri" pitchFamily="34" charset="-120"/>
              </a:rPr>
              <a:t>Fri wk 1</a:t>
            </a:r>
            <a:endParaRPr lang="en-US" sz="1100" dirty="0"/>
          </a:p>
        </p:txBody>
      </p:sp>
      <p:sp>
        <p:nvSpPr>
          <p:cNvPr id="36" name="Shape 34"/>
          <p:cNvSpPr/>
          <p:nvPr/>
        </p:nvSpPr>
        <p:spPr>
          <a:xfrm>
            <a:off x="640080" y="5376672"/>
            <a:ext cx="10881360" cy="676656"/>
          </a:xfrm>
          <a:prstGeom prst="rect">
            <a:avLst/>
          </a:prstGeom>
          <a:solidFill>
            <a:srgbClr val="FFFFFF"/>
          </a:solidFill>
          <a:ln w="12700">
            <a:solidFill>
              <a:srgbClr val="D8D2C9"/>
            </a:solidFill>
            <a:prstDash val="solid"/>
          </a:ln>
        </p:spPr>
        <p:txBody>
          <a:bodyPr/>
          <a:lstStyle/>
          <a:p>
            <a:endParaRPr lang="en-US"/>
          </a:p>
        </p:txBody>
      </p:sp>
      <p:sp>
        <p:nvSpPr>
          <p:cNvPr id="37" name="Shape 35"/>
          <p:cNvSpPr/>
          <p:nvPr/>
        </p:nvSpPr>
        <p:spPr>
          <a:xfrm>
            <a:off x="841248" y="5650992"/>
            <a:ext cx="128016" cy="128016"/>
          </a:xfrm>
          <a:prstGeom prst="rect">
            <a:avLst/>
          </a:prstGeom>
          <a:solidFill>
            <a:srgbClr val="B8621B"/>
          </a:solidFill>
          <a:ln/>
        </p:spPr>
        <p:txBody>
          <a:bodyPr/>
          <a:lstStyle/>
          <a:p>
            <a:endParaRPr lang="en-US"/>
          </a:p>
        </p:txBody>
      </p:sp>
      <p:sp>
        <p:nvSpPr>
          <p:cNvPr id="38" name="Text 36"/>
          <p:cNvSpPr/>
          <p:nvPr/>
        </p:nvSpPr>
        <p:spPr>
          <a:xfrm>
            <a:off x="1097280" y="5431536"/>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Freeze PanelSpec; publish BuildModel types</a:t>
            </a:r>
            <a:endParaRPr lang="en-US" sz="1250" dirty="0"/>
          </a:p>
        </p:txBody>
      </p:sp>
      <p:sp>
        <p:nvSpPr>
          <p:cNvPr id="39" name="Text 37"/>
          <p:cNvSpPr/>
          <p:nvPr/>
        </p:nvSpPr>
        <p:spPr>
          <a:xfrm>
            <a:off x="1097280" y="5724144"/>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Stops the migration surface growing today. Costs nothing.</a:t>
            </a:r>
            <a:endParaRPr lang="en-US" sz="1050" dirty="0"/>
          </a:p>
        </p:txBody>
      </p:sp>
      <p:sp>
        <p:nvSpPr>
          <p:cNvPr id="40" name="Text 38"/>
          <p:cNvSpPr/>
          <p:nvPr/>
        </p:nvSpPr>
        <p:spPr>
          <a:xfrm>
            <a:off x="8595360" y="5376672"/>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Jo, Alex</a:t>
            </a:r>
            <a:endParaRPr lang="en-US" sz="1100" dirty="0"/>
          </a:p>
        </p:txBody>
      </p:sp>
      <p:sp>
        <p:nvSpPr>
          <p:cNvPr id="41" name="Text 39"/>
          <p:cNvSpPr/>
          <p:nvPr/>
        </p:nvSpPr>
        <p:spPr>
          <a:xfrm>
            <a:off x="10424160" y="5376672"/>
            <a:ext cx="1005840" cy="676656"/>
          </a:xfrm>
          <a:prstGeom prst="rect">
            <a:avLst/>
          </a:prstGeom>
          <a:noFill/>
          <a:ln/>
        </p:spPr>
        <p:txBody>
          <a:bodyPr wrap="square" lIns="0" tIns="0" rIns="0" bIns="0" rtlCol="0" anchor="ctr"/>
          <a:lstStyle/>
          <a:p>
            <a:pPr marL="0" indent="0" algn="r">
              <a:buNone/>
            </a:pPr>
            <a:r>
              <a:rPr lang="en-US" sz="1100" b="1" dirty="0">
                <a:solidFill>
                  <a:srgbClr val="1C1F26"/>
                </a:solidFill>
                <a:latin typeface="Calibri" pitchFamily="34" charset="0"/>
                <a:ea typeface="Calibri" pitchFamily="34" charset="-122"/>
                <a:cs typeface="Calibri" pitchFamily="34" charset="-120"/>
              </a:rPr>
              <a:t>Wk 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F26"/>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I am least sure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A8B0BC"/>
                </a:solidFill>
                <a:latin typeface="Calibri" pitchFamily="34" charset="0"/>
                <a:ea typeface="Calibri" pitchFamily="34" charset="-122"/>
                <a:cs typeface="Calibri" pitchFamily="34" charset="-120"/>
              </a:rPr>
              <a:t>Named before you name them. In order of exposure.</a:t>
            </a:r>
            <a:endParaRPr lang="en-US" sz="1400" dirty="0"/>
          </a:p>
        </p:txBody>
      </p:sp>
      <p:sp>
        <p:nvSpPr>
          <p:cNvPr id="6" name="Shape 4"/>
          <p:cNvSpPr/>
          <p:nvPr/>
        </p:nvSpPr>
        <p:spPr>
          <a:xfrm>
            <a:off x="640080" y="1545336"/>
            <a:ext cx="118872" cy="118872"/>
          </a:xfrm>
          <a:prstGeom prst="rect">
            <a:avLst/>
          </a:prstGeom>
          <a:solidFill>
            <a:srgbClr val="B8621B"/>
          </a:solidFill>
          <a:ln/>
        </p:spPr>
        <p:txBody>
          <a:bodyPr/>
          <a:lstStyle/>
          <a:p>
            <a:endParaRPr lang="en-US"/>
          </a:p>
        </p:txBody>
      </p:sp>
      <p:sp>
        <p:nvSpPr>
          <p:cNvPr id="7" name="Text 5"/>
          <p:cNvSpPr/>
          <p:nvPr/>
        </p:nvSpPr>
        <p:spPr>
          <a:xfrm>
            <a:off x="932688" y="1444752"/>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The firmware split is my invention</a:t>
            </a:r>
            <a:endParaRPr lang="en-US" sz="1350" dirty="0"/>
          </a:p>
        </p:txBody>
      </p:sp>
      <p:sp>
        <p:nvSpPr>
          <p:cNvPr id="8" name="Text 6"/>
          <p:cNvSpPr/>
          <p:nvPr/>
        </p:nvSpPr>
        <p:spPr>
          <a:xfrm>
            <a:off x="932688" y="1755648"/>
            <a:ext cx="10424160" cy="603504"/>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I proposed v4.2a/v4.2b from a principle — never change the safety configuration after the re-test, only add observability. I do not know embedded release practice. A robotics lead may say firmware does not decompose that way, or that two builds cost more validation than they save. The principle is sound; the mechanism may not be.</a:t>
            </a:r>
            <a:endParaRPr lang="en-US" sz="1100" dirty="0"/>
          </a:p>
        </p:txBody>
      </p:sp>
      <p:sp>
        <p:nvSpPr>
          <p:cNvPr id="9" name="Shape 7"/>
          <p:cNvSpPr/>
          <p:nvPr/>
        </p:nvSpPr>
        <p:spPr>
          <a:xfrm>
            <a:off x="640080" y="2514600"/>
            <a:ext cx="118872" cy="118872"/>
          </a:xfrm>
          <a:prstGeom prst="rect">
            <a:avLst/>
          </a:prstGeom>
          <a:solidFill>
            <a:srgbClr val="B8621B"/>
          </a:solidFill>
          <a:ln/>
        </p:spPr>
        <p:txBody>
          <a:bodyPr/>
          <a:lstStyle/>
          <a:p>
            <a:endParaRPr lang="en-US"/>
          </a:p>
        </p:txBody>
      </p:sp>
      <p:sp>
        <p:nvSpPr>
          <p:cNvPr id="10" name="Text 8"/>
          <p:cNvSpPr/>
          <p:nvPr/>
        </p:nvSpPr>
        <p:spPr>
          <a:xfrm>
            <a:off x="932688" y="2414016"/>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Sam's estimates are mine, not his</a:t>
            </a:r>
            <a:endParaRPr lang="en-US" sz="1350" dirty="0"/>
          </a:p>
        </p:txBody>
      </p:sp>
      <p:sp>
        <p:nvSpPr>
          <p:cNvPr id="11" name="Text 9"/>
          <p:cNvSpPr/>
          <p:nvPr/>
        </p:nvSpPr>
        <p:spPr>
          <a:xfrm>
            <a:off x="932688" y="2724912"/>
            <a:ext cx="10424160" cy="402336"/>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Inferred from comparable backlog workstreams. It is the largest number in the capacity table and I invented it.</a:t>
            </a:r>
            <a:endParaRPr lang="en-US" sz="1100" dirty="0"/>
          </a:p>
        </p:txBody>
      </p:sp>
      <p:sp>
        <p:nvSpPr>
          <p:cNvPr id="12" name="Shape 10"/>
          <p:cNvSpPr/>
          <p:nvPr/>
        </p:nvSpPr>
        <p:spPr>
          <a:xfrm>
            <a:off x="640080" y="3483864"/>
            <a:ext cx="118872" cy="118872"/>
          </a:xfrm>
          <a:prstGeom prst="rect">
            <a:avLst/>
          </a:prstGeom>
          <a:solidFill>
            <a:srgbClr val="B8621B"/>
          </a:solidFill>
          <a:ln/>
        </p:spPr>
        <p:txBody>
          <a:bodyPr/>
          <a:lstStyle/>
          <a:p>
            <a:endParaRPr lang="en-US"/>
          </a:p>
        </p:txBody>
      </p:sp>
      <p:sp>
        <p:nvSpPr>
          <p:cNvPr id="13" name="Text 11"/>
          <p:cNvSpPr/>
          <p:nvPr/>
        </p:nvSpPr>
        <p:spPr>
          <a:xfrm>
            <a:off x="932688" y="3383280"/>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Alex's 1.55× multiplier rests on four data points</a:t>
            </a:r>
            <a:endParaRPr lang="en-US" sz="1350" dirty="0"/>
          </a:p>
        </p:txBody>
      </p:sp>
      <p:sp>
        <p:nvSpPr>
          <p:cNvPr id="14" name="Text 12"/>
          <p:cNvSpPr/>
          <p:nvPr/>
        </p:nvSpPr>
        <p:spPr>
          <a:xfrm>
            <a:off x="932688" y="3694176"/>
            <a:ext cx="10424160" cy="402336"/>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And I used it to justify cutting his work.</a:t>
            </a:r>
            <a:endParaRPr lang="en-US" sz="1100" dirty="0"/>
          </a:p>
        </p:txBody>
      </p:sp>
      <p:sp>
        <p:nvSpPr>
          <p:cNvPr id="15" name="Shape 13"/>
          <p:cNvSpPr/>
          <p:nvPr/>
        </p:nvSpPr>
        <p:spPr>
          <a:xfrm>
            <a:off x="640080" y="4453128"/>
            <a:ext cx="118872" cy="118872"/>
          </a:xfrm>
          <a:prstGeom prst="rect">
            <a:avLst/>
          </a:prstGeom>
          <a:solidFill>
            <a:srgbClr val="B8621B"/>
          </a:solidFill>
          <a:ln/>
        </p:spPr>
        <p:txBody>
          <a:bodyPr/>
          <a:lstStyle/>
          <a:p>
            <a:endParaRPr lang="en-US"/>
          </a:p>
        </p:txBody>
      </p:sp>
      <p:sp>
        <p:nvSpPr>
          <p:cNvPr id="16" name="Text 14"/>
          <p:cNvSpPr/>
          <p:nvPr/>
        </p:nvSpPr>
        <p:spPr>
          <a:xfrm>
            <a:off x="932688" y="4352544"/>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"Bench validation halves because the scope halves"</a:t>
            </a:r>
            <a:endParaRPr lang="en-US" sz="1350" dirty="0"/>
          </a:p>
        </p:txBody>
      </p:sp>
      <p:sp>
        <p:nvSpPr>
          <p:cNvPr id="17" name="Text 15"/>
          <p:cNvSpPr/>
          <p:nvPr/>
        </p:nvSpPr>
        <p:spPr>
          <a:xfrm>
            <a:off x="932688" y="4663440"/>
            <a:ext cx="10424160" cy="402336"/>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An assumption about someone else's job. Plan A dies without it.</a:t>
            </a:r>
            <a:endParaRPr lang="en-US" sz="1100" dirty="0"/>
          </a:p>
        </p:txBody>
      </p:sp>
      <p:sp>
        <p:nvSpPr>
          <p:cNvPr id="18" name="Shape 16"/>
          <p:cNvSpPr/>
          <p:nvPr/>
        </p:nvSpPr>
        <p:spPr>
          <a:xfrm>
            <a:off x="640080" y="5422392"/>
            <a:ext cx="118872" cy="118872"/>
          </a:xfrm>
          <a:prstGeom prst="rect">
            <a:avLst/>
          </a:prstGeom>
          <a:solidFill>
            <a:srgbClr val="B8621B"/>
          </a:solidFill>
          <a:ln/>
        </p:spPr>
        <p:txBody>
          <a:bodyPr/>
          <a:lstStyle/>
          <a:p>
            <a:endParaRPr lang="en-US"/>
          </a:p>
        </p:txBody>
      </p:sp>
      <p:sp>
        <p:nvSpPr>
          <p:cNvPr id="19" name="Text 17"/>
          <p:cNvSpPr/>
          <p:nvPr/>
        </p:nvSpPr>
        <p:spPr>
          <a:xfrm>
            <a:off x="932688" y="5321808"/>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Slice 2 tests the diff core, not the integration</a:t>
            </a:r>
            <a:endParaRPr lang="en-US" sz="1350" dirty="0"/>
          </a:p>
        </p:txBody>
      </p:sp>
      <p:sp>
        <p:nvSpPr>
          <p:cNvPr id="20" name="Text 18"/>
          <p:cNvSpPr/>
          <p:nvPr/>
        </p:nvSpPr>
        <p:spPr>
          <a:xfrm>
            <a:off x="932688" y="5632704"/>
            <a:ext cx="10424160" cy="402336"/>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So it disproves previousSpec, but it does not prove Alex's four weeks is wrong.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F26"/>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to push me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A8B0BC"/>
                </a:solidFill>
                <a:latin typeface="Calibri" pitchFamily="34" charset="0"/>
                <a:ea typeface="Calibri" pitchFamily="34" charset="-122"/>
                <a:cs typeface="Calibri" pitchFamily="34" charset="-120"/>
              </a:rPr>
              <a:t>The calls I would most like to be argued out of.</a:t>
            </a:r>
            <a:endParaRPr lang="en-US" sz="1400" dirty="0"/>
          </a:p>
        </p:txBody>
      </p:sp>
      <p:sp>
        <p:nvSpPr>
          <p:cNvPr id="6" name="Text 4"/>
          <p:cNvSpPr/>
          <p:nvPr/>
        </p:nvSpPr>
        <p:spPr>
          <a:xfrm>
            <a:off x="640080" y="1444752"/>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Am I right to overrule Jo on the cutover?</a:t>
            </a:r>
            <a:endParaRPr lang="en-US" sz="1500" dirty="0"/>
          </a:p>
        </p:txBody>
      </p:sp>
      <p:sp>
        <p:nvSpPr>
          <p:cNvPr id="7" name="Text 5"/>
          <p:cNvSpPr/>
          <p:nvPr/>
        </p:nvSpPr>
        <p:spPr>
          <a:xfrm>
            <a:off x="640080" y="1773936"/>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Jo's "half-migrated is worse than either end" is correct in principle. I am betting the calendar beats the principle for eight weeks.</a:t>
            </a:r>
            <a:endParaRPr lang="en-US" sz="1150" dirty="0"/>
          </a:p>
        </p:txBody>
      </p:sp>
      <p:sp>
        <p:nvSpPr>
          <p:cNvPr id="8" name="Text 6"/>
          <p:cNvSpPr/>
          <p:nvPr/>
        </p:nvSpPr>
        <p:spPr>
          <a:xfrm>
            <a:off x="640080" y="2414016"/>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Is PR-6 scope creep dressed as insight?</a:t>
            </a:r>
            <a:endParaRPr lang="en-US" sz="1500" dirty="0"/>
          </a:p>
        </p:txBody>
      </p:sp>
      <p:sp>
        <p:nvSpPr>
          <p:cNvPr id="9" name="Text 7"/>
          <p:cNvSpPr/>
          <p:nvPr/>
        </p:nvSpPr>
        <p:spPr>
          <a:xfrm>
            <a:off x="640080" y="2743200"/>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I added a Must story in week one, having never met the production manager. Robin may have good reasons the cost model is harder than £180 a panel.</a:t>
            </a:r>
            <a:endParaRPr lang="en-US" sz="1150" dirty="0"/>
          </a:p>
        </p:txBody>
      </p:sp>
      <p:sp>
        <p:nvSpPr>
          <p:cNvPr id="10" name="Text 8"/>
          <p:cNvSpPr/>
          <p:nvPr/>
        </p:nvSpPr>
        <p:spPr>
          <a:xfrm>
            <a:off x="640080" y="3383280"/>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Should a2 really start on day one?</a:t>
            </a:r>
            <a:endParaRPr lang="en-US" sz="1500" dirty="0"/>
          </a:p>
        </p:txBody>
      </p:sp>
      <p:sp>
        <p:nvSpPr>
          <p:cNvPr id="11" name="Text 9"/>
          <p:cNvSpPr/>
          <p:nvPr/>
        </p:nvSpPr>
        <p:spPr>
          <a:xfrm>
            <a:off x="640080" y="3712464"/>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Once the firmware chain is admitted, a2 has nine days of float. Starting it immediately may be conservatism I have justified after the fact.</a:t>
            </a:r>
            <a:endParaRPr lang="en-US" sz="1150" dirty="0"/>
          </a:p>
        </p:txBody>
      </p:sp>
      <p:sp>
        <p:nvSpPr>
          <p:cNvPr id="12" name="Text 10"/>
          <p:cNvSpPr/>
          <p:nvPr/>
        </p:nvSpPr>
        <p:spPr>
          <a:xfrm>
            <a:off x="640080" y="4352544"/>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Is two slices one too many?</a:t>
            </a:r>
            <a:endParaRPr lang="en-US" sz="1500" dirty="0"/>
          </a:p>
        </p:txBody>
      </p:sp>
      <p:sp>
        <p:nvSpPr>
          <p:cNvPr id="13" name="Text 11"/>
          <p:cNvSpPr/>
          <p:nvPr/>
        </p:nvSpPr>
        <p:spPr>
          <a:xfrm>
            <a:off x="640080" y="4681728"/>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The brief said pick one, and keep it small. I built two and wrote nine documents.</a:t>
            </a:r>
            <a:endParaRPr lang="en-US" sz="1150" dirty="0"/>
          </a:p>
        </p:txBody>
      </p:sp>
      <p:sp>
        <p:nvSpPr>
          <p:cNvPr id="14" name="Text 12"/>
          <p:cNvSpPr/>
          <p:nvPr/>
        </p:nvSpPr>
        <p:spPr>
          <a:xfrm>
            <a:off x="640080" y="5321808"/>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Have I over-trusted a 29-event sample?</a:t>
            </a:r>
            <a:endParaRPr lang="en-US" sz="1500" dirty="0"/>
          </a:p>
        </p:txBody>
      </p:sp>
      <p:sp>
        <p:nvSpPr>
          <p:cNvPr id="15" name="Text 13"/>
          <p:cNvSpPr/>
          <p:nvPr/>
        </p:nvSpPr>
        <p:spPr>
          <a:xfrm>
            <a:off x="640080" y="5650992"/>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Several decisions rest on one truncated stream from March, which Chris warned has a different cadence.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F26"/>
        </a:solidFill>
        <a:effectLst/>
      </p:bgPr>
    </p:bg>
    <p:spTree>
      <p:nvGrpSpPr>
        <p:cNvPr id="1" name=""/>
        <p:cNvGrpSpPr/>
        <p:nvPr/>
      </p:nvGrpSpPr>
      <p:grpSpPr>
        <a:xfrm>
          <a:off x="0" y="0"/>
          <a:ext cx="0" cy="0"/>
          <a:chOff x="0" y="0"/>
          <a:chExt cx="0" cy="0"/>
        </a:xfrm>
      </p:grpSpPr>
      <p:sp>
        <p:nvSpPr>
          <p:cNvPr id="2" name="Text 0"/>
          <p:cNvSpPr/>
          <p:nvPr/>
        </p:nvSpPr>
        <p:spPr>
          <a:xfrm>
            <a:off x="640080" y="713232"/>
            <a:ext cx="10881360" cy="310896"/>
          </a:xfrm>
          <a:prstGeom prst="rect">
            <a:avLst/>
          </a:prstGeom>
          <a:noFill/>
          <a:ln/>
        </p:spPr>
        <p:txBody>
          <a:bodyPr wrap="square" lIns="0" tIns="0" rIns="0" bIns="0" rtlCol="0" anchor="ctr"/>
          <a:lstStyle/>
          <a:p>
            <a:pPr marL="0" indent="0">
              <a:buNone/>
            </a:pPr>
            <a:r>
              <a:rPr lang="en-US" sz="1200" b="1" kern="0" spc="300" dirty="0">
                <a:solidFill>
                  <a:srgbClr val="B8621B"/>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640080" y="1097280"/>
            <a:ext cx="10881360" cy="749808"/>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Appendices</a:t>
            </a:r>
            <a:endParaRPr lang="en-US" sz="4200" dirty="0"/>
          </a:p>
        </p:txBody>
      </p:sp>
      <p:sp>
        <p:nvSpPr>
          <p:cNvPr id="5" name="Text 3"/>
          <p:cNvSpPr/>
          <p:nvPr/>
        </p:nvSpPr>
        <p:spPr>
          <a:xfrm>
            <a:off x="640080" y="2779776"/>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A</a:t>
            </a:r>
            <a:endParaRPr lang="en-US" sz="2200" dirty="0"/>
          </a:p>
        </p:txBody>
      </p:sp>
      <p:sp>
        <p:nvSpPr>
          <p:cNvPr id="6" name="Text 4"/>
          <p:cNvSpPr/>
          <p:nvPr/>
        </p:nvSpPr>
        <p:spPr>
          <a:xfrm>
            <a:off x="1261872" y="2798064"/>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Capacity arithmetic</a:t>
            </a:r>
            <a:endParaRPr lang="en-US" sz="1400" dirty="0"/>
          </a:p>
        </p:txBody>
      </p:sp>
      <p:sp>
        <p:nvSpPr>
          <p:cNvPr id="7" name="Text 5"/>
          <p:cNvSpPr/>
          <p:nvPr/>
        </p:nvSpPr>
        <p:spPr>
          <a:xfrm>
            <a:off x="1261872" y="3081528"/>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Where 35.6 person-weeks against 23.9 comes from, person by person.</a:t>
            </a:r>
            <a:endParaRPr lang="en-US" sz="1100" dirty="0"/>
          </a:p>
        </p:txBody>
      </p:sp>
      <p:sp>
        <p:nvSpPr>
          <p:cNvPr id="8" name="Text 6"/>
          <p:cNvSpPr/>
          <p:nvPr/>
        </p:nvSpPr>
        <p:spPr>
          <a:xfrm>
            <a:off x="9692640" y="2798064"/>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13</a:t>
            </a:r>
            <a:endParaRPr lang="en-US" sz="1100" dirty="0"/>
          </a:p>
        </p:txBody>
      </p:sp>
      <p:sp>
        <p:nvSpPr>
          <p:cNvPr id="9" name="Text 7"/>
          <p:cNvSpPr/>
          <p:nvPr/>
        </p:nvSpPr>
        <p:spPr>
          <a:xfrm>
            <a:off x="640080" y="3529584"/>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B</a:t>
            </a:r>
            <a:endParaRPr lang="en-US" sz="2200" dirty="0"/>
          </a:p>
        </p:txBody>
      </p:sp>
      <p:sp>
        <p:nvSpPr>
          <p:cNvPr id="10" name="Text 8"/>
          <p:cNvSpPr/>
          <p:nvPr/>
        </p:nvSpPr>
        <p:spPr>
          <a:xfrm>
            <a:off x="1261872" y="3547872"/>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What r3 → r4 actually contains</a:t>
            </a:r>
            <a:endParaRPr lang="en-US" sz="1400" dirty="0"/>
          </a:p>
        </p:txBody>
      </p:sp>
      <p:sp>
        <p:nvSpPr>
          <p:cNvPr id="11" name="Text 9"/>
          <p:cNvSpPr/>
          <p:nvPr/>
        </p:nvSpPr>
        <p:spPr>
          <a:xfrm>
            <a:off x="1261872" y="3831336"/>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The seven changed panels, their status, and what each one costs.</a:t>
            </a:r>
            <a:endParaRPr lang="en-US" sz="1100" dirty="0"/>
          </a:p>
        </p:txBody>
      </p:sp>
      <p:sp>
        <p:nvSpPr>
          <p:cNvPr id="12" name="Text 10"/>
          <p:cNvSpPr/>
          <p:nvPr/>
        </p:nvSpPr>
        <p:spPr>
          <a:xfrm>
            <a:off x="9692640" y="3547872"/>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14</a:t>
            </a:r>
            <a:endParaRPr lang="en-US" sz="1100" dirty="0"/>
          </a:p>
        </p:txBody>
      </p:sp>
      <p:sp>
        <p:nvSpPr>
          <p:cNvPr id="13" name="Text 11"/>
          <p:cNvSpPr/>
          <p:nvPr/>
        </p:nvSpPr>
        <p:spPr>
          <a:xfrm>
            <a:off x="640080" y="4279392"/>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C</a:t>
            </a:r>
            <a:endParaRPr lang="en-US" sz="2200" dirty="0"/>
          </a:p>
        </p:txBody>
      </p:sp>
      <p:sp>
        <p:nvSpPr>
          <p:cNvPr id="14" name="Text 12"/>
          <p:cNvSpPr/>
          <p:nvPr/>
        </p:nvSpPr>
        <p:spPr>
          <a:xfrm>
            <a:off x="1261872" y="4297680"/>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Estimation calibration</a:t>
            </a:r>
            <a:endParaRPr lang="en-US" sz="1400" dirty="0"/>
          </a:p>
        </p:txBody>
      </p:sp>
      <p:sp>
        <p:nvSpPr>
          <p:cNvPr id="15" name="Text 13"/>
          <p:cNvSpPr/>
          <p:nvPr/>
        </p:nvSpPr>
        <p:spPr>
          <a:xfrm>
            <a:off x="1261872" y="4581144"/>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Per-discipline multipliers, and why bimodal uncertainty is not wide uncertainty.</a:t>
            </a:r>
            <a:endParaRPr lang="en-US" sz="1100" dirty="0"/>
          </a:p>
        </p:txBody>
      </p:sp>
      <p:sp>
        <p:nvSpPr>
          <p:cNvPr id="16" name="Text 14"/>
          <p:cNvSpPr/>
          <p:nvPr/>
        </p:nvSpPr>
        <p:spPr>
          <a:xfrm>
            <a:off x="9692640" y="4297680"/>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15</a:t>
            </a:r>
            <a:endParaRPr lang="en-US" sz="1100" dirty="0"/>
          </a:p>
        </p:txBody>
      </p:sp>
      <p:sp>
        <p:nvSpPr>
          <p:cNvPr id="17" name="Text 15"/>
          <p:cNvSpPr/>
          <p:nvPr/>
        </p:nvSpPr>
        <p:spPr>
          <a:xfrm>
            <a:off x="640080" y="5029200"/>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D</a:t>
            </a:r>
            <a:endParaRPr lang="en-US" sz="2200" dirty="0"/>
          </a:p>
        </p:txBody>
      </p:sp>
      <p:sp>
        <p:nvSpPr>
          <p:cNvPr id="18" name="Text 16"/>
          <p:cNvSpPr/>
          <p:nvPr/>
        </p:nvSpPr>
        <p:spPr>
          <a:xfrm>
            <a:off x="1261872" y="5047488"/>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Robotics resource pass</a:t>
            </a:r>
            <a:endParaRPr lang="en-US" sz="1400" dirty="0"/>
          </a:p>
        </p:txBody>
      </p:sp>
      <p:sp>
        <p:nvSpPr>
          <p:cNvPr id="19" name="Text 17"/>
          <p:cNvSpPr/>
          <p:nvPr/>
        </p:nvSpPr>
        <p:spPr>
          <a:xfrm>
            <a:off x="1261872" y="5330952"/>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Five findings from laying the work out by resource instead of by person.</a:t>
            </a:r>
            <a:endParaRPr lang="en-US" sz="1100" dirty="0"/>
          </a:p>
        </p:txBody>
      </p:sp>
      <p:sp>
        <p:nvSpPr>
          <p:cNvPr id="20" name="Text 18"/>
          <p:cNvSpPr/>
          <p:nvPr/>
        </p:nvSpPr>
        <p:spPr>
          <a:xfrm>
            <a:off x="9692640" y="5047488"/>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16</a:t>
            </a:r>
            <a:endParaRPr lang="en-US" sz="1100" dirty="0"/>
          </a:p>
        </p:txBody>
      </p:sp>
      <p:sp>
        <p:nvSpPr>
          <p:cNvPr id="21" name="Text 19"/>
          <p:cNvSpPr/>
          <p:nvPr/>
        </p:nvSpPr>
        <p:spPr>
          <a:xfrm>
            <a:off x="640080" y="5779008"/>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E</a:t>
            </a:r>
            <a:endParaRPr lang="en-US" sz="2200" dirty="0"/>
          </a:p>
        </p:txBody>
      </p:sp>
      <p:sp>
        <p:nvSpPr>
          <p:cNvPr id="22" name="Text 20"/>
          <p:cNvSpPr/>
          <p:nvPr/>
        </p:nvSpPr>
        <p:spPr>
          <a:xfrm>
            <a:off x="1261872" y="5797296"/>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What is wrong with the event stream</a:t>
            </a:r>
            <a:endParaRPr lang="en-US" sz="1400" dirty="0"/>
          </a:p>
        </p:txBody>
      </p:sp>
      <p:sp>
        <p:nvSpPr>
          <p:cNvPr id="23" name="Text 21"/>
          <p:cNvSpPr/>
          <p:nvPr/>
        </p:nvSpPr>
        <p:spPr>
          <a:xfrm>
            <a:off x="1261872" y="6080760"/>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The five defects behind the firmware schema contract.</a:t>
            </a:r>
            <a:endParaRPr lang="en-US" sz="1100" dirty="0"/>
          </a:p>
        </p:txBody>
      </p:sp>
      <p:sp>
        <p:nvSpPr>
          <p:cNvPr id="24" name="Text 22"/>
          <p:cNvSpPr/>
          <p:nvPr/>
        </p:nvSpPr>
        <p:spPr>
          <a:xfrm>
            <a:off x="9692640" y="5797296"/>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17</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Capacity arithmetic</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Nominal 24 person-weeks. Actual 23.9 after the calendar, against 35.6 of demand.</a:t>
            </a:r>
            <a:endParaRPr lang="en-US" sz="1300" dirty="0"/>
          </a:p>
        </p:txBody>
      </p:sp>
      <p:sp>
        <p:nvSpPr>
          <p:cNvPr id="6" name="Text 4"/>
          <p:cNvSpPr/>
          <p:nvPr/>
        </p:nvSpPr>
        <p:spPr>
          <a:xfrm>
            <a:off x="640080" y="1371600"/>
            <a:ext cx="402336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Person</a:t>
            </a:r>
            <a:endParaRPr lang="en-US" sz="1050" dirty="0"/>
          </a:p>
        </p:txBody>
      </p:sp>
      <p:sp>
        <p:nvSpPr>
          <p:cNvPr id="7" name="Text 5"/>
          <p:cNvSpPr/>
          <p:nvPr/>
        </p:nvSpPr>
        <p:spPr>
          <a:xfrm>
            <a:off x="4663440" y="1371600"/>
            <a:ext cx="137160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Nominal</a:t>
            </a:r>
            <a:endParaRPr lang="en-US" sz="1050" dirty="0"/>
          </a:p>
        </p:txBody>
      </p:sp>
      <p:sp>
        <p:nvSpPr>
          <p:cNvPr id="8" name="Text 6"/>
          <p:cNvSpPr/>
          <p:nvPr/>
        </p:nvSpPr>
        <p:spPr>
          <a:xfrm>
            <a:off x="6035040" y="1371600"/>
            <a:ext cx="13716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Bank hol</a:t>
            </a:r>
            <a:endParaRPr lang="en-US" sz="1050" dirty="0"/>
          </a:p>
        </p:txBody>
      </p:sp>
      <p:sp>
        <p:nvSpPr>
          <p:cNvPr id="9" name="Text 7"/>
          <p:cNvSpPr/>
          <p:nvPr/>
        </p:nvSpPr>
        <p:spPr>
          <a:xfrm>
            <a:off x="7406640" y="1371600"/>
            <a:ext cx="13716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Offsite</a:t>
            </a:r>
            <a:endParaRPr lang="en-US" sz="1050" dirty="0"/>
          </a:p>
        </p:txBody>
      </p:sp>
      <p:sp>
        <p:nvSpPr>
          <p:cNvPr id="10" name="Text 8"/>
          <p:cNvSpPr/>
          <p:nvPr/>
        </p:nvSpPr>
        <p:spPr>
          <a:xfrm>
            <a:off x="8778240" y="1371600"/>
            <a:ext cx="13716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Away</a:t>
            </a:r>
            <a:endParaRPr lang="en-US" sz="1050" dirty="0"/>
          </a:p>
        </p:txBody>
      </p:sp>
      <p:sp>
        <p:nvSpPr>
          <p:cNvPr id="11" name="Text 9"/>
          <p:cNvSpPr/>
          <p:nvPr/>
        </p:nvSpPr>
        <p:spPr>
          <a:xfrm>
            <a:off x="10149840" y="1371600"/>
            <a:ext cx="13716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Available</a:t>
            </a:r>
            <a:endParaRPr lang="en-US" sz="1050" dirty="0"/>
          </a:p>
        </p:txBody>
      </p:sp>
      <p:sp>
        <p:nvSpPr>
          <p:cNvPr id="12" name="Shape 10"/>
          <p:cNvSpPr/>
          <p:nvPr/>
        </p:nvSpPr>
        <p:spPr>
          <a:xfrm>
            <a:off x="640080" y="1700784"/>
            <a:ext cx="10881360" cy="13716"/>
          </a:xfrm>
          <a:prstGeom prst="rect">
            <a:avLst/>
          </a:prstGeom>
          <a:solidFill>
            <a:srgbClr val="D8D2C9"/>
          </a:solidFill>
          <a:ln/>
        </p:spPr>
        <p:txBody>
          <a:bodyPr/>
          <a:lstStyle/>
          <a:p>
            <a:endParaRPr lang="en-US"/>
          </a:p>
        </p:txBody>
      </p:sp>
      <p:sp>
        <p:nvSpPr>
          <p:cNvPr id="13" name="Text 11"/>
          <p:cNvSpPr/>
          <p:nvPr/>
        </p:nvSpPr>
        <p:spPr>
          <a:xfrm>
            <a:off x="640080" y="1810512"/>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Alex</a:t>
            </a:r>
            <a:endParaRPr lang="en-US" sz="1150" dirty="0"/>
          </a:p>
        </p:txBody>
      </p:sp>
      <p:sp>
        <p:nvSpPr>
          <p:cNvPr id="14" name="Text 12"/>
          <p:cNvSpPr/>
          <p:nvPr/>
        </p:nvSpPr>
        <p:spPr>
          <a:xfrm>
            <a:off x="4663440" y="1810512"/>
            <a:ext cx="1371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8.0</a:t>
            </a:r>
            <a:endParaRPr lang="en-US" sz="1150" dirty="0"/>
          </a:p>
        </p:txBody>
      </p:sp>
      <p:sp>
        <p:nvSpPr>
          <p:cNvPr id="15" name="Text 13"/>
          <p:cNvSpPr/>
          <p:nvPr/>
        </p:nvSpPr>
        <p:spPr>
          <a:xfrm>
            <a:off x="6035040" y="1810512"/>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−0.2</a:t>
            </a:r>
            <a:endParaRPr lang="en-US" sz="1150" dirty="0"/>
          </a:p>
        </p:txBody>
      </p:sp>
      <p:sp>
        <p:nvSpPr>
          <p:cNvPr id="16" name="Text 14"/>
          <p:cNvSpPr/>
          <p:nvPr/>
        </p:nvSpPr>
        <p:spPr>
          <a:xfrm>
            <a:off x="7406640" y="1810512"/>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−0.4</a:t>
            </a:r>
            <a:endParaRPr lang="en-US" sz="1150" dirty="0"/>
          </a:p>
        </p:txBody>
      </p:sp>
      <p:sp>
        <p:nvSpPr>
          <p:cNvPr id="17" name="Text 15"/>
          <p:cNvSpPr/>
          <p:nvPr/>
        </p:nvSpPr>
        <p:spPr>
          <a:xfrm>
            <a:off x="8778240" y="1810512"/>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a:t>
            </a:r>
            <a:endParaRPr lang="en-US" sz="1150" dirty="0"/>
          </a:p>
        </p:txBody>
      </p:sp>
      <p:sp>
        <p:nvSpPr>
          <p:cNvPr id="18" name="Text 16"/>
          <p:cNvSpPr/>
          <p:nvPr/>
        </p:nvSpPr>
        <p:spPr>
          <a:xfrm>
            <a:off x="10149840" y="1810512"/>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7.4</a:t>
            </a:r>
            <a:endParaRPr lang="en-US" sz="1150" dirty="0"/>
          </a:p>
        </p:txBody>
      </p:sp>
      <p:sp>
        <p:nvSpPr>
          <p:cNvPr id="19" name="Text 17"/>
          <p:cNvSpPr/>
          <p:nvPr/>
        </p:nvSpPr>
        <p:spPr>
          <a:xfrm>
            <a:off x="640080" y="2194560"/>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Sam</a:t>
            </a:r>
            <a:endParaRPr lang="en-US" sz="1150" dirty="0"/>
          </a:p>
        </p:txBody>
      </p:sp>
      <p:sp>
        <p:nvSpPr>
          <p:cNvPr id="20" name="Text 18"/>
          <p:cNvSpPr/>
          <p:nvPr/>
        </p:nvSpPr>
        <p:spPr>
          <a:xfrm>
            <a:off x="4663440" y="2194560"/>
            <a:ext cx="1371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8.0</a:t>
            </a:r>
            <a:endParaRPr lang="en-US" sz="1150" dirty="0"/>
          </a:p>
        </p:txBody>
      </p:sp>
      <p:sp>
        <p:nvSpPr>
          <p:cNvPr id="21" name="Text 19"/>
          <p:cNvSpPr/>
          <p:nvPr/>
        </p:nvSpPr>
        <p:spPr>
          <a:xfrm>
            <a:off x="6035040" y="2194560"/>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−0.2</a:t>
            </a:r>
            <a:endParaRPr lang="en-US" sz="1150" dirty="0"/>
          </a:p>
        </p:txBody>
      </p:sp>
      <p:sp>
        <p:nvSpPr>
          <p:cNvPr id="22" name="Text 20"/>
          <p:cNvSpPr/>
          <p:nvPr/>
        </p:nvSpPr>
        <p:spPr>
          <a:xfrm>
            <a:off x="7406640" y="2194560"/>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−0.4</a:t>
            </a:r>
            <a:endParaRPr lang="en-US" sz="1150" dirty="0"/>
          </a:p>
        </p:txBody>
      </p:sp>
      <p:sp>
        <p:nvSpPr>
          <p:cNvPr id="23" name="Text 21"/>
          <p:cNvSpPr/>
          <p:nvPr/>
        </p:nvSpPr>
        <p:spPr>
          <a:xfrm>
            <a:off x="8778240" y="2194560"/>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a:t>
            </a:r>
            <a:endParaRPr lang="en-US" sz="1150" dirty="0"/>
          </a:p>
        </p:txBody>
      </p:sp>
      <p:sp>
        <p:nvSpPr>
          <p:cNvPr id="24" name="Text 22"/>
          <p:cNvSpPr/>
          <p:nvPr/>
        </p:nvSpPr>
        <p:spPr>
          <a:xfrm>
            <a:off x="10149840" y="2194560"/>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7.4</a:t>
            </a:r>
            <a:endParaRPr lang="en-US" sz="1150" dirty="0"/>
          </a:p>
        </p:txBody>
      </p:sp>
      <p:sp>
        <p:nvSpPr>
          <p:cNvPr id="25" name="Text 23"/>
          <p:cNvSpPr/>
          <p:nvPr/>
        </p:nvSpPr>
        <p:spPr>
          <a:xfrm>
            <a:off x="640080" y="2578608"/>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Jo</a:t>
            </a:r>
            <a:endParaRPr lang="en-US" sz="1150" dirty="0"/>
          </a:p>
        </p:txBody>
      </p:sp>
      <p:sp>
        <p:nvSpPr>
          <p:cNvPr id="26" name="Text 24"/>
          <p:cNvSpPr/>
          <p:nvPr/>
        </p:nvSpPr>
        <p:spPr>
          <a:xfrm>
            <a:off x="4663440" y="2578608"/>
            <a:ext cx="1371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8.0</a:t>
            </a:r>
            <a:endParaRPr lang="en-US" sz="1150" dirty="0"/>
          </a:p>
        </p:txBody>
      </p:sp>
      <p:sp>
        <p:nvSpPr>
          <p:cNvPr id="27" name="Text 25"/>
          <p:cNvSpPr/>
          <p:nvPr/>
        </p:nvSpPr>
        <p:spPr>
          <a:xfrm>
            <a:off x="6035040" y="2578608"/>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−0.2</a:t>
            </a:r>
            <a:endParaRPr lang="en-US" sz="1150" dirty="0"/>
          </a:p>
        </p:txBody>
      </p:sp>
      <p:sp>
        <p:nvSpPr>
          <p:cNvPr id="28" name="Text 26"/>
          <p:cNvSpPr/>
          <p:nvPr/>
        </p:nvSpPr>
        <p:spPr>
          <a:xfrm>
            <a:off x="7406640" y="2578608"/>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−0.4</a:t>
            </a:r>
            <a:endParaRPr lang="en-US" sz="1150" dirty="0"/>
          </a:p>
        </p:txBody>
      </p:sp>
      <p:sp>
        <p:nvSpPr>
          <p:cNvPr id="29" name="Text 27"/>
          <p:cNvSpPr/>
          <p:nvPr/>
        </p:nvSpPr>
        <p:spPr>
          <a:xfrm>
            <a:off x="8778240" y="2578608"/>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−2.0</a:t>
            </a:r>
            <a:endParaRPr lang="en-US" sz="1150" dirty="0"/>
          </a:p>
        </p:txBody>
      </p:sp>
      <p:sp>
        <p:nvSpPr>
          <p:cNvPr id="30" name="Text 28"/>
          <p:cNvSpPr/>
          <p:nvPr/>
        </p:nvSpPr>
        <p:spPr>
          <a:xfrm>
            <a:off x="10149840" y="2578608"/>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5.4</a:t>
            </a:r>
            <a:endParaRPr lang="en-US" sz="1150" dirty="0"/>
          </a:p>
        </p:txBody>
      </p:sp>
      <p:sp>
        <p:nvSpPr>
          <p:cNvPr id="31" name="Text 29"/>
          <p:cNvSpPr/>
          <p:nvPr/>
        </p:nvSpPr>
        <p:spPr>
          <a:xfrm>
            <a:off x="640080" y="2962656"/>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Lead (50% to leading)</a:t>
            </a:r>
            <a:endParaRPr lang="en-US" sz="1150" dirty="0"/>
          </a:p>
        </p:txBody>
      </p:sp>
      <p:sp>
        <p:nvSpPr>
          <p:cNvPr id="32" name="Text 30"/>
          <p:cNvSpPr/>
          <p:nvPr/>
        </p:nvSpPr>
        <p:spPr>
          <a:xfrm>
            <a:off x="4663440" y="2962656"/>
            <a:ext cx="1371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8.0</a:t>
            </a:r>
            <a:endParaRPr lang="en-US" sz="1150" dirty="0"/>
          </a:p>
        </p:txBody>
      </p:sp>
      <p:sp>
        <p:nvSpPr>
          <p:cNvPr id="33" name="Text 31"/>
          <p:cNvSpPr/>
          <p:nvPr/>
        </p:nvSpPr>
        <p:spPr>
          <a:xfrm>
            <a:off x="6035040" y="2962656"/>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−0.2</a:t>
            </a:r>
            <a:endParaRPr lang="en-US" sz="1150" dirty="0"/>
          </a:p>
        </p:txBody>
      </p:sp>
      <p:sp>
        <p:nvSpPr>
          <p:cNvPr id="34" name="Text 32"/>
          <p:cNvSpPr/>
          <p:nvPr/>
        </p:nvSpPr>
        <p:spPr>
          <a:xfrm>
            <a:off x="7406640" y="2962656"/>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−0.4</a:t>
            </a:r>
            <a:endParaRPr lang="en-US" sz="1150" dirty="0"/>
          </a:p>
        </p:txBody>
      </p:sp>
      <p:sp>
        <p:nvSpPr>
          <p:cNvPr id="35" name="Text 33"/>
          <p:cNvSpPr/>
          <p:nvPr/>
        </p:nvSpPr>
        <p:spPr>
          <a:xfrm>
            <a:off x="8778240" y="2962656"/>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a:t>
            </a:r>
            <a:endParaRPr lang="en-US" sz="1150" dirty="0"/>
          </a:p>
        </p:txBody>
      </p:sp>
      <p:sp>
        <p:nvSpPr>
          <p:cNvPr id="36" name="Text 34"/>
          <p:cNvSpPr/>
          <p:nvPr/>
        </p:nvSpPr>
        <p:spPr>
          <a:xfrm>
            <a:off x="10149840" y="2962656"/>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3.7</a:t>
            </a:r>
            <a:endParaRPr lang="en-US" sz="1150" dirty="0"/>
          </a:p>
        </p:txBody>
      </p:sp>
      <p:sp>
        <p:nvSpPr>
          <p:cNvPr id="37" name="Text 35"/>
          <p:cNvSpPr/>
          <p:nvPr/>
        </p:nvSpPr>
        <p:spPr>
          <a:xfrm>
            <a:off x="640080" y="3346704"/>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Total</a:t>
            </a:r>
            <a:endParaRPr lang="en-US" sz="1150" dirty="0"/>
          </a:p>
        </p:txBody>
      </p:sp>
      <p:sp>
        <p:nvSpPr>
          <p:cNvPr id="38" name="Text 36"/>
          <p:cNvSpPr/>
          <p:nvPr/>
        </p:nvSpPr>
        <p:spPr>
          <a:xfrm>
            <a:off x="4663440" y="3346704"/>
            <a:ext cx="1371600" cy="329184"/>
          </a:xfrm>
          <a:prstGeom prst="rect">
            <a:avLst/>
          </a:prstGeom>
          <a:noFill/>
          <a:ln/>
        </p:spPr>
        <p:txBody>
          <a:bodyPr wrap="square" lIns="0" tIns="0" rIns="0" bIns="0" rtlCol="0" anchor="ctr"/>
          <a:lstStyle/>
          <a:p>
            <a:pPr marL="0" indent="0" algn="l">
              <a:buNone/>
            </a:pPr>
            <a:endParaRPr lang="en-US" sz="1150" dirty="0"/>
          </a:p>
        </p:txBody>
      </p:sp>
      <p:sp>
        <p:nvSpPr>
          <p:cNvPr id="39" name="Text 37"/>
          <p:cNvSpPr/>
          <p:nvPr/>
        </p:nvSpPr>
        <p:spPr>
          <a:xfrm>
            <a:off x="6035040" y="3346704"/>
            <a:ext cx="1371600" cy="329184"/>
          </a:xfrm>
          <a:prstGeom prst="rect">
            <a:avLst/>
          </a:prstGeom>
          <a:noFill/>
          <a:ln/>
        </p:spPr>
        <p:txBody>
          <a:bodyPr wrap="square" lIns="0" tIns="0" rIns="0" bIns="0" rtlCol="0" anchor="ctr"/>
          <a:lstStyle/>
          <a:p>
            <a:pPr marL="0" indent="0" algn="r">
              <a:buNone/>
            </a:pPr>
            <a:endParaRPr lang="en-US" sz="1150" dirty="0"/>
          </a:p>
        </p:txBody>
      </p:sp>
      <p:sp>
        <p:nvSpPr>
          <p:cNvPr id="40" name="Text 38"/>
          <p:cNvSpPr/>
          <p:nvPr/>
        </p:nvSpPr>
        <p:spPr>
          <a:xfrm>
            <a:off x="7406640" y="3346704"/>
            <a:ext cx="1371600" cy="329184"/>
          </a:xfrm>
          <a:prstGeom prst="rect">
            <a:avLst/>
          </a:prstGeom>
          <a:noFill/>
          <a:ln/>
        </p:spPr>
        <p:txBody>
          <a:bodyPr wrap="square" lIns="0" tIns="0" rIns="0" bIns="0" rtlCol="0" anchor="ctr"/>
          <a:lstStyle/>
          <a:p>
            <a:pPr marL="0" indent="0" algn="r">
              <a:buNone/>
            </a:pPr>
            <a:endParaRPr lang="en-US" sz="1150" dirty="0"/>
          </a:p>
        </p:txBody>
      </p:sp>
      <p:sp>
        <p:nvSpPr>
          <p:cNvPr id="41" name="Text 39"/>
          <p:cNvSpPr/>
          <p:nvPr/>
        </p:nvSpPr>
        <p:spPr>
          <a:xfrm>
            <a:off x="8778240" y="3346704"/>
            <a:ext cx="1371600" cy="329184"/>
          </a:xfrm>
          <a:prstGeom prst="rect">
            <a:avLst/>
          </a:prstGeom>
          <a:noFill/>
          <a:ln/>
        </p:spPr>
        <p:txBody>
          <a:bodyPr wrap="square" lIns="0" tIns="0" rIns="0" bIns="0" rtlCol="0" anchor="ctr"/>
          <a:lstStyle/>
          <a:p>
            <a:pPr marL="0" indent="0" algn="r">
              <a:buNone/>
            </a:pPr>
            <a:endParaRPr lang="en-US" sz="1150" dirty="0"/>
          </a:p>
        </p:txBody>
      </p:sp>
      <p:sp>
        <p:nvSpPr>
          <p:cNvPr id="42" name="Text 40"/>
          <p:cNvSpPr/>
          <p:nvPr/>
        </p:nvSpPr>
        <p:spPr>
          <a:xfrm>
            <a:off x="10149840" y="3346704"/>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23.9</a:t>
            </a:r>
            <a:endParaRPr lang="en-US" sz="1150" dirty="0"/>
          </a:p>
        </p:txBody>
      </p:sp>
      <p:sp>
        <p:nvSpPr>
          <p:cNvPr id="43" name="Text 41"/>
          <p:cNvSpPr/>
          <p:nvPr/>
        </p:nvSpPr>
        <p:spPr>
          <a:xfrm>
            <a:off x="640080" y="4023360"/>
            <a:ext cx="10881360" cy="54864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Robotics: 2 people, Chris at 0.8, minus ~1 day/week live cell support ≈ 1.6 FTE effective. Their constraint is the single spare controller and the live cell, not headcount — see appendix 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What r3 → r4 actually contains</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Seven of twenty panels changed. All on level 1. Recoverability differs completely.</a:t>
            </a:r>
            <a:endParaRPr lang="en-US" sz="1300" dirty="0"/>
          </a:p>
        </p:txBody>
      </p:sp>
      <p:sp>
        <p:nvSpPr>
          <p:cNvPr id="6" name="Text 4"/>
          <p:cNvSpPr/>
          <p:nvPr/>
        </p:nvSpPr>
        <p:spPr>
          <a:xfrm>
            <a:off x="640080" y="1371600"/>
            <a:ext cx="173736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Panel</a:t>
            </a:r>
            <a:endParaRPr lang="en-US" sz="1050" dirty="0"/>
          </a:p>
        </p:txBody>
      </p:sp>
      <p:sp>
        <p:nvSpPr>
          <p:cNvPr id="7" name="Text 5"/>
          <p:cNvSpPr/>
          <p:nvPr/>
        </p:nvSpPr>
        <p:spPr>
          <a:xfrm>
            <a:off x="2377440" y="1371600"/>
            <a:ext cx="365760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Change</a:t>
            </a:r>
            <a:endParaRPr lang="en-US" sz="1050" dirty="0"/>
          </a:p>
        </p:txBody>
      </p:sp>
      <p:sp>
        <p:nvSpPr>
          <p:cNvPr id="8" name="Text 6"/>
          <p:cNvSpPr/>
          <p:nvPr/>
        </p:nvSpPr>
        <p:spPr>
          <a:xfrm>
            <a:off x="6035040" y="1371600"/>
            <a:ext cx="18288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Status</a:t>
            </a:r>
            <a:endParaRPr lang="en-US" sz="1050" dirty="0"/>
          </a:p>
        </p:txBody>
      </p:sp>
      <p:sp>
        <p:nvSpPr>
          <p:cNvPr id="9" name="Text 7"/>
          <p:cNvSpPr/>
          <p:nvPr/>
        </p:nvSpPr>
        <p:spPr>
          <a:xfrm>
            <a:off x="7863840" y="1371600"/>
            <a:ext cx="219456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Class</a:t>
            </a:r>
            <a:endParaRPr lang="en-US" sz="1050" dirty="0"/>
          </a:p>
        </p:txBody>
      </p:sp>
      <p:sp>
        <p:nvSpPr>
          <p:cNvPr id="10" name="Text 8"/>
          <p:cNvSpPr/>
          <p:nvPr/>
        </p:nvSpPr>
        <p:spPr>
          <a:xfrm>
            <a:off x="10058400" y="1371600"/>
            <a:ext cx="146304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Cost</a:t>
            </a:r>
            <a:endParaRPr lang="en-US" sz="1050" dirty="0"/>
          </a:p>
        </p:txBody>
      </p:sp>
      <p:sp>
        <p:nvSpPr>
          <p:cNvPr id="11" name="Shape 9"/>
          <p:cNvSpPr/>
          <p:nvPr/>
        </p:nvSpPr>
        <p:spPr>
          <a:xfrm>
            <a:off x="640080" y="1700784"/>
            <a:ext cx="10881360" cy="13716"/>
          </a:xfrm>
          <a:prstGeom prst="rect">
            <a:avLst/>
          </a:prstGeom>
          <a:solidFill>
            <a:srgbClr val="D8D2C9"/>
          </a:solidFill>
          <a:ln/>
        </p:spPr>
        <p:txBody>
          <a:bodyPr/>
          <a:lstStyle/>
          <a:p>
            <a:endParaRPr lang="en-US"/>
          </a:p>
        </p:txBody>
      </p:sp>
      <p:sp>
        <p:nvSpPr>
          <p:cNvPr id="12" name="Text 10"/>
          <p:cNvSpPr/>
          <p:nvPr/>
        </p:nvSpPr>
        <p:spPr>
          <a:xfrm>
            <a:off x="640080" y="1810512"/>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EW-L1-N1</a:t>
            </a:r>
            <a:endParaRPr lang="en-US" sz="1150" dirty="0"/>
          </a:p>
        </p:txBody>
      </p:sp>
      <p:sp>
        <p:nvSpPr>
          <p:cNvPr id="13" name="Text 11"/>
          <p:cNvSpPr/>
          <p:nvPr/>
        </p:nvSpPr>
        <p:spPr>
          <a:xfrm>
            <a:off x="2377440" y="1810512"/>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opening x 1200→1800</a:t>
            </a:r>
            <a:endParaRPr lang="en-US" sz="1150" dirty="0"/>
          </a:p>
        </p:txBody>
      </p:sp>
      <p:sp>
        <p:nvSpPr>
          <p:cNvPr id="14" name="Text 12"/>
          <p:cNvSpPr/>
          <p:nvPr/>
        </p:nvSpPr>
        <p:spPr>
          <a:xfrm>
            <a:off x="6035040" y="1810512"/>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installed</a:t>
            </a:r>
            <a:endParaRPr lang="en-US" sz="1150" dirty="0"/>
          </a:p>
        </p:txBody>
      </p:sp>
      <p:sp>
        <p:nvSpPr>
          <p:cNvPr id="15" name="Text 13"/>
          <p:cNvSpPr/>
          <p:nvPr/>
        </p:nvSpPr>
        <p:spPr>
          <a:xfrm>
            <a:off x="7863840" y="1810512"/>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escalate</a:t>
            </a:r>
            <a:endParaRPr lang="en-US" sz="1150" dirty="0"/>
          </a:p>
        </p:txBody>
      </p:sp>
      <p:sp>
        <p:nvSpPr>
          <p:cNvPr id="16" name="Text 14"/>
          <p:cNvSpPr/>
          <p:nvPr/>
        </p:nvSpPr>
        <p:spPr>
          <a:xfrm>
            <a:off x="10058400" y="1810512"/>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TBC</a:t>
            </a:r>
            <a:endParaRPr lang="en-US" sz="1150" dirty="0"/>
          </a:p>
        </p:txBody>
      </p:sp>
      <p:sp>
        <p:nvSpPr>
          <p:cNvPr id="17" name="Text 15"/>
          <p:cNvSpPr/>
          <p:nvPr/>
        </p:nvSpPr>
        <p:spPr>
          <a:xfrm>
            <a:off x="640080" y="2194560"/>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EW-L1-E1</a:t>
            </a:r>
            <a:endParaRPr lang="en-US" sz="1150" dirty="0"/>
          </a:p>
        </p:txBody>
      </p:sp>
      <p:sp>
        <p:nvSpPr>
          <p:cNvPr id="18" name="Text 16"/>
          <p:cNvSpPr/>
          <p:nvPr/>
        </p:nvSpPr>
        <p:spPr>
          <a:xfrm>
            <a:off x="2377440" y="2194560"/>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opening x 1800→2400</a:t>
            </a:r>
            <a:endParaRPr lang="en-US" sz="1150" dirty="0"/>
          </a:p>
        </p:txBody>
      </p:sp>
      <p:sp>
        <p:nvSpPr>
          <p:cNvPr id="19" name="Text 17"/>
          <p:cNvSpPr/>
          <p:nvPr/>
        </p:nvSpPr>
        <p:spPr>
          <a:xfrm>
            <a:off x="6035040" y="2194560"/>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manufactured</a:t>
            </a:r>
            <a:endParaRPr lang="en-US" sz="1150" dirty="0"/>
          </a:p>
        </p:txBody>
      </p:sp>
      <p:sp>
        <p:nvSpPr>
          <p:cNvPr id="20" name="Text 18"/>
          <p:cNvSpPr/>
          <p:nvPr/>
        </p:nvSpPr>
        <p:spPr>
          <a:xfrm>
            <a:off x="7863840" y="2194560"/>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remake</a:t>
            </a:r>
            <a:endParaRPr lang="en-US" sz="1150" dirty="0"/>
          </a:p>
        </p:txBody>
      </p:sp>
      <p:sp>
        <p:nvSpPr>
          <p:cNvPr id="21" name="Text 19"/>
          <p:cNvSpPr/>
          <p:nvPr/>
        </p:nvSpPr>
        <p:spPr>
          <a:xfrm>
            <a:off x="10058400" y="2194560"/>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£180</a:t>
            </a:r>
            <a:endParaRPr lang="en-US" sz="1150" dirty="0"/>
          </a:p>
        </p:txBody>
      </p:sp>
      <p:sp>
        <p:nvSpPr>
          <p:cNvPr id="22" name="Text 20"/>
          <p:cNvSpPr/>
          <p:nvPr/>
        </p:nvSpPr>
        <p:spPr>
          <a:xfrm>
            <a:off x="640080" y="2578608"/>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EW-L1-W1</a:t>
            </a:r>
            <a:endParaRPr lang="en-US" sz="1150" dirty="0"/>
          </a:p>
        </p:txBody>
      </p:sp>
      <p:sp>
        <p:nvSpPr>
          <p:cNvPr id="23" name="Text 21"/>
          <p:cNvSpPr/>
          <p:nvPr/>
        </p:nvSpPr>
        <p:spPr>
          <a:xfrm>
            <a:off x="2377440" y="2578608"/>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width 4800→4200</a:t>
            </a:r>
            <a:endParaRPr lang="en-US" sz="1150" dirty="0"/>
          </a:p>
        </p:txBody>
      </p:sp>
      <p:sp>
        <p:nvSpPr>
          <p:cNvPr id="24" name="Text 22"/>
          <p:cNvSpPr/>
          <p:nvPr/>
        </p:nvSpPr>
        <p:spPr>
          <a:xfrm>
            <a:off x="6035040" y="2578608"/>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manufactured</a:t>
            </a:r>
            <a:endParaRPr lang="en-US" sz="1150" dirty="0"/>
          </a:p>
        </p:txBody>
      </p:sp>
      <p:sp>
        <p:nvSpPr>
          <p:cNvPr id="25" name="Text 23"/>
          <p:cNvSpPr/>
          <p:nvPr/>
        </p:nvSpPr>
        <p:spPr>
          <a:xfrm>
            <a:off x="7863840" y="2578608"/>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remake</a:t>
            </a:r>
            <a:endParaRPr lang="en-US" sz="1150" dirty="0"/>
          </a:p>
        </p:txBody>
      </p:sp>
      <p:sp>
        <p:nvSpPr>
          <p:cNvPr id="26" name="Text 24"/>
          <p:cNvSpPr/>
          <p:nvPr/>
        </p:nvSpPr>
        <p:spPr>
          <a:xfrm>
            <a:off x="10058400" y="2578608"/>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£180</a:t>
            </a:r>
            <a:endParaRPr lang="en-US" sz="1150" dirty="0"/>
          </a:p>
        </p:txBody>
      </p:sp>
      <p:sp>
        <p:nvSpPr>
          <p:cNvPr id="27" name="Text 25"/>
          <p:cNvSpPr/>
          <p:nvPr/>
        </p:nvSpPr>
        <p:spPr>
          <a:xfrm>
            <a:off x="640080" y="2962656"/>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IW-L1-01</a:t>
            </a:r>
            <a:endParaRPr lang="en-US" sz="1150" dirty="0"/>
          </a:p>
        </p:txBody>
      </p:sp>
      <p:sp>
        <p:nvSpPr>
          <p:cNvPr id="28" name="Text 26"/>
          <p:cNvSpPr/>
          <p:nvPr/>
        </p:nvSpPr>
        <p:spPr>
          <a:xfrm>
            <a:off x="2377440" y="2962656"/>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height 2700→2750, weight unchanged</a:t>
            </a:r>
            <a:endParaRPr lang="en-US" sz="1150" dirty="0"/>
          </a:p>
        </p:txBody>
      </p:sp>
      <p:sp>
        <p:nvSpPr>
          <p:cNvPr id="29" name="Text 27"/>
          <p:cNvSpPr/>
          <p:nvPr/>
        </p:nvSpPr>
        <p:spPr>
          <a:xfrm>
            <a:off x="6035040" y="2962656"/>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manufactured</a:t>
            </a:r>
            <a:endParaRPr lang="en-US" sz="1150" dirty="0"/>
          </a:p>
        </p:txBody>
      </p:sp>
      <p:sp>
        <p:nvSpPr>
          <p:cNvPr id="30" name="Text 28"/>
          <p:cNvSpPr/>
          <p:nvPr/>
        </p:nvSpPr>
        <p:spPr>
          <a:xfrm>
            <a:off x="7863840" y="2962656"/>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remake + suspect</a:t>
            </a:r>
            <a:endParaRPr lang="en-US" sz="1150" dirty="0"/>
          </a:p>
        </p:txBody>
      </p:sp>
      <p:sp>
        <p:nvSpPr>
          <p:cNvPr id="31" name="Text 29"/>
          <p:cNvSpPr/>
          <p:nvPr/>
        </p:nvSpPr>
        <p:spPr>
          <a:xfrm>
            <a:off x="10058400" y="2962656"/>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£180</a:t>
            </a:r>
            <a:endParaRPr lang="en-US" sz="1150" dirty="0"/>
          </a:p>
        </p:txBody>
      </p:sp>
      <p:sp>
        <p:nvSpPr>
          <p:cNvPr id="32" name="Text 30"/>
          <p:cNvSpPr/>
          <p:nvPr/>
        </p:nvSpPr>
        <p:spPr>
          <a:xfrm>
            <a:off x="640080" y="3346704"/>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FC-01</a:t>
            </a:r>
            <a:endParaRPr lang="en-US" sz="1150" dirty="0"/>
          </a:p>
        </p:txBody>
      </p:sp>
      <p:sp>
        <p:nvSpPr>
          <p:cNvPr id="33" name="Text 31"/>
          <p:cNvSpPr/>
          <p:nvPr/>
        </p:nvSpPr>
        <p:spPr>
          <a:xfrm>
            <a:off x="2377440" y="3346704"/>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span 4800→4200</a:t>
            </a:r>
            <a:endParaRPr lang="en-US" sz="1150" dirty="0"/>
          </a:p>
        </p:txBody>
      </p:sp>
      <p:sp>
        <p:nvSpPr>
          <p:cNvPr id="34" name="Text 32"/>
          <p:cNvSpPr/>
          <p:nvPr/>
        </p:nvSpPr>
        <p:spPr>
          <a:xfrm>
            <a:off x="6035040" y="3346704"/>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manufactured</a:t>
            </a:r>
            <a:endParaRPr lang="en-US" sz="1150" dirty="0"/>
          </a:p>
        </p:txBody>
      </p:sp>
      <p:sp>
        <p:nvSpPr>
          <p:cNvPr id="35" name="Text 33"/>
          <p:cNvSpPr/>
          <p:nvPr/>
        </p:nvSpPr>
        <p:spPr>
          <a:xfrm>
            <a:off x="7863840" y="3346704"/>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remake</a:t>
            </a:r>
            <a:endParaRPr lang="en-US" sz="1150" dirty="0"/>
          </a:p>
        </p:txBody>
      </p:sp>
      <p:sp>
        <p:nvSpPr>
          <p:cNvPr id="36" name="Text 34"/>
          <p:cNvSpPr/>
          <p:nvPr/>
        </p:nvSpPr>
        <p:spPr>
          <a:xfrm>
            <a:off x="10058400" y="3346704"/>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£180</a:t>
            </a:r>
            <a:endParaRPr lang="en-US" sz="1150" dirty="0"/>
          </a:p>
        </p:txBody>
      </p:sp>
      <p:sp>
        <p:nvSpPr>
          <p:cNvPr id="37" name="Text 35"/>
          <p:cNvSpPr/>
          <p:nvPr/>
        </p:nvSpPr>
        <p:spPr>
          <a:xfrm>
            <a:off x="640080" y="3730752"/>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EW-L1-N2</a:t>
            </a:r>
            <a:endParaRPr lang="en-US" sz="1150" dirty="0"/>
          </a:p>
        </p:txBody>
      </p:sp>
      <p:sp>
        <p:nvSpPr>
          <p:cNvPr id="38" name="Text 36"/>
          <p:cNvSpPr/>
          <p:nvPr/>
        </p:nvSpPr>
        <p:spPr>
          <a:xfrm>
            <a:off x="2377440" y="3730752"/>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opening x 600→900</a:t>
            </a:r>
            <a:endParaRPr lang="en-US" sz="1150" dirty="0"/>
          </a:p>
        </p:txBody>
      </p:sp>
      <p:sp>
        <p:nvSpPr>
          <p:cNvPr id="39" name="Text 37"/>
          <p:cNvSpPr/>
          <p:nvPr/>
        </p:nvSpPr>
        <p:spPr>
          <a:xfrm>
            <a:off x="6035040" y="3730752"/>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planned</a:t>
            </a:r>
            <a:endParaRPr lang="en-US" sz="1150" dirty="0"/>
          </a:p>
        </p:txBody>
      </p:sp>
      <p:sp>
        <p:nvSpPr>
          <p:cNvPr id="40" name="Text 38"/>
          <p:cNvSpPr/>
          <p:nvPr/>
        </p:nvSpPr>
        <p:spPr>
          <a:xfrm>
            <a:off x="7863840" y="3730752"/>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requeue</a:t>
            </a:r>
            <a:endParaRPr lang="en-US" sz="1150" dirty="0"/>
          </a:p>
        </p:txBody>
      </p:sp>
      <p:sp>
        <p:nvSpPr>
          <p:cNvPr id="41" name="Text 39"/>
          <p:cNvSpPr/>
          <p:nvPr/>
        </p:nvSpPr>
        <p:spPr>
          <a:xfrm>
            <a:off x="10058400" y="3730752"/>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a:t>
            </a:r>
            <a:endParaRPr lang="en-US" sz="1150" dirty="0"/>
          </a:p>
        </p:txBody>
      </p:sp>
      <p:sp>
        <p:nvSpPr>
          <p:cNvPr id="42" name="Text 40"/>
          <p:cNvSpPr/>
          <p:nvPr/>
        </p:nvSpPr>
        <p:spPr>
          <a:xfrm>
            <a:off x="640080" y="4114800"/>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FC-02</a:t>
            </a:r>
            <a:endParaRPr lang="en-US" sz="1150" dirty="0"/>
          </a:p>
        </p:txBody>
      </p:sp>
      <p:sp>
        <p:nvSpPr>
          <p:cNvPr id="43" name="Text 41"/>
          <p:cNvSpPr/>
          <p:nvPr/>
        </p:nvSpPr>
        <p:spPr>
          <a:xfrm>
            <a:off x="2377440" y="4114800"/>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span 4800→4200</a:t>
            </a:r>
            <a:endParaRPr lang="en-US" sz="1150" dirty="0"/>
          </a:p>
        </p:txBody>
      </p:sp>
      <p:sp>
        <p:nvSpPr>
          <p:cNvPr id="44" name="Text 42"/>
          <p:cNvSpPr/>
          <p:nvPr/>
        </p:nvSpPr>
        <p:spPr>
          <a:xfrm>
            <a:off x="6035040" y="4114800"/>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planned</a:t>
            </a:r>
            <a:endParaRPr lang="en-US" sz="1150" dirty="0"/>
          </a:p>
        </p:txBody>
      </p:sp>
      <p:sp>
        <p:nvSpPr>
          <p:cNvPr id="45" name="Text 43"/>
          <p:cNvSpPr/>
          <p:nvPr/>
        </p:nvSpPr>
        <p:spPr>
          <a:xfrm>
            <a:off x="7863840" y="4114800"/>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requeue</a:t>
            </a:r>
            <a:endParaRPr lang="en-US" sz="1150" dirty="0"/>
          </a:p>
        </p:txBody>
      </p:sp>
      <p:sp>
        <p:nvSpPr>
          <p:cNvPr id="46" name="Text 44"/>
          <p:cNvSpPr/>
          <p:nvPr/>
        </p:nvSpPr>
        <p:spPr>
          <a:xfrm>
            <a:off x="10058400" y="4114800"/>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a:t>
            </a:r>
            <a:endParaRPr lang="en-US" sz="1150" dirty="0"/>
          </a:p>
        </p:txBody>
      </p:sp>
      <p:sp>
        <p:nvSpPr>
          <p:cNvPr id="47" name="Text 45"/>
          <p:cNvSpPr/>
          <p:nvPr/>
        </p:nvSpPr>
        <p:spPr>
          <a:xfrm>
            <a:off x="640080" y="4480560"/>
            <a:ext cx="10881360" cy="65836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Alex's adjacency rule would flag all thirteen level-1 panels — £2,340 if acted on, against a baseline where ~12% of panels are currently wasted. EW-L2-W1 is still 4800 wide while the wall beneath it shrank to 4200: one real defect, which adjacency buries among twelve false ones.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Estimation calibration</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Twelve workstreams over two quarters. Ratio of actual to estimate.</a:t>
            </a:r>
            <a:endParaRPr lang="en-US" sz="1300" dirty="0"/>
          </a:p>
        </p:txBody>
      </p:sp>
      <p:sp>
        <p:nvSpPr>
          <p:cNvPr id="6" name="Text 4"/>
          <p:cNvSpPr/>
          <p:nvPr/>
        </p:nvSpPr>
        <p:spPr>
          <a:xfrm>
            <a:off x="640080" y="1371600"/>
            <a:ext cx="402336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Discipline</a:t>
            </a:r>
            <a:endParaRPr lang="en-US" sz="1050" dirty="0"/>
          </a:p>
        </p:txBody>
      </p:sp>
      <p:sp>
        <p:nvSpPr>
          <p:cNvPr id="7" name="Text 5"/>
          <p:cNvSpPr/>
          <p:nvPr/>
        </p:nvSpPr>
        <p:spPr>
          <a:xfrm>
            <a:off x="4663440" y="1371600"/>
            <a:ext cx="237744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Non-hardware</a:t>
            </a:r>
            <a:endParaRPr lang="en-US" sz="1050" dirty="0"/>
          </a:p>
        </p:txBody>
      </p:sp>
      <p:sp>
        <p:nvSpPr>
          <p:cNvPr id="8" name="Text 6"/>
          <p:cNvSpPr/>
          <p:nvPr/>
        </p:nvSpPr>
        <p:spPr>
          <a:xfrm>
            <a:off x="7040880" y="1371600"/>
            <a:ext cx="27432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Hardware-dependent</a:t>
            </a:r>
            <a:endParaRPr lang="en-US" sz="1050" dirty="0"/>
          </a:p>
        </p:txBody>
      </p:sp>
      <p:sp>
        <p:nvSpPr>
          <p:cNvPr id="9" name="Text 7"/>
          <p:cNvSpPr/>
          <p:nvPr/>
        </p:nvSpPr>
        <p:spPr>
          <a:xfrm>
            <a:off x="9784080" y="1371600"/>
            <a:ext cx="173736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Sample</a:t>
            </a:r>
            <a:endParaRPr lang="en-US" sz="1050" dirty="0"/>
          </a:p>
        </p:txBody>
      </p:sp>
      <p:sp>
        <p:nvSpPr>
          <p:cNvPr id="10" name="Shape 8"/>
          <p:cNvSpPr/>
          <p:nvPr/>
        </p:nvSpPr>
        <p:spPr>
          <a:xfrm>
            <a:off x="640080" y="1700784"/>
            <a:ext cx="10881360" cy="13716"/>
          </a:xfrm>
          <a:prstGeom prst="rect">
            <a:avLst/>
          </a:prstGeom>
          <a:solidFill>
            <a:srgbClr val="D8D2C9"/>
          </a:solidFill>
          <a:ln/>
        </p:spPr>
        <p:txBody>
          <a:bodyPr/>
          <a:lstStyle/>
          <a:p>
            <a:endParaRPr lang="en-US"/>
          </a:p>
        </p:txBody>
      </p:sp>
      <p:sp>
        <p:nvSpPr>
          <p:cNvPr id="11" name="Text 9"/>
          <p:cNvSpPr/>
          <p:nvPr/>
        </p:nvSpPr>
        <p:spPr>
          <a:xfrm>
            <a:off x="640080" y="1810512"/>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Solver (Alex)</a:t>
            </a:r>
            <a:endParaRPr lang="en-US" sz="1150" dirty="0"/>
          </a:p>
        </p:txBody>
      </p:sp>
      <p:sp>
        <p:nvSpPr>
          <p:cNvPr id="12" name="Text 10"/>
          <p:cNvSpPr/>
          <p:nvPr/>
        </p:nvSpPr>
        <p:spPr>
          <a:xfrm>
            <a:off x="4663440" y="1810512"/>
            <a:ext cx="237744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1.55×</a:t>
            </a:r>
            <a:endParaRPr lang="en-US" sz="1150" dirty="0"/>
          </a:p>
        </p:txBody>
      </p:sp>
      <p:sp>
        <p:nvSpPr>
          <p:cNvPr id="13" name="Text 11"/>
          <p:cNvSpPr/>
          <p:nvPr/>
        </p:nvSpPr>
        <p:spPr>
          <a:xfrm>
            <a:off x="7040880" y="1810512"/>
            <a:ext cx="27432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2.18×</a:t>
            </a:r>
            <a:endParaRPr lang="en-US" sz="1150" dirty="0"/>
          </a:p>
        </p:txBody>
      </p:sp>
      <p:sp>
        <p:nvSpPr>
          <p:cNvPr id="14" name="Text 12"/>
          <p:cNvSpPr/>
          <p:nvPr/>
        </p:nvSpPr>
        <p:spPr>
          <a:xfrm>
            <a:off x="9784080" y="1810512"/>
            <a:ext cx="17373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4 workstreams</a:t>
            </a:r>
            <a:endParaRPr lang="en-US" sz="1150" dirty="0"/>
          </a:p>
        </p:txBody>
      </p:sp>
      <p:sp>
        <p:nvSpPr>
          <p:cNvPr id="15" name="Text 13"/>
          <p:cNvSpPr/>
          <p:nvPr/>
        </p:nvSpPr>
        <p:spPr>
          <a:xfrm>
            <a:off x="640080" y="2194560"/>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Platform (Jo)</a:t>
            </a:r>
            <a:endParaRPr lang="en-US" sz="1150" dirty="0"/>
          </a:p>
        </p:txBody>
      </p:sp>
      <p:sp>
        <p:nvSpPr>
          <p:cNvPr id="16" name="Text 14"/>
          <p:cNvSpPr/>
          <p:nvPr/>
        </p:nvSpPr>
        <p:spPr>
          <a:xfrm>
            <a:off x="4663440" y="2194560"/>
            <a:ext cx="237744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1.51×</a:t>
            </a:r>
            <a:endParaRPr lang="en-US" sz="1150" dirty="0"/>
          </a:p>
        </p:txBody>
      </p:sp>
      <p:sp>
        <p:nvSpPr>
          <p:cNvPr id="17" name="Text 15"/>
          <p:cNvSpPr/>
          <p:nvPr/>
        </p:nvSpPr>
        <p:spPr>
          <a:xfrm>
            <a:off x="7040880" y="2194560"/>
            <a:ext cx="27432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2.10×</a:t>
            </a:r>
            <a:endParaRPr lang="en-US" sz="1150" dirty="0"/>
          </a:p>
        </p:txBody>
      </p:sp>
      <p:sp>
        <p:nvSpPr>
          <p:cNvPr id="18" name="Text 16"/>
          <p:cNvSpPr/>
          <p:nvPr/>
        </p:nvSpPr>
        <p:spPr>
          <a:xfrm>
            <a:off x="9784080" y="2194560"/>
            <a:ext cx="17373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5 workstreams</a:t>
            </a:r>
            <a:endParaRPr lang="en-US" sz="1150" dirty="0"/>
          </a:p>
        </p:txBody>
      </p:sp>
      <p:sp>
        <p:nvSpPr>
          <p:cNvPr id="19" name="Text 17"/>
          <p:cNvSpPr/>
          <p:nvPr/>
        </p:nvSpPr>
        <p:spPr>
          <a:xfrm>
            <a:off x="640080" y="2578608"/>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Frontend (Sam)</a:t>
            </a:r>
            <a:endParaRPr lang="en-US" sz="1150" dirty="0"/>
          </a:p>
        </p:txBody>
      </p:sp>
      <p:sp>
        <p:nvSpPr>
          <p:cNvPr id="20" name="Text 18"/>
          <p:cNvSpPr/>
          <p:nvPr/>
        </p:nvSpPr>
        <p:spPr>
          <a:xfrm>
            <a:off x="4663440" y="2578608"/>
            <a:ext cx="237744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1.14×</a:t>
            </a:r>
            <a:endParaRPr lang="en-US" sz="1150" dirty="0"/>
          </a:p>
        </p:txBody>
      </p:sp>
      <p:sp>
        <p:nvSpPr>
          <p:cNvPr id="21" name="Text 19"/>
          <p:cNvSpPr/>
          <p:nvPr/>
        </p:nvSpPr>
        <p:spPr>
          <a:xfrm>
            <a:off x="7040880" y="2578608"/>
            <a:ext cx="27432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1.60×</a:t>
            </a:r>
            <a:endParaRPr lang="en-US" sz="1150" dirty="0"/>
          </a:p>
        </p:txBody>
      </p:sp>
      <p:sp>
        <p:nvSpPr>
          <p:cNvPr id="22" name="Text 20"/>
          <p:cNvSpPr/>
          <p:nvPr/>
        </p:nvSpPr>
        <p:spPr>
          <a:xfrm>
            <a:off x="9784080" y="2578608"/>
            <a:ext cx="17373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3 workstreams</a:t>
            </a:r>
            <a:endParaRPr lang="en-US" sz="1150" dirty="0"/>
          </a:p>
        </p:txBody>
      </p:sp>
      <p:sp>
        <p:nvSpPr>
          <p:cNvPr id="23" name="Text 21"/>
          <p:cNvSpPr/>
          <p:nvPr/>
        </p:nvSpPr>
        <p:spPr>
          <a:xfrm>
            <a:off x="640080" y="2962656"/>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All</a:t>
            </a:r>
            <a:endParaRPr lang="en-US" sz="1150" dirty="0"/>
          </a:p>
        </p:txBody>
      </p:sp>
      <p:sp>
        <p:nvSpPr>
          <p:cNvPr id="24" name="Text 22"/>
          <p:cNvSpPr/>
          <p:nvPr/>
        </p:nvSpPr>
        <p:spPr>
          <a:xfrm>
            <a:off x="4663440" y="2962656"/>
            <a:ext cx="237744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1.42×</a:t>
            </a:r>
            <a:endParaRPr lang="en-US" sz="1150" dirty="0"/>
          </a:p>
        </p:txBody>
      </p:sp>
      <p:sp>
        <p:nvSpPr>
          <p:cNvPr id="25" name="Text 23"/>
          <p:cNvSpPr/>
          <p:nvPr/>
        </p:nvSpPr>
        <p:spPr>
          <a:xfrm>
            <a:off x="7040880" y="2962656"/>
            <a:ext cx="27432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2.04×</a:t>
            </a:r>
            <a:endParaRPr lang="en-US" sz="1150" dirty="0"/>
          </a:p>
        </p:txBody>
      </p:sp>
      <p:sp>
        <p:nvSpPr>
          <p:cNvPr id="26" name="Text 24"/>
          <p:cNvSpPr/>
          <p:nvPr/>
        </p:nvSpPr>
        <p:spPr>
          <a:xfrm>
            <a:off x="9784080" y="2962656"/>
            <a:ext cx="17373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12 workstreams</a:t>
            </a:r>
            <a:endParaRPr lang="en-US" sz="1150" dirty="0"/>
          </a:p>
        </p:txBody>
      </p:sp>
      <p:sp>
        <p:nvSpPr>
          <p:cNvPr id="27" name="Text 25"/>
          <p:cNvSpPr/>
          <p:nvPr/>
        </p:nvSpPr>
        <p:spPr>
          <a:xfrm>
            <a:off x="640080" y="3401568"/>
            <a:ext cx="1088136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Hardware dependency roughly doubles the overrun, consistently, across every discipline.</a:t>
            </a:r>
            <a:endParaRPr lang="en-US" sz="1250" dirty="0"/>
          </a:p>
        </p:txBody>
      </p:sp>
      <p:sp>
        <p:nvSpPr>
          <p:cNvPr id="28" name="Text 26"/>
          <p:cNvSpPr/>
          <p:nvPr/>
        </p:nvSpPr>
        <p:spPr>
          <a:xfrm>
            <a:off x="640080" y="3749040"/>
            <a:ext cx="1088136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The bias is not uniform across people. Alex wrote the most detailed plan and Sam wrote "few weeks of work", so Alex looks more rigorous. On the evidence, Alex's numbers need challenging and Sam's need extracting.</a:t>
            </a:r>
            <a:endParaRPr lang="en-US" sz="1150" dirty="0"/>
          </a:p>
        </p:txBody>
      </p:sp>
      <p:sp>
        <p:nvSpPr>
          <p:cNvPr id="29" name="Text 27"/>
          <p:cNvSpPr/>
          <p:nvPr/>
        </p:nvSpPr>
        <p:spPr>
          <a:xfrm>
            <a:off x="640080" y="4407408"/>
            <a:ext cx="10881360" cy="658368"/>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Bimodal ≠ wide.  Alex's one Low-confidence estimate was two estimates with no way to tell which applies. Padding is wrong in both worlds; the remedy is a timeboxed spike on the deciding fact — and that fact was already answered by the fixtures.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Robotics resource pass</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Laid out by resource rather than by person. Found five things and reversed a recommendation.</a:t>
            </a:r>
            <a:endParaRPr lang="en-US" sz="1300" dirty="0"/>
          </a:p>
        </p:txBody>
      </p:sp>
      <p:sp>
        <p:nvSpPr>
          <p:cNvPr id="6" name="Text 4"/>
          <p:cNvSpPr/>
          <p:nvPr/>
        </p:nvSpPr>
        <p:spPr>
          <a:xfrm>
            <a:off x="640080" y="1408176"/>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097280" y="1371600"/>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v4.2b had no validation or deploy in the plan</a:t>
            </a:r>
            <a:endParaRPr lang="en-US" sz="1300" dirty="0"/>
          </a:p>
        </p:txBody>
      </p:sp>
      <p:sp>
        <p:nvSpPr>
          <p:cNvPr id="8" name="Text 6"/>
          <p:cNvSpPr/>
          <p:nvPr/>
        </p:nvSpPr>
        <p:spPr>
          <a:xfrm>
            <a:off x="1097280" y="1682496"/>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Roughly a week of resource time that existed nowhere.</a:t>
            </a:r>
            <a:endParaRPr lang="en-US" sz="1150" dirty="0"/>
          </a:p>
        </p:txBody>
      </p:sp>
      <p:sp>
        <p:nvSpPr>
          <p:cNvPr id="9" name="Text 7"/>
          <p:cNvSpPr/>
          <p:nvPr/>
        </p:nvSpPr>
        <p:spPr>
          <a:xfrm>
            <a:off x="640080" y="2267712"/>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097280" y="2231136"/>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The split starves Fleet Monitor of real data until 2 Oct</a:t>
            </a:r>
            <a:endParaRPr lang="en-US" sz="1300" dirty="0"/>
          </a:p>
        </p:txBody>
      </p:sp>
      <p:sp>
        <p:nvSpPr>
          <p:cNvPr id="11" name="Text 9"/>
          <p:cNvSpPr/>
          <p:nvPr/>
        </p:nvSpPr>
        <p:spPr>
          <a:xfrm>
            <a:off x="1097280" y="2542032"/>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First contact with real cell data is the week before the demo.</a:t>
            </a:r>
            <a:endParaRPr lang="en-US" sz="1150" dirty="0"/>
          </a:p>
        </p:txBody>
      </p:sp>
      <p:sp>
        <p:nvSpPr>
          <p:cNvPr id="12" name="Text 10"/>
          <p:cNvSpPr/>
          <p:nvPr/>
        </p:nvSpPr>
        <p:spPr>
          <a:xfrm>
            <a:off x="640080" y="3127248"/>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3</a:t>
            </a:r>
            <a:endParaRPr lang="en-US" sz="1800" dirty="0"/>
          </a:p>
        </p:txBody>
      </p:sp>
      <p:sp>
        <p:nvSpPr>
          <p:cNvPr id="13" name="Text 11"/>
          <p:cNvSpPr/>
          <p:nvPr/>
        </p:nvSpPr>
        <p:spPr>
          <a:xfrm>
            <a:off x="1097280" y="3090672"/>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The rehearsal window halves</a:t>
            </a:r>
            <a:endParaRPr lang="en-US" sz="1300" dirty="0"/>
          </a:p>
        </p:txBody>
      </p:sp>
      <p:sp>
        <p:nvSpPr>
          <p:cNvPr id="14" name="Text 12"/>
          <p:cNvSpPr/>
          <p:nvPr/>
        </p:nvSpPr>
        <p:spPr>
          <a:xfrm>
            <a:off x="1097280" y="3401568"/>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Two weeks becomes one — the same week as that integration.</a:t>
            </a:r>
            <a:endParaRPr lang="en-US" sz="1150" dirty="0"/>
          </a:p>
        </p:txBody>
      </p:sp>
      <p:sp>
        <p:nvSpPr>
          <p:cNvPr id="15" name="Text 13"/>
          <p:cNvSpPr/>
          <p:nvPr/>
        </p:nvSpPr>
        <p:spPr>
          <a:xfrm>
            <a:off x="640080" y="3986784"/>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4</a:t>
            </a:r>
            <a:endParaRPr lang="en-US" sz="1800" dirty="0"/>
          </a:p>
        </p:txBody>
      </p:sp>
      <p:sp>
        <p:nvSpPr>
          <p:cNvPr id="16" name="Text 14"/>
          <p:cNvSpPr/>
          <p:nvPr/>
        </p:nvSpPr>
        <p:spPr>
          <a:xfrm>
            <a:off x="1097280" y="3950208"/>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People pinch, 16–25 Sep</a:t>
            </a:r>
            <a:endParaRPr lang="en-US" sz="1300" dirty="0"/>
          </a:p>
        </p:txBody>
      </p:sp>
      <p:sp>
        <p:nvSpPr>
          <p:cNvPr id="17" name="Text 15"/>
          <p:cNvSpPr/>
          <p:nvPr/>
        </p:nvSpPr>
        <p:spPr>
          <a:xfrm>
            <a:off x="1097280" y="4261104"/>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2.5 person-weeks needed against 2.4 available.</a:t>
            </a:r>
            <a:endParaRPr lang="en-US" sz="1150" dirty="0"/>
          </a:p>
        </p:txBody>
      </p:sp>
      <p:sp>
        <p:nvSpPr>
          <p:cNvPr id="18" name="Text 16"/>
          <p:cNvSpPr/>
          <p:nvPr/>
        </p:nvSpPr>
        <p:spPr>
          <a:xfrm>
            <a:off x="640080" y="4846320"/>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5</a:t>
            </a:r>
            <a:endParaRPr lang="en-US" sz="1800" dirty="0"/>
          </a:p>
        </p:txBody>
      </p:sp>
      <p:sp>
        <p:nvSpPr>
          <p:cNvPr id="19" name="Text 17"/>
          <p:cNvSpPr/>
          <p:nvPr/>
        </p:nvSpPr>
        <p:spPr>
          <a:xfrm>
            <a:off x="1097280" y="4809744"/>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Plan A's robotics chain has one day of float</a:t>
            </a:r>
            <a:endParaRPr lang="en-US" sz="1300" dirty="0"/>
          </a:p>
        </p:txBody>
      </p:sp>
      <p:sp>
        <p:nvSpPr>
          <p:cNvPr id="20" name="Text 18"/>
          <p:cNvSpPr/>
          <p:nvPr/>
        </p:nvSpPr>
        <p:spPr>
          <a:xfrm>
            <a:off x="1097280" y="5120640"/>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15 working days of serial work in 16. The smallest overrun in the backlog history is 13%.</a:t>
            </a:r>
            <a:endParaRPr lang="en-US" sz="1150" dirty="0"/>
          </a:p>
        </p:txBody>
      </p:sp>
      <p:sp>
        <p:nvSpPr>
          <p:cNvPr id="21" name="Text 19"/>
          <p:cNvSpPr/>
          <p:nvPr/>
        </p:nvSpPr>
        <p:spPr>
          <a:xfrm>
            <a:off x="640080" y="5760720"/>
            <a:ext cx="10881360" cy="310896"/>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Capacity was never the problem — ~12.1 person-weeks available against ~4.9 of work. Everything above is ordering.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What is wrong with the event stream</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Evidence from cell-events.jsonl — 29 events, March trials.</a:t>
            </a:r>
            <a:endParaRPr lang="en-US" sz="1300" dirty="0"/>
          </a:p>
        </p:txBody>
      </p:sp>
      <p:sp>
        <p:nvSpPr>
          <p:cNvPr id="6" name="Text 4"/>
          <p:cNvSpPr/>
          <p:nvPr/>
        </p:nvSpPr>
        <p:spPr>
          <a:xfrm>
            <a:off x="640080" y="13716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No unique event identifier</a:t>
            </a:r>
            <a:endParaRPr lang="en-US" sz="1300" dirty="0"/>
          </a:p>
        </p:txBody>
      </p:sp>
      <p:sp>
        <p:nvSpPr>
          <p:cNvPr id="7" name="Text 5"/>
          <p:cNvSpPr/>
          <p:nvPr/>
        </p:nvSpPr>
        <p:spPr>
          <a:xfrm>
            <a:off x="640080" y="16642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nailing.started for EW-L1-E1 appears twice, 07:14:51 and 07:20:05. Both legitimate — the second follows an e-stop resume. Any content-based dedupe drops a real event.</a:t>
            </a:r>
            <a:endParaRPr lang="en-US" sz="1150" dirty="0"/>
          </a:p>
        </p:txBody>
      </p:sp>
      <p:sp>
        <p:nvSpPr>
          <p:cNvPr id="8" name="Text 6"/>
          <p:cNvSpPr/>
          <p:nvPr/>
        </p:nvSpPr>
        <p:spPr>
          <a:xfrm>
            <a:off x="640080" y="22860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No sequence number</a:t>
            </a:r>
            <a:endParaRPr lang="en-US" sz="1300" dirty="0"/>
          </a:p>
        </p:txBody>
      </p:sp>
      <p:sp>
        <p:nvSpPr>
          <p:cNvPr id="9" name="Text 7"/>
          <p:cNvSpPr/>
          <p:nvPr/>
        </p:nvSpPr>
        <p:spPr>
          <a:xfrm>
            <a:off x="640080" y="25786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A gap is undetectable. A quiet cell and a thirty-minute outage look identical. The story asks for "no gaps"; today you cannot observe one.</a:t>
            </a:r>
            <a:endParaRPr lang="en-US" sz="1150" dirty="0"/>
          </a:p>
        </p:txBody>
      </p:sp>
      <p:sp>
        <p:nvSpPr>
          <p:cNvPr id="10" name="Text 8"/>
          <p:cNvSpPr/>
          <p:nvPr/>
        </p:nvSpPr>
        <p:spPr>
          <a:xfrm>
            <a:off x="640080" y="32004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Whole-second timestamps</a:t>
            </a:r>
            <a:endParaRPr lang="en-US" sz="1300" dirty="0"/>
          </a:p>
        </p:txBody>
      </p:sp>
      <p:sp>
        <p:nvSpPr>
          <p:cNvPr id="11" name="Text 9"/>
          <p:cNvSpPr/>
          <p:nvPr/>
        </p:nvSpPr>
        <p:spPr>
          <a:xfrm>
            <a:off x="640080" y="34930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stop.requested 07:15:33 → motion.halted 07:15:34. a3's measurement is capped at 1s, and same-second events are unorderable.</a:t>
            </a:r>
            <a:endParaRPr lang="en-US" sz="1150" dirty="0"/>
          </a:p>
        </p:txBody>
      </p:sp>
      <p:sp>
        <p:nvSpPr>
          <p:cNvPr id="12" name="Text 10"/>
          <p:cNvSpPr/>
          <p:nvPr/>
        </p:nvSpPr>
        <p:spPr>
          <a:xfrm>
            <a:off x="640080" y="41148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No clock authority</a:t>
            </a:r>
            <a:endParaRPr lang="en-US" sz="1300" dirty="0"/>
          </a:p>
        </p:txBody>
      </p:sp>
      <p:sp>
        <p:nvSpPr>
          <p:cNvPr id="13" name="Text 11"/>
          <p:cNvSpPr/>
          <p:nvPr/>
        </p:nvSpPr>
        <p:spPr>
          <a:xfrm>
            <a:off x="640080" y="44074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An NTP step or a reboot mid-outage moves timestamps backwards. Ordering a reconciled buffer by ts is unsafe.</a:t>
            </a:r>
            <a:endParaRPr lang="en-US" sz="1150" dirty="0"/>
          </a:p>
        </p:txBody>
      </p:sp>
      <p:sp>
        <p:nvSpPr>
          <p:cNvPr id="14" name="Text 12"/>
          <p:cNvSpPr/>
          <p:nvPr/>
        </p:nvSpPr>
        <p:spPr>
          <a:xfrm>
            <a:off x="640080" y="50292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run.paused is overloaded</a:t>
            </a:r>
            <a:endParaRPr lang="en-US" sz="1300" dirty="0"/>
          </a:p>
        </p:txBody>
      </p:sp>
      <p:sp>
        <p:nvSpPr>
          <p:cNvPr id="15" name="Text 13"/>
          <p:cNvSpPr/>
          <p:nvPr/>
        </p:nvSpPr>
        <p:spPr>
          <a:xfrm>
            <a:off x="640080" y="53218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reason "estop" and reason "material_reload" share one event type. An audit log must distinguish safety from routine.</a:t>
            </a:r>
            <a:endParaRPr lang="en-US" sz="1150" dirty="0"/>
          </a:p>
        </p:txBody>
      </p:sp>
      <p:sp>
        <p:nvSpPr>
          <p:cNvPr id="16" name="Text 14"/>
          <p:cNvSpPr/>
          <p:nvPr/>
        </p:nvSpPr>
        <p:spPr>
          <a:xfrm>
            <a:off x="640080" y="6035040"/>
            <a:ext cx="10881360" cy="512064"/>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Required envelope: eventId · seq · bootId · millisecond ts · monotonicUs · class. Plus at-least-once delivery with idempotent receive. Buffer sizing is trivial once the schema is right — the difficulty was never volume.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3311</Words>
  <Application>Microsoft Macintosh PowerPoint</Application>
  <PresentationFormat>Widescreen</PresentationFormat>
  <Paragraphs>439</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AUAR — Delivery plan, decisions, and two build slices</dc:title>
  <dc:subject>PptxGenJS Presentation</dc:subject>
  <dc:creator>Software Engineering Lead</dc:creator>
  <cp:lastModifiedBy>Chris Tanseer</cp:lastModifiedBy>
  <cp:revision>3</cp:revision>
  <dcterms:created xsi:type="dcterms:W3CDTF">2026-08-25T17:54:48Z</dcterms:created>
  <dcterms:modified xsi:type="dcterms:W3CDTF">2026-08-25T21:06:32Z</dcterms:modified>
</cp:coreProperties>
</file>