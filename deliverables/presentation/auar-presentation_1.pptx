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398"/>
    <p:restoredTop sz="97023"/>
  </p:normalViewPr>
  <p:slideViewPr>
    <p:cSldViewPr snapToGrid="0" snapToObjects="1">
      <p:cViewPr varScale="1">
        <p:scale>
          <a:sx n="153" d="100"/>
          <a:sy n="153" d="100"/>
        </p:scale>
        <p:origin x="168" y="32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555722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 have read the repo. Do not walk through the plan. Open by naming what the session is for: the contestable calls. The three numbers are the whole story in miniature.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read this slide out. Give them fifteen seconds to re-orient, say the one line about the ten-minute path, and move on. Its real job is to be the slide you flip back to when someone asks where something lives.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finding is not that either chain is long. It is that nobody had traced either one end to end, and they meet at the cell re-test. Note the float on the software chain — that is why a2 is not, in the end, the binding constraint.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recommendation reversed after the resource pass. Originally I recommended Plan A if the split worked. Drawing the robotics resources showed Plan A starves Fleet Monitor of real data until 2 October. Say that the recommendation changed — a plan that corrects itself is more credible than one that arrived perfect.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cut has a number from the supplied data, not a judgement. The adjacency one is the sharpest: over-flagging is correct for a safety system and wrong for a cost-reduction tool, because over-flagging is the failure mode the feature was funded to prevent.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IW-L1-01 detail is worth having ready: its height changed 2700 to 2750 but weightKg stayed at 85, while every other resized panel had weight recalculated. Someone edited by hand. Nobody asked for that check; it falls out of the diff for free.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 6, the run-state machine, was the closest runner-up. Rejected because its central question — what a remote stop does to a half-made panel — is already answered by the sample stream: the cell stops mid-panel and resumes from_panel_start. It costs one panel.</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A2 is the one to volunteer. It is the assumption the entire firmware split rests on, and it is answerable with a phone call to the inspector rather than a design decision by me.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this slide is that the plan does not stall waiting for answers. Six things start immediately, and the two questions that select the plan are answered inside week one.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rush this slide. Naming your own weak points frames them; leaving them costs you the framing. The firmware split is genuinely the most exposed thing in the plan and saying so first is the strongest move available.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plainly that these are real questions, not rhetorical ones. If they push on the two-slices point, the honest answer is that slice 2 exists to settle the previousSpec disagreement with a passing test rather than an argument.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present these. This slide exists so you can say 'that is in appendix C' and get there in one move.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1F26"/>
        </a:solidFill>
        <a:effectLst/>
      </p:bgPr>
    </p:bg>
    <p:spTree>
      <p:nvGrpSpPr>
        <p:cNvPr id="1" name=""/>
        <p:cNvGrpSpPr/>
        <p:nvPr/>
      </p:nvGrpSpPr>
      <p:grpSpPr>
        <a:xfrm>
          <a:off x="0" y="0"/>
          <a:ext cx="0" cy="0"/>
          <a:chOff x="0" y="0"/>
          <a:chExt cx="0" cy="0"/>
        </a:xfrm>
      </p:grpSpPr>
      <p:sp>
        <p:nvSpPr>
          <p:cNvPr id="2" name="Text 0"/>
          <p:cNvSpPr/>
          <p:nvPr/>
        </p:nvSpPr>
        <p:spPr>
          <a:xfrm>
            <a:off x="640080" y="685800"/>
            <a:ext cx="10881360" cy="365760"/>
          </a:xfrm>
          <a:prstGeom prst="rect">
            <a:avLst/>
          </a:prstGeom>
          <a:noFill/>
          <a:ln/>
        </p:spPr>
        <p:txBody>
          <a:bodyPr wrap="square" lIns="0" tIns="0" rIns="0" bIns="0" rtlCol="0" anchor="ctr"/>
          <a:lstStyle/>
          <a:p>
            <a:pPr marL="0" indent="0">
              <a:buNone/>
            </a:pPr>
            <a:r>
              <a:rPr lang="en-US" sz="1500" b="1" kern="0" spc="300" dirty="0">
                <a:solidFill>
                  <a:srgbClr val="B8621B"/>
                </a:solidFill>
                <a:latin typeface="Calibri" pitchFamily="34" charset="0"/>
                <a:ea typeface="Calibri" pitchFamily="34" charset="-122"/>
                <a:cs typeface="Calibri" pitchFamily="34" charset="-120"/>
              </a:rPr>
              <a:t>AUAR</a:t>
            </a:r>
            <a:endParaRPr lang="en-US" sz="1500" dirty="0"/>
          </a:p>
        </p:txBody>
      </p:sp>
      <p:sp>
        <p:nvSpPr>
          <p:cNvPr id="3" name="Text 1"/>
          <p:cNvSpPr/>
          <p:nvPr/>
        </p:nvSpPr>
        <p:spPr>
          <a:xfrm>
            <a:off x="640080" y="1051560"/>
            <a:ext cx="10881360" cy="411480"/>
          </a:xfrm>
          <a:prstGeom prst="rect">
            <a:avLst/>
          </a:prstGeom>
          <a:noFill/>
          <a:ln/>
        </p:spPr>
        <p:txBody>
          <a:bodyPr wrap="square" lIns="0" tIns="0" rIns="0" bIns="0" rtlCol="0" anchor="ctr"/>
          <a:lstStyle/>
          <a:p>
            <a:pPr marL="0" indent="0">
              <a:buNone/>
            </a:pPr>
            <a:r>
              <a:rPr lang="en-US" sz="1600" dirty="0">
                <a:solidFill>
                  <a:srgbClr val="A8B0BC"/>
                </a:solidFill>
                <a:latin typeface="Calibri" pitchFamily="34" charset="0"/>
                <a:ea typeface="Calibri" pitchFamily="34" charset="-122"/>
                <a:cs typeface="Calibri" pitchFamily="34" charset="-120"/>
              </a:rPr>
              <a:t>Software Engineering Lead</a:t>
            </a:r>
            <a:endParaRPr lang="en-US" sz="1600" dirty="0"/>
          </a:p>
        </p:txBody>
      </p:sp>
      <p:sp>
        <p:nvSpPr>
          <p:cNvPr id="4" name="Text 2"/>
          <p:cNvSpPr/>
          <p:nvPr/>
        </p:nvSpPr>
        <p:spPr>
          <a:xfrm>
            <a:off x="640080" y="1828800"/>
            <a:ext cx="10424160" cy="68580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Both features demo on 12 October.</a:t>
            </a:r>
            <a:endParaRPr lang="en-US" sz="4000" dirty="0"/>
          </a:p>
        </p:txBody>
      </p:sp>
      <p:sp>
        <p:nvSpPr>
          <p:cNvPr id="5" name="Text 3"/>
          <p:cNvSpPr/>
          <p:nvPr/>
        </p:nvSpPr>
        <p:spPr>
          <a:xfrm>
            <a:off x="640080" y="2542032"/>
            <a:ext cx="10424160" cy="685800"/>
          </a:xfrm>
          <a:prstGeom prst="rect">
            <a:avLst/>
          </a:prstGeom>
          <a:noFill/>
          <a:ln/>
        </p:spPr>
        <p:txBody>
          <a:bodyPr wrap="square" lIns="0" tIns="0" rIns="0" bIns="0" rtlCol="0" anchor="ctr"/>
          <a:lstStyle/>
          <a:p>
            <a:pPr marL="0" indent="0">
              <a:buNone/>
            </a:pPr>
            <a:r>
              <a:rPr lang="en-US" sz="4000" b="1" dirty="0">
                <a:solidFill>
                  <a:srgbClr val="B8621B"/>
                </a:solidFill>
                <a:latin typeface="Cambria" pitchFamily="34" charset="0"/>
                <a:ea typeface="Cambria" pitchFamily="34" charset="-122"/>
                <a:cs typeface="Cambria" pitchFamily="34" charset="-120"/>
              </a:rPr>
              <a:t>Risk: an unsupervised demo.</a:t>
            </a:r>
            <a:endParaRPr lang="en-US" sz="4000" dirty="0"/>
          </a:p>
        </p:txBody>
      </p:sp>
      <p:sp>
        <p:nvSpPr>
          <p:cNvPr id="6" name="Text 4"/>
          <p:cNvSpPr/>
          <p:nvPr/>
        </p:nvSpPr>
        <p:spPr>
          <a:xfrm>
            <a:off x="640080" y="3886200"/>
            <a:ext cx="10424160" cy="329184"/>
          </a:xfrm>
          <a:prstGeom prst="rect">
            <a:avLst/>
          </a:prstGeom>
          <a:noFill/>
          <a:ln/>
        </p:spPr>
        <p:txBody>
          <a:bodyPr wrap="square" lIns="0" tIns="0" rIns="0" bIns="0" rtlCol="0" anchor="ctr"/>
          <a:lstStyle/>
          <a:p>
            <a:pPr marL="0" indent="0">
              <a:buNone/>
            </a:pPr>
            <a:r>
              <a:rPr lang="en-US" sz="1500" dirty="0">
                <a:solidFill>
                  <a:srgbClr val="A8B0BC"/>
                </a:solidFill>
                <a:latin typeface="Calibri" pitchFamily="34" charset="0"/>
                <a:ea typeface="Calibri" pitchFamily="34" charset="-122"/>
                <a:cs typeface="Calibri" pitchFamily="34" charset="-120"/>
              </a:rPr>
              <a:t>Delivery plan · two build slices · the reasoning behind both</a:t>
            </a:r>
            <a:endParaRPr lang="en-US" sz="1500" dirty="0"/>
          </a:p>
        </p:txBody>
      </p:sp>
      <p:sp>
        <p:nvSpPr>
          <p:cNvPr id="7" name="Text 5"/>
          <p:cNvSpPr/>
          <p:nvPr/>
        </p:nvSpPr>
        <p:spPr>
          <a:xfrm>
            <a:off x="640080" y="4261104"/>
            <a:ext cx="10424160" cy="329184"/>
          </a:xfrm>
          <a:prstGeom prst="rect">
            <a:avLst/>
          </a:prstGeom>
          <a:noFill/>
          <a:ln/>
        </p:spPr>
        <p:txBody>
          <a:bodyPr wrap="square" lIns="0" tIns="0" rIns="0" bIns="0" rtlCol="0" anchor="ctr"/>
          <a:lstStyle/>
          <a:p>
            <a:pPr marL="0" indent="0">
              <a:buNone/>
            </a:pPr>
            <a:r>
              <a:rPr lang="en-US" sz="1500" i="1" dirty="0">
                <a:solidFill>
                  <a:srgbClr val="6E7A8A"/>
                </a:solidFill>
                <a:latin typeface="Calibri" pitchFamily="34" charset="0"/>
                <a:ea typeface="Calibri" pitchFamily="34" charset="-122"/>
                <a:cs typeface="Calibri" pitchFamily="34" charset="-120"/>
              </a:rPr>
              <a:t>You have read the repository. This session is for the calls that are contestable.</a:t>
            </a:r>
            <a:endParaRPr lang="en-US" sz="1500" dirty="0"/>
          </a:p>
        </p:txBody>
      </p:sp>
      <p:sp>
        <p:nvSpPr>
          <p:cNvPr id="8" name="Text 6"/>
          <p:cNvSpPr/>
          <p:nvPr/>
        </p:nvSpPr>
        <p:spPr>
          <a:xfrm>
            <a:off x="640080" y="4983480"/>
            <a:ext cx="3383280" cy="603504"/>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24</a:t>
            </a:r>
            <a:endParaRPr lang="en-US" sz="4000" dirty="0"/>
          </a:p>
        </p:txBody>
      </p:sp>
      <p:sp>
        <p:nvSpPr>
          <p:cNvPr id="9" name="Text 7"/>
          <p:cNvSpPr/>
          <p:nvPr/>
        </p:nvSpPr>
        <p:spPr>
          <a:xfrm>
            <a:off x="640080" y="5596128"/>
            <a:ext cx="3200400" cy="658368"/>
          </a:xfrm>
          <a:prstGeom prst="rect">
            <a:avLst/>
          </a:prstGeom>
          <a:noFill/>
          <a:ln/>
        </p:spPr>
        <p:txBody>
          <a:bodyPr wrap="square" lIns="0" tIns="0" rIns="0" bIns="0" rtlCol="0" anchor="t"/>
          <a:lstStyle/>
          <a:p>
            <a:pPr marL="0" indent="0">
              <a:buNone/>
            </a:pPr>
            <a:r>
              <a:rPr lang="en-US" sz="1200" dirty="0">
                <a:solidFill>
                  <a:srgbClr val="8892A0"/>
                </a:solidFill>
                <a:latin typeface="Calibri" pitchFamily="34" charset="0"/>
                <a:ea typeface="Calibri" pitchFamily="34" charset="-122"/>
                <a:cs typeface="Calibri" pitchFamily="34" charset="-120"/>
              </a:rPr>
              <a:t>working days of pure sequence to an unsupervised demo</a:t>
            </a:r>
            <a:endParaRPr lang="en-US" sz="1200" dirty="0"/>
          </a:p>
        </p:txBody>
      </p:sp>
      <p:sp>
        <p:nvSpPr>
          <p:cNvPr id="10" name="Text 8"/>
          <p:cNvSpPr/>
          <p:nvPr/>
        </p:nvSpPr>
        <p:spPr>
          <a:xfrm>
            <a:off x="4251960" y="4983480"/>
            <a:ext cx="3383280" cy="603504"/>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49%</a:t>
            </a:r>
            <a:endParaRPr lang="en-US" sz="4000" dirty="0"/>
          </a:p>
        </p:txBody>
      </p:sp>
      <p:sp>
        <p:nvSpPr>
          <p:cNvPr id="11" name="Text 9"/>
          <p:cNvSpPr/>
          <p:nvPr/>
        </p:nvSpPr>
        <p:spPr>
          <a:xfrm>
            <a:off x="4251960" y="5596128"/>
            <a:ext cx="3200400" cy="658368"/>
          </a:xfrm>
          <a:prstGeom prst="rect">
            <a:avLst/>
          </a:prstGeom>
          <a:noFill/>
          <a:ln/>
        </p:spPr>
        <p:txBody>
          <a:bodyPr wrap="square" lIns="0" tIns="0" rIns="0" bIns="0" rtlCol="0" anchor="t"/>
          <a:lstStyle/>
          <a:p>
            <a:pPr marL="0" indent="0">
              <a:buNone/>
            </a:pPr>
            <a:r>
              <a:rPr lang="en-US" sz="1200" dirty="0">
                <a:solidFill>
                  <a:srgbClr val="8892A0"/>
                </a:solidFill>
                <a:latin typeface="Calibri" pitchFamily="34" charset="0"/>
                <a:ea typeface="Calibri" pitchFamily="34" charset="-122"/>
                <a:cs typeface="Calibri" pitchFamily="34" charset="-120"/>
              </a:rPr>
              <a:t>over capacity as handed over, before anything goes wrong</a:t>
            </a:r>
            <a:endParaRPr lang="en-US" sz="1200" dirty="0"/>
          </a:p>
        </p:txBody>
      </p:sp>
      <p:sp>
        <p:nvSpPr>
          <p:cNvPr id="12" name="Text 10"/>
          <p:cNvSpPr/>
          <p:nvPr/>
        </p:nvSpPr>
        <p:spPr>
          <a:xfrm>
            <a:off x="7863840" y="4983480"/>
            <a:ext cx="3383280" cy="603504"/>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13" name="Text 11"/>
          <p:cNvSpPr/>
          <p:nvPr/>
        </p:nvSpPr>
        <p:spPr>
          <a:xfrm>
            <a:off x="7863840" y="5596128"/>
            <a:ext cx="3200400" cy="658368"/>
          </a:xfrm>
          <a:prstGeom prst="rect">
            <a:avLst/>
          </a:prstGeom>
          <a:noFill/>
          <a:ln/>
        </p:spPr>
        <p:txBody>
          <a:bodyPr wrap="square" lIns="0" tIns="0" rIns="0" bIns="0" rtlCol="0" anchor="t"/>
          <a:lstStyle/>
          <a:p>
            <a:pPr marL="0" indent="0">
              <a:buNone/>
            </a:pPr>
            <a:r>
              <a:rPr lang="en-US" sz="1200" dirty="0">
                <a:solidFill>
                  <a:srgbClr val="8892A0"/>
                </a:solidFill>
                <a:latin typeface="Calibri" pitchFamily="34" charset="0"/>
                <a:ea typeface="Calibri" pitchFamily="34" charset="-122"/>
                <a:cs typeface="Calibri" pitchFamily="34" charset="-120"/>
              </a:rPr>
              <a:t>question in week one decides the shape of the plan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8F5"/>
        </a:solidFill>
        <a:effectLst/>
      </p:bgPr>
    </p:bg>
    <p:spTree>
      <p:nvGrpSpPr>
        <p:cNvPr id="1" name=""/>
        <p:cNvGrpSpPr/>
        <p:nvPr/>
      </p:nvGrpSpPr>
      <p:grpSpPr>
        <a:xfrm>
          <a:off x="0" y="0"/>
          <a:ext cx="0" cy="0"/>
          <a:chOff x="0" y="0"/>
          <a:chExt cx="0" cy="0"/>
        </a:xfrm>
      </p:grpSpPr>
      <p:sp>
        <p:nvSpPr>
          <p:cNvPr id="2" name="Text 0"/>
          <p:cNvSpPr/>
          <p:nvPr/>
        </p:nvSpPr>
        <p:spPr>
          <a:xfrm>
            <a:off x="640080" y="329184"/>
            <a:ext cx="10881360" cy="530352"/>
          </a:xfrm>
          <a:prstGeom prst="rect">
            <a:avLst/>
          </a:prstGeom>
          <a:noFill/>
          <a:ln/>
        </p:spPr>
        <p:txBody>
          <a:bodyPr wrap="square" lIns="0" tIns="0" rIns="0" bIns="0" rtlCol="0" anchor="ctr"/>
          <a:lstStyle/>
          <a:p>
            <a:pPr marL="0" indent="0">
              <a:buNone/>
            </a:pPr>
            <a:r>
              <a:rPr lang="en-US" sz="3000" b="1" dirty="0">
                <a:solidFill>
                  <a:srgbClr val="1C1F26"/>
                </a:solidFill>
                <a:latin typeface="Cambria" pitchFamily="34" charset="0"/>
                <a:ea typeface="Cambria" pitchFamily="34" charset="-122"/>
                <a:cs typeface="Cambria" pitchFamily="34" charset="-120"/>
              </a:rPr>
              <a:t>A Quick Recap</a:t>
            </a:r>
            <a:endParaRPr lang="en-US" sz="3000" dirty="0"/>
          </a:p>
        </p:txBody>
      </p:sp>
      <p:sp>
        <p:nvSpPr>
          <p:cNvPr id="3" name="Text 1"/>
          <p:cNvSpPr/>
          <p:nvPr/>
        </p:nvSpPr>
        <p:spPr>
          <a:xfrm>
            <a:off x="640080" y="969264"/>
            <a:ext cx="10881360" cy="310896"/>
          </a:xfrm>
          <a:prstGeom prst="rect">
            <a:avLst/>
          </a:prstGeom>
          <a:noFill/>
          <a:ln/>
        </p:spPr>
        <p:txBody>
          <a:bodyPr wrap="square" lIns="0" tIns="0" rIns="0" bIns="0" rtlCol="0" anchor="ctr"/>
          <a:lstStyle/>
          <a:p>
            <a:pPr marL="0" indent="0">
              <a:buNone/>
            </a:pPr>
            <a:endParaRPr lang="en-US" sz="1400" dirty="0"/>
          </a:p>
        </p:txBody>
      </p:sp>
      <p:sp>
        <p:nvSpPr>
          <p:cNvPr id="4" name="Text 2"/>
          <p:cNvSpPr/>
          <p:nvPr/>
        </p:nvSpPr>
        <p:spPr>
          <a:xfrm>
            <a:off x="640080" y="1463040"/>
            <a:ext cx="384048" cy="347472"/>
          </a:xfrm>
          <a:prstGeom prst="rect">
            <a:avLst/>
          </a:prstGeom>
          <a:noFill/>
          <a:ln/>
        </p:spPr>
        <p:txBody>
          <a:bodyPr wrap="square" lIns="0" tIns="0" rIns="0" bIns="0" rtlCol="0" anchor="ctr"/>
          <a:lstStyle/>
          <a:p>
            <a:pPr marL="0" indent="0">
              <a:buNone/>
            </a:pPr>
            <a:r>
              <a:rPr lang="en-US" sz="2000" b="1" dirty="0">
                <a:solidFill>
                  <a:srgbClr val="B8621B"/>
                </a:solidFill>
                <a:latin typeface="Cambria" pitchFamily="34" charset="0"/>
                <a:ea typeface="Cambria" pitchFamily="34" charset="-122"/>
                <a:cs typeface="Cambria" pitchFamily="34" charset="-120"/>
              </a:rPr>
              <a:t>1</a:t>
            </a:r>
            <a:endParaRPr lang="en-US" sz="2000" dirty="0"/>
          </a:p>
        </p:txBody>
      </p:sp>
      <p:sp>
        <p:nvSpPr>
          <p:cNvPr id="5" name="Text 3"/>
          <p:cNvSpPr/>
          <p:nvPr/>
        </p:nvSpPr>
        <p:spPr>
          <a:xfrm>
            <a:off x="1097280" y="1444752"/>
            <a:ext cx="6858000" cy="292608"/>
          </a:xfrm>
          <a:prstGeom prst="rect">
            <a:avLst/>
          </a:prstGeom>
          <a:noFill/>
          <a:ln/>
        </p:spPr>
        <p:txBody>
          <a:bodyPr wrap="square" lIns="0" tIns="0" rIns="0" bIns="0" rtlCol="0" anchor="ctr"/>
          <a:lstStyle/>
          <a:p>
            <a:pPr marL="0" indent="0">
              <a:buNone/>
            </a:pPr>
            <a:r>
              <a:rPr lang="en-US" sz="1350" b="1" dirty="0">
                <a:solidFill>
                  <a:srgbClr val="1C1F26"/>
                </a:solidFill>
                <a:latin typeface="Calibri" pitchFamily="34" charset="0"/>
                <a:ea typeface="Calibri" pitchFamily="34" charset="-122"/>
                <a:cs typeface="Calibri" pitchFamily="34" charset="-120"/>
              </a:rPr>
              <a:t>The critical path was not where anyone was looking</a:t>
            </a:r>
            <a:endParaRPr lang="en-US" sz="1350" dirty="0"/>
          </a:p>
        </p:txBody>
      </p:sp>
      <p:sp>
        <p:nvSpPr>
          <p:cNvPr id="6" name="Text 4"/>
          <p:cNvSpPr/>
          <p:nvPr/>
        </p:nvSpPr>
        <p:spPr>
          <a:xfrm>
            <a:off x="1097280" y="1755648"/>
            <a:ext cx="6858000" cy="384048"/>
          </a:xfrm>
          <a:prstGeom prst="rect">
            <a:avLst/>
          </a:prstGeom>
          <a:noFill/>
          <a:ln/>
        </p:spPr>
        <p:txBody>
          <a:bodyPr wrap="square" lIns="0" tIns="0" rIns="0" bIns="0" rtlCol="0" anchor="ctr"/>
          <a:lstStyle/>
          <a:p>
            <a:pPr marL="0" indent="0">
              <a:buNone/>
            </a:pPr>
            <a:r>
              <a:rPr lang="en-US" sz="1100" dirty="0">
                <a:solidFill>
                  <a:srgbClr val="6E7781"/>
                </a:solidFill>
                <a:latin typeface="Calibri" pitchFamily="34" charset="0"/>
                <a:ea typeface="Calibri" pitchFamily="34" charset="-122"/>
                <a:cs typeface="Calibri" pitchFamily="34" charset="-120"/>
              </a:rPr>
              <a:t>Two chains converge on the cell re-test. The CTO dismissed one; Chris under-stated the other by a week in his own email.</a:t>
            </a:r>
            <a:endParaRPr lang="en-US" sz="1100" dirty="0"/>
          </a:p>
        </p:txBody>
      </p:sp>
      <p:sp>
        <p:nvSpPr>
          <p:cNvPr id="7" name="Text 5"/>
          <p:cNvSpPr/>
          <p:nvPr/>
        </p:nvSpPr>
        <p:spPr>
          <a:xfrm>
            <a:off x="1097280" y="2139696"/>
            <a:ext cx="6858000" cy="219456"/>
          </a:xfrm>
          <a:prstGeom prst="rect">
            <a:avLst/>
          </a:prstGeom>
          <a:noFill/>
          <a:ln/>
        </p:spPr>
        <p:txBody>
          <a:bodyPr wrap="square" lIns="0" tIns="0" rIns="0" bIns="0" rtlCol="0" anchor="ctr"/>
          <a:lstStyle/>
          <a:p>
            <a:pPr marL="0" indent="0">
              <a:buNone/>
            </a:pPr>
            <a:r>
              <a:rPr lang="en-US" sz="900" dirty="0">
                <a:solidFill>
                  <a:srgbClr val="B8621B"/>
                </a:solidFill>
                <a:latin typeface="Courier New" pitchFamily="34" charset="0"/>
                <a:ea typeface="Courier New" pitchFamily="34" charset="-122"/>
                <a:cs typeface="Courier New" pitchFamily="34" charset="-120"/>
              </a:rPr>
              <a:t>01-delivery-plan.md</a:t>
            </a:r>
            <a:endParaRPr lang="en-US" sz="900" dirty="0"/>
          </a:p>
        </p:txBody>
      </p:sp>
      <p:sp>
        <p:nvSpPr>
          <p:cNvPr id="8" name="Text 6"/>
          <p:cNvSpPr/>
          <p:nvPr/>
        </p:nvSpPr>
        <p:spPr>
          <a:xfrm>
            <a:off x="640080" y="2432304"/>
            <a:ext cx="384048" cy="347472"/>
          </a:xfrm>
          <a:prstGeom prst="rect">
            <a:avLst/>
          </a:prstGeom>
          <a:noFill/>
          <a:ln/>
        </p:spPr>
        <p:txBody>
          <a:bodyPr wrap="square" lIns="0" tIns="0" rIns="0" bIns="0" rtlCol="0" anchor="ctr"/>
          <a:lstStyle/>
          <a:p>
            <a:pPr marL="0" indent="0">
              <a:buNone/>
            </a:pPr>
            <a:r>
              <a:rPr lang="en-US" sz="2000" b="1" dirty="0">
                <a:solidFill>
                  <a:srgbClr val="B8621B"/>
                </a:solidFill>
                <a:latin typeface="Cambria" pitchFamily="34" charset="0"/>
                <a:ea typeface="Cambria" pitchFamily="34" charset="-122"/>
                <a:cs typeface="Cambria" pitchFamily="34" charset="-120"/>
              </a:rPr>
              <a:t>2</a:t>
            </a:r>
            <a:endParaRPr lang="en-US" sz="2000" dirty="0"/>
          </a:p>
        </p:txBody>
      </p:sp>
      <p:sp>
        <p:nvSpPr>
          <p:cNvPr id="9" name="Text 7"/>
          <p:cNvSpPr/>
          <p:nvPr/>
        </p:nvSpPr>
        <p:spPr>
          <a:xfrm>
            <a:off x="1097280" y="2414016"/>
            <a:ext cx="6858000" cy="292608"/>
          </a:xfrm>
          <a:prstGeom prst="rect">
            <a:avLst/>
          </a:prstGeom>
          <a:noFill/>
          <a:ln/>
        </p:spPr>
        <p:txBody>
          <a:bodyPr wrap="square" lIns="0" tIns="0" rIns="0" bIns="0" rtlCol="0" anchor="ctr"/>
          <a:lstStyle/>
          <a:p>
            <a:pPr marL="0" indent="0">
              <a:buNone/>
            </a:pPr>
            <a:r>
              <a:rPr lang="en-US" sz="1350" b="1" dirty="0">
                <a:solidFill>
                  <a:srgbClr val="1C1F26"/>
                </a:solidFill>
                <a:latin typeface="Calibri" pitchFamily="34" charset="0"/>
                <a:ea typeface="Calibri" pitchFamily="34" charset="-122"/>
                <a:cs typeface="Calibri" pitchFamily="34" charset="-120"/>
              </a:rPr>
              <a:t>One question in week one decides the plan's shape</a:t>
            </a:r>
            <a:endParaRPr lang="en-US" sz="1350" dirty="0"/>
          </a:p>
        </p:txBody>
      </p:sp>
      <p:sp>
        <p:nvSpPr>
          <p:cNvPr id="10" name="Text 8"/>
          <p:cNvSpPr/>
          <p:nvPr/>
        </p:nvSpPr>
        <p:spPr>
          <a:xfrm>
            <a:off x="1097280" y="2724912"/>
            <a:ext cx="6858000" cy="384048"/>
          </a:xfrm>
          <a:prstGeom prst="rect">
            <a:avLst/>
          </a:prstGeom>
          <a:noFill/>
          <a:ln/>
        </p:spPr>
        <p:txBody>
          <a:bodyPr wrap="square" lIns="0" tIns="0" rIns="0" bIns="0" rtlCol="0" anchor="ctr"/>
          <a:lstStyle/>
          <a:p>
            <a:pPr marL="0" indent="0">
              <a:buNone/>
            </a:pPr>
            <a:r>
              <a:rPr lang="en-US" sz="1100" dirty="0">
                <a:solidFill>
                  <a:srgbClr val="6E7781"/>
                </a:solidFill>
                <a:latin typeface="Calibri" pitchFamily="34" charset="0"/>
                <a:ea typeface="Calibri" pitchFamily="34" charset="-122"/>
                <a:cs typeface="Calibri" pitchFamily="34" charset="-120"/>
              </a:rPr>
              <a:t>Can firmware split so the stop path ships before the re-test and observability after? Plan A and Plan B branch from that answer.</a:t>
            </a:r>
            <a:endParaRPr lang="en-US" sz="1100" dirty="0"/>
          </a:p>
        </p:txBody>
      </p:sp>
      <p:sp>
        <p:nvSpPr>
          <p:cNvPr id="11" name="Text 9"/>
          <p:cNvSpPr/>
          <p:nvPr/>
        </p:nvSpPr>
        <p:spPr>
          <a:xfrm>
            <a:off x="1097280" y="3108960"/>
            <a:ext cx="6858000" cy="219456"/>
          </a:xfrm>
          <a:prstGeom prst="rect">
            <a:avLst/>
          </a:prstGeom>
          <a:noFill/>
          <a:ln/>
        </p:spPr>
        <p:txBody>
          <a:bodyPr wrap="square" lIns="0" tIns="0" rIns="0" bIns="0" rtlCol="0" anchor="ctr"/>
          <a:lstStyle/>
          <a:p>
            <a:pPr marL="0" indent="0">
              <a:buNone/>
            </a:pPr>
            <a:r>
              <a:rPr lang="en-US" sz="900" dirty="0">
                <a:solidFill>
                  <a:srgbClr val="B8621B"/>
                </a:solidFill>
                <a:latin typeface="Courier New" pitchFamily="34" charset="0"/>
                <a:ea typeface="Courier New" pitchFamily="34" charset="-122"/>
                <a:cs typeface="Courier New" pitchFamily="34" charset="-120"/>
              </a:rPr>
              <a:t>03-demo-date-branch.md</a:t>
            </a:r>
            <a:endParaRPr lang="en-US" sz="900" dirty="0"/>
          </a:p>
        </p:txBody>
      </p:sp>
      <p:sp>
        <p:nvSpPr>
          <p:cNvPr id="12" name="Text 10"/>
          <p:cNvSpPr/>
          <p:nvPr/>
        </p:nvSpPr>
        <p:spPr>
          <a:xfrm>
            <a:off x="640080" y="3401568"/>
            <a:ext cx="384048" cy="347472"/>
          </a:xfrm>
          <a:prstGeom prst="rect">
            <a:avLst/>
          </a:prstGeom>
          <a:noFill/>
          <a:ln/>
        </p:spPr>
        <p:txBody>
          <a:bodyPr wrap="square" lIns="0" tIns="0" rIns="0" bIns="0" rtlCol="0" anchor="ctr"/>
          <a:lstStyle/>
          <a:p>
            <a:pPr marL="0" indent="0">
              <a:buNone/>
            </a:pPr>
            <a:r>
              <a:rPr lang="en-US" sz="2000" b="1" dirty="0">
                <a:solidFill>
                  <a:srgbClr val="B8621B"/>
                </a:solidFill>
                <a:latin typeface="Cambria" pitchFamily="34" charset="0"/>
                <a:ea typeface="Cambria" pitchFamily="34" charset="-122"/>
                <a:cs typeface="Cambria" pitchFamily="34" charset="-120"/>
              </a:rPr>
              <a:t>3</a:t>
            </a:r>
            <a:endParaRPr lang="en-US" sz="2000" dirty="0"/>
          </a:p>
        </p:txBody>
      </p:sp>
      <p:sp>
        <p:nvSpPr>
          <p:cNvPr id="13" name="Text 11"/>
          <p:cNvSpPr/>
          <p:nvPr/>
        </p:nvSpPr>
        <p:spPr>
          <a:xfrm>
            <a:off x="1097280" y="3383280"/>
            <a:ext cx="6858000" cy="292608"/>
          </a:xfrm>
          <a:prstGeom prst="rect">
            <a:avLst/>
          </a:prstGeom>
          <a:noFill/>
          <a:ln/>
        </p:spPr>
        <p:txBody>
          <a:bodyPr wrap="square" lIns="0" tIns="0" rIns="0" bIns="0" rtlCol="0" anchor="ctr"/>
          <a:lstStyle/>
          <a:p>
            <a:pPr marL="0" indent="0">
              <a:buNone/>
            </a:pPr>
            <a:r>
              <a:rPr lang="en-US" sz="1350" b="1" dirty="0">
                <a:solidFill>
                  <a:srgbClr val="1C1F26"/>
                </a:solidFill>
                <a:latin typeface="Calibri" pitchFamily="34" charset="0"/>
                <a:ea typeface="Calibri" pitchFamily="34" charset="-122"/>
                <a:cs typeface="Calibri" pitchFamily="34" charset="-120"/>
              </a:rPr>
              <a:t>The cuts are arithmetic, not preference</a:t>
            </a:r>
            <a:endParaRPr lang="en-US" sz="1350" dirty="0"/>
          </a:p>
        </p:txBody>
      </p:sp>
      <p:sp>
        <p:nvSpPr>
          <p:cNvPr id="14" name="Text 12"/>
          <p:cNvSpPr/>
          <p:nvPr/>
        </p:nvSpPr>
        <p:spPr>
          <a:xfrm>
            <a:off x="1097280" y="3694176"/>
            <a:ext cx="6858000" cy="384048"/>
          </a:xfrm>
          <a:prstGeom prst="rect">
            <a:avLst/>
          </a:prstGeom>
          <a:noFill/>
          <a:ln/>
        </p:spPr>
        <p:txBody>
          <a:bodyPr wrap="square" lIns="0" tIns="0" rIns="0" bIns="0" rtlCol="0" anchor="ctr"/>
          <a:lstStyle/>
          <a:p>
            <a:pPr marL="0" indent="0">
              <a:buNone/>
            </a:pPr>
            <a:r>
              <a:rPr lang="en-US" sz="1100" dirty="0">
                <a:solidFill>
                  <a:srgbClr val="6E7781"/>
                </a:solidFill>
                <a:latin typeface="Calibri" pitchFamily="34" charset="0"/>
                <a:ea typeface="Calibri" pitchFamily="34" charset="-122"/>
                <a:cs typeface="Calibri" pitchFamily="34" charset="-120"/>
              </a:rPr>
              <a:t>35.6 person-weeks of demand against 23.9. Every cut carries the number from the supplied data that justifies it.</a:t>
            </a:r>
            <a:endParaRPr lang="en-US" sz="1100" dirty="0"/>
          </a:p>
        </p:txBody>
      </p:sp>
      <p:sp>
        <p:nvSpPr>
          <p:cNvPr id="15" name="Text 13"/>
          <p:cNvSpPr/>
          <p:nvPr/>
        </p:nvSpPr>
        <p:spPr>
          <a:xfrm>
            <a:off x="1097280" y="4078224"/>
            <a:ext cx="6858000" cy="219456"/>
          </a:xfrm>
          <a:prstGeom prst="rect">
            <a:avLst/>
          </a:prstGeom>
          <a:noFill/>
          <a:ln/>
        </p:spPr>
        <p:txBody>
          <a:bodyPr wrap="square" lIns="0" tIns="0" rIns="0" bIns="0" rtlCol="0" anchor="ctr"/>
          <a:lstStyle/>
          <a:p>
            <a:pPr marL="0" indent="0">
              <a:buNone/>
            </a:pPr>
            <a:r>
              <a:rPr lang="en-US" sz="900" dirty="0">
                <a:solidFill>
                  <a:srgbClr val="B8621B"/>
                </a:solidFill>
                <a:latin typeface="Courier New" pitchFamily="34" charset="0"/>
                <a:ea typeface="Courier New" pitchFamily="34" charset="-122"/>
                <a:cs typeface="Courier New" pitchFamily="34" charset="-120"/>
              </a:rPr>
              <a:t>01 · 05-estimation-calibration.md</a:t>
            </a:r>
            <a:endParaRPr lang="en-US" sz="900" dirty="0"/>
          </a:p>
        </p:txBody>
      </p:sp>
      <p:sp>
        <p:nvSpPr>
          <p:cNvPr id="16" name="Text 14"/>
          <p:cNvSpPr/>
          <p:nvPr/>
        </p:nvSpPr>
        <p:spPr>
          <a:xfrm>
            <a:off x="640080" y="4370832"/>
            <a:ext cx="384048" cy="347472"/>
          </a:xfrm>
          <a:prstGeom prst="rect">
            <a:avLst/>
          </a:prstGeom>
          <a:noFill/>
          <a:ln/>
        </p:spPr>
        <p:txBody>
          <a:bodyPr wrap="square" lIns="0" tIns="0" rIns="0" bIns="0" rtlCol="0" anchor="ctr"/>
          <a:lstStyle/>
          <a:p>
            <a:pPr marL="0" indent="0">
              <a:buNone/>
            </a:pPr>
            <a:r>
              <a:rPr lang="en-US" sz="2000" b="1" dirty="0">
                <a:solidFill>
                  <a:srgbClr val="B8621B"/>
                </a:solidFill>
                <a:latin typeface="Cambria" pitchFamily="34" charset="0"/>
                <a:ea typeface="Cambria" pitchFamily="34" charset="-122"/>
                <a:cs typeface="Cambria" pitchFamily="34" charset="-120"/>
              </a:rPr>
              <a:t>4</a:t>
            </a:r>
            <a:endParaRPr lang="en-US" sz="2000" dirty="0"/>
          </a:p>
        </p:txBody>
      </p:sp>
      <p:sp>
        <p:nvSpPr>
          <p:cNvPr id="17" name="Text 15"/>
          <p:cNvSpPr/>
          <p:nvPr/>
        </p:nvSpPr>
        <p:spPr>
          <a:xfrm>
            <a:off x="1097280" y="4352544"/>
            <a:ext cx="6858000" cy="292608"/>
          </a:xfrm>
          <a:prstGeom prst="rect">
            <a:avLst/>
          </a:prstGeom>
          <a:noFill/>
          <a:ln/>
        </p:spPr>
        <p:txBody>
          <a:bodyPr wrap="square" lIns="0" tIns="0" rIns="0" bIns="0" rtlCol="0" anchor="ctr"/>
          <a:lstStyle/>
          <a:p>
            <a:pPr marL="0" indent="0">
              <a:buNone/>
            </a:pPr>
            <a:r>
              <a:rPr lang="en-US" sz="1350" b="1" dirty="0">
                <a:solidFill>
                  <a:srgbClr val="1C1F26"/>
                </a:solidFill>
                <a:latin typeface="Calibri" pitchFamily="34" charset="0"/>
                <a:ea typeface="Calibri" pitchFamily="34" charset="-122"/>
                <a:cs typeface="Calibri" pitchFamily="34" charset="-120"/>
              </a:rPr>
              <a:t>Two things added, both from running the fixtures</a:t>
            </a:r>
            <a:endParaRPr lang="en-US" sz="1350" dirty="0"/>
          </a:p>
        </p:txBody>
      </p:sp>
      <p:sp>
        <p:nvSpPr>
          <p:cNvPr id="18" name="Text 16"/>
          <p:cNvSpPr/>
          <p:nvPr/>
        </p:nvSpPr>
        <p:spPr>
          <a:xfrm>
            <a:off x="1097280" y="4663440"/>
            <a:ext cx="6858000" cy="384048"/>
          </a:xfrm>
          <a:prstGeom prst="rect">
            <a:avLst/>
          </a:prstGeom>
          <a:noFill/>
          <a:ln/>
        </p:spPr>
        <p:txBody>
          <a:bodyPr wrap="square" lIns="0" tIns="0" rIns="0" bIns="0" rtlCol="0" anchor="ctr"/>
          <a:lstStyle/>
          <a:p>
            <a:pPr marL="0" indent="0">
              <a:buNone/>
            </a:pPr>
            <a:r>
              <a:rPr lang="en-US" sz="1100" dirty="0">
                <a:solidFill>
                  <a:srgbClr val="6E7781"/>
                </a:solidFill>
                <a:latin typeface="Calibri" pitchFamily="34" charset="0"/>
                <a:ea typeface="Calibri" pitchFamily="34" charset="-122"/>
                <a:cs typeface="Calibri" pitchFamily="34" charset="-120"/>
              </a:rPr>
              <a:t>Cost classification before approval, and the event schema contract nobody wrote. Neither was in the briefs.</a:t>
            </a:r>
            <a:endParaRPr lang="en-US" sz="1100" dirty="0"/>
          </a:p>
        </p:txBody>
      </p:sp>
      <p:sp>
        <p:nvSpPr>
          <p:cNvPr id="19" name="Text 17"/>
          <p:cNvSpPr/>
          <p:nvPr/>
        </p:nvSpPr>
        <p:spPr>
          <a:xfrm>
            <a:off x="1097280" y="5047488"/>
            <a:ext cx="6858000" cy="219456"/>
          </a:xfrm>
          <a:prstGeom prst="rect">
            <a:avLst/>
          </a:prstGeom>
          <a:noFill/>
          <a:ln/>
        </p:spPr>
        <p:txBody>
          <a:bodyPr wrap="square" lIns="0" tIns="0" rIns="0" bIns="0" rtlCol="0" anchor="ctr"/>
          <a:lstStyle/>
          <a:p>
            <a:pPr marL="0" indent="0">
              <a:buNone/>
            </a:pPr>
            <a:r>
              <a:rPr lang="en-US" sz="900" dirty="0">
                <a:solidFill>
                  <a:srgbClr val="B8621B"/>
                </a:solidFill>
                <a:latin typeface="Courier New" pitchFamily="34" charset="0"/>
                <a:ea typeface="Courier New" pitchFamily="34" charset="-122"/>
                <a:cs typeface="Courier New" pitchFamily="34" charset="-120"/>
              </a:rPr>
              <a:t>stories.md · firmware-event-schema-v4.2.md</a:t>
            </a:r>
            <a:endParaRPr lang="en-US" sz="900" dirty="0"/>
          </a:p>
        </p:txBody>
      </p:sp>
      <p:sp>
        <p:nvSpPr>
          <p:cNvPr id="20" name="Text 18"/>
          <p:cNvSpPr/>
          <p:nvPr/>
        </p:nvSpPr>
        <p:spPr>
          <a:xfrm>
            <a:off x="640080" y="5340096"/>
            <a:ext cx="384048" cy="347472"/>
          </a:xfrm>
          <a:prstGeom prst="rect">
            <a:avLst/>
          </a:prstGeom>
          <a:noFill/>
          <a:ln/>
        </p:spPr>
        <p:txBody>
          <a:bodyPr wrap="square" lIns="0" tIns="0" rIns="0" bIns="0" rtlCol="0" anchor="ctr"/>
          <a:lstStyle/>
          <a:p>
            <a:pPr marL="0" indent="0">
              <a:buNone/>
            </a:pPr>
            <a:r>
              <a:rPr lang="en-US" sz="2000" b="1" dirty="0">
                <a:solidFill>
                  <a:srgbClr val="B8621B"/>
                </a:solidFill>
                <a:latin typeface="Cambria" pitchFamily="34" charset="0"/>
                <a:ea typeface="Cambria" pitchFamily="34" charset="-122"/>
                <a:cs typeface="Cambria" pitchFamily="34" charset="-120"/>
              </a:rPr>
              <a:t>5</a:t>
            </a:r>
            <a:endParaRPr lang="en-US" sz="2000" dirty="0"/>
          </a:p>
        </p:txBody>
      </p:sp>
      <p:sp>
        <p:nvSpPr>
          <p:cNvPr id="21" name="Text 19"/>
          <p:cNvSpPr/>
          <p:nvPr/>
        </p:nvSpPr>
        <p:spPr>
          <a:xfrm>
            <a:off x="1097280" y="5321808"/>
            <a:ext cx="6858000" cy="292608"/>
          </a:xfrm>
          <a:prstGeom prst="rect">
            <a:avLst/>
          </a:prstGeom>
          <a:noFill/>
          <a:ln/>
        </p:spPr>
        <p:txBody>
          <a:bodyPr wrap="square" lIns="0" tIns="0" rIns="0" bIns="0" rtlCol="0" anchor="ctr"/>
          <a:lstStyle/>
          <a:p>
            <a:pPr marL="0" indent="0">
              <a:buNone/>
            </a:pPr>
            <a:r>
              <a:rPr lang="en-US" sz="1350" b="1" dirty="0">
                <a:solidFill>
                  <a:srgbClr val="1C1F26"/>
                </a:solidFill>
                <a:latin typeface="Calibri" pitchFamily="34" charset="0"/>
                <a:ea typeface="Calibri" pitchFamily="34" charset="-122"/>
                <a:cs typeface="Calibri" pitchFamily="34" charset="-120"/>
              </a:rPr>
              <a:t>Drawing the schedule found what writing it missed</a:t>
            </a:r>
            <a:endParaRPr lang="en-US" sz="1350" dirty="0"/>
          </a:p>
        </p:txBody>
      </p:sp>
      <p:sp>
        <p:nvSpPr>
          <p:cNvPr id="22" name="Text 20"/>
          <p:cNvSpPr/>
          <p:nvPr/>
        </p:nvSpPr>
        <p:spPr>
          <a:xfrm>
            <a:off x="1097280" y="5632704"/>
            <a:ext cx="6858000" cy="384048"/>
          </a:xfrm>
          <a:prstGeom prst="rect">
            <a:avLst/>
          </a:prstGeom>
          <a:noFill/>
          <a:ln/>
        </p:spPr>
        <p:txBody>
          <a:bodyPr wrap="square" lIns="0" tIns="0" rIns="0" bIns="0" rtlCol="0" anchor="ctr"/>
          <a:lstStyle/>
          <a:p>
            <a:pPr marL="0" indent="0">
              <a:buNone/>
            </a:pPr>
            <a:r>
              <a:rPr lang="en-US" sz="1100" dirty="0">
                <a:solidFill>
                  <a:srgbClr val="6E7781"/>
                </a:solidFill>
                <a:latin typeface="Calibri" pitchFamily="34" charset="0"/>
                <a:ea typeface="Calibri" pitchFamily="34" charset="-122"/>
                <a:cs typeface="Calibri" pitchFamily="34" charset="-120"/>
              </a:rPr>
              <a:t>The resource pass turned up five things and reversed a recommendation. That reversal is in the repo, not tidied away.</a:t>
            </a:r>
            <a:endParaRPr lang="en-US" sz="1100" dirty="0"/>
          </a:p>
        </p:txBody>
      </p:sp>
      <p:sp>
        <p:nvSpPr>
          <p:cNvPr id="23" name="Text 21"/>
          <p:cNvSpPr/>
          <p:nvPr/>
        </p:nvSpPr>
        <p:spPr>
          <a:xfrm>
            <a:off x="1097280" y="6016752"/>
            <a:ext cx="6858000" cy="219456"/>
          </a:xfrm>
          <a:prstGeom prst="rect">
            <a:avLst/>
          </a:prstGeom>
          <a:noFill/>
          <a:ln/>
        </p:spPr>
        <p:txBody>
          <a:bodyPr wrap="square" lIns="0" tIns="0" rIns="0" bIns="0" rtlCol="0" anchor="ctr"/>
          <a:lstStyle/>
          <a:p>
            <a:pPr marL="0" indent="0">
              <a:buNone/>
            </a:pPr>
            <a:r>
              <a:rPr lang="en-US" sz="900" dirty="0">
                <a:solidFill>
                  <a:srgbClr val="B8621B"/>
                </a:solidFill>
                <a:latin typeface="Courier New" pitchFamily="34" charset="0"/>
                <a:ea typeface="Courier New" pitchFamily="34" charset="-122"/>
                <a:cs typeface="Courier New" pitchFamily="34" charset="-120"/>
              </a:rPr>
              <a:t>06-b-pass-robotics.md</a:t>
            </a:r>
            <a:endParaRPr lang="en-US" sz="900" dirty="0"/>
          </a:p>
        </p:txBody>
      </p:sp>
      <p:sp>
        <p:nvSpPr>
          <p:cNvPr id="24" name="Shape 22"/>
          <p:cNvSpPr/>
          <p:nvPr/>
        </p:nvSpPr>
        <p:spPr>
          <a:xfrm>
            <a:off x="8229600" y="1417320"/>
            <a:ext cx="3291840" cy="4160520"/>
          </a:xfrm>
          <a:prstGeom prst="rect">
            <a:avLst/>
          </a:prstGeom>
          <a:solidFill>
            <a:srgbClr val="FFFFFF"/>
          </a:solidFill>
          <a:ln w="12700">
            <a:solidFill>
              <a:srgbClr val="D8D2C9"/>
            </a:solidFill>
            <a:prstDash val="solid"/>
          </a:ln>
        </p:spPr>
        <p:txBody>
          <a:bodyPr/>
          <a:lstStyle/>
          <a:p>
            <a:endParaRPr lang="en-US"/>
          </a:p>
        </p:txBody>
      </p:sp>
      <p:sp>
        <p:nvSpPr>
          <p:cNvPr id="25" name="Text 23"/>
          <p:cNvSpPr/>
          <p:nvPr/>
        </p:nvSpPr>
        <p:spPr>
          <a:xfrm>
            <a:off x="8467344" y="1609344"/>
            <a:ext cx="2834640" cy="256032"/>
          </a:xfrm>
          <a:prstGeom prst="rect">
            <a:avLst/>
          </a:prstGeom>
          <a:noFill/>
          <a:ln/>
        </p:spPr>
        <p:txBody>
          <a:bodyPr wrap="square" lIns="0" tIns="0" rIns="0" bIns="0" rtlCol="0" anchor="ctr"/>
          <a:lstStyle/>
          <a:p>
            <a:pPr marL="0" indent="0">
              <a:buNone/>
            </a:pPr>
            <a:r>
              <a:rPr lang="en-US" sz="950" b="1" kern="0" spc="130" dirty="0">
                <a:solidFill>
                  <a:srgbClr val="6E7781"/>
                </a:solidFill>
                <a:latin typeface="Calibri" pitchFamily="34" charset="0"/>
                <a:ea typeface="Calibri" pitchFamily="34" charset="-122"/>
                <a:cs typeface="Calibri" pitchFamily="34" charset="-120"/>
              </a:rPr>
              <a:t>THE REPOSITORY</a:t>
            </a:r>
            <a:endParaRPr lang="en-US" sz="950" dirty="0"/>
          </a:p>
        </p:txBody>
      </p:sp>
      <p:sp>
        <p:nvSpPr>
          <p:cNvPr id="26" name="Text 24"/>
          <p:cNvSpPr/>
          <p:nvPr/>
        </p:nvSpPr>
        <p:spPr>
          <a:xfrm>
            <a:off x="8467344" y="1938528"/>
            <a:ext cx="1920240" cy="219456"/>
          </a:xfrm>
          <a:prstGeom prst="rect">
            <a:avLst/>
          </a:prstGeom>
          <a:noFill/>
          <a:ln/>
        </p:spPr>
        <p:txBody>
          <a:bodyPr wrap="square" lIns="0" tIns="0" rIns="0" bIns="0" rtlCol="0" anchor="ctr"/>
          <a:lstStyle/>
          <a:p>
            <a:pPr marL="0" indent="0">
              <a:buNone/>
            </a:pPr>
            <a:r>
              <a:rPr lang="en-US" sz="900" b="1" dirty="0">
                <a:solidFill>
                  <a:srgbClr val="1C1F26"/>
                </a:solidFill>
                <a:latin typeface="Courier New" pitchFamily="34" charset="0"/>
                <a:ea typeface="Courier New" pitchFamily="34" charset="-122"/>
                <a:cs typeface="Courier New" pitchFamily="34" charset="-120"/>
              </a:rPr>
              <a:t>README.md</a:t>
            </a:r>
            <a:endParaRPr lang="en-US" sz="900" dirty="0"/>
          </a:p>
        </p:txBody>
      </p:sp>
      <p:sp>
        <p:nvSpPr>
          <p:cNvPr id="27" name="Text 25"/>
          <p:cNvSpPr/>
          <p:nvPr/>
        </p:nvSpPr>
        <p:spPr>
          <a:xfrm>
            <a:off x="10351008" y="1938528"/>
            <a:ext cx="960120" cy="219456"/>
          </a:xfrm>
          <a:prstGeom prst="rect">
            <a:avLst/>
          </a:prstGeom>
          <a:noFill/>
          <a:ln/>
        </p:spPr>
        <p:txBody>
          <a:bodyPr wrap="square" lIns="0" tIns="0" rIns="0" bIns="0" rtlCol="0" anchor="ctr"/>
          <a:lstStyle/>
          <a:p>
            <a:pPr marL="0" indent="0" algn="r">
              <a:buNone/>
            </a:pPr>
            <a:r>
              <a:rPr lang="en-US" sz="850" dirty="0">
                <a:solidFill>
                  <a:srgbClr val="B8621B"/>
                </a:solidFill>
                <a:latin typeface="Calibri" pitchFamily="34" charset="0"/>
                <a:ea typeface="Calibri" pitchFamily="34" charset="-122"/>
                <a:cs typeface="Calibri" pitchFamily="34" charset="-120"/>
              </a:rPr>
              <a:t>reading order</a:t>
            </a:r>
            <a:endParaRPr lang="en-US" sz="850" dirty="0"/>
          </a:p>
        </p:txBody>
      </p:sp>
      <p:sp>
        <p:nvSpPr>
          <p:cNvPr id="28" name="Text 26"/>
          <p:cNvSpPr/>
          <p:nvPr/>
        </p:nvSpPr>
        <p:spPr>
          <a:xfrm>
            <a:off x="8467344" y="2194560"/>
            <a:ext cx="1920240" cy="219456"/>
          </a:xfrm>
          <a:prstGeom prst="rect">
            <a:avLst/>
          </a:prstGeom>
          <a:noFill/>
          <a:ln/>
        </p:spPr>
        <p:txBody>
          <a:bodyPr wrap="square" lIns="0" tIns="0" rIns="0" bIns="0" rtlCol="0" anchor="ctr"/>
          <a:lstStyle/>
          <a:p>
            <a:pPr marL="0" indent="0">
              <a:buNone/>
            </a:pPr>
            <a:r>
              <a:rPr lang="en-US" sz="900" b="1" dirty="0">
                <a:solidFill>
                  <a:srgbClr val="1C1F26"/>
                </a:solidFill>
                <a:latin typeface="Courier New" pitchFamily="34" charset="0"/>
                <a:ea typeface="Courier New" pitchFamily="34" charset="-122"/>
                <a:cs typeface="Courier New" pitchFamily="34" charset="-120"/>
              </a:rPr>
              <a:t>docs/</a:t>
            </a:r>
            <a:endParaRPr lang="en-US" sz="900" dirty="0"/>
          </a:p>
        </p:txBody>
      </p:sp>
      <p:sp>
        <p:nvSpPr>
          <p:cNvPr id="29" name="Text 27"/>
          <p:cNvSpPr/>
          <p:nvPr/>
        </p:nvSpPr>
        <p:spPr>
          <a:xfrm>
            <a:off x="10351008" y="2194560"/>
            <a:ext cx="960120" cy="219456"/>
          </a:xfrm>
          <a:prstGeom prst="rect">
            <a:avLst/>
          </a:prstGeom>
          <a:noFill/>
          <a:ln/>
        </p:spPr>
        <p:txBody>
          <a:bodyPr wrap="square" lIns="0" tIns="0" rIns="0" bIns="0" rtlCol="0" anchor="ctr"/>
          <a:lstStyle/>
          <a:p>
            <a:pPr marL="0" indent="0" algn="r">
              <a:buNone/>
            </a:pPr>
            <a:endParaRPr lang="en-US" sz="850" dirty="0"/>
          </a:p>
        </p:txBody>
      </p:sp>
      <p:sp>
        <p:nvSpPr>
          <p:cNvPr id="30" name="Text 28"/>
          <p:cNvSpPr/>
          <p:nvPr/>
        </p:nvSpPr>
        <p:spPr>
          <a:xfrm>
            <a:off x="8467344" y="2450592"/>
            <a:ext cx="1920240" cy="219456"/>
          </a:xfrm>
          <a:prstGeom prst="rect">
            <a:avLst/>
          </a:prstGeom>
          <a:noFill/>
          <a:ln/>
        </p:spPr>
        <p:txBody>
          <a:bodyPr wrap="square" lIns="0" tIns="0" rIns="0" bIns="0" rtlCol="0" anchor="ctr"/>
          <a:lstStyle/>
          <a:p>
            <a:pPr marL="0" indent="0">
              <a:buNone/>
            </a:pPr>
            <a:r>
              <a:rPr lang="en-US" sz="900" dirty="0">
                <a:solidFill>
                  <a:srgbClr val="6E7781"/>
                </a:solidFill>
                <a:latin typeface="Courier New" pitchFamily="34" charset="0"/>
                <a:ea typeface="Courier New" pitchFamily="34" charset="-122"/>
                <a:cs typeface="Courier New" pitchFamily="34" charset="-120"/>
              </a:rPr>
              <a:t>  00  cto-response</a:t>
            </a:r>
            <a:endParaRPr lang="en-US" sz="900" dirty="0"/>
          </a:p>
        </p:txBody>
      </p:sp>
      <p:sp>
        <p:nvSpPr>
          <p:cNvPr id="31" name="Text 29"/>
          <p:cNvSpPr/>
          <p:nvPr/>
        </p:nvSpPr>
        <p:spPr>
          <a:xfrm>
            <a:off x="10351008" y="2450592"/>
            <a:ext cx="960120" cy="219456"/>
          </a:xfrm>
          <a:prstGeom prst="rect">
            <a:avLst/>
          </a:prstGeom>
          <a:noFill/>
          <a:ln/>
        </p:spPr>
        <p:txBody>
          <a:bodyPr wrap="square" lIns="0" tIns="0" rIns="0" bIns="0" rtlCol="0" anchor="ctr"/>
          <a:lstStyle/>
          <a:p>
            <a:pPr marL="0" indent="0" algn="r">
              <a:buNone/>
            </a:pPr>
            <a:r>
              <a:rPr lang="en-US" sz="850" dirty="0">
                <a:solidFill>
                  <a:srgbClr val="B8621B"/>
                </a:solidFill>
                <a:latin typeface="Calibri" pitchFamily="34" charset="0"/>
                <a:ea typeface="Calibri" pitchFamily="34" charset="-122"/>
                <a:cs typeface="Calibri" pitchFamily="34" charset="-120"/>
              </a:rPr>
              <a:t>the reply</a:t>
            </a:r>
            <a:endParaRPr lang="en-US" sz="850" dirty="0"/>
          </a:p>
        </p:txBody>
      </p:sp>
      <p:sp>
        <p:nvSpPr>
          <p:cNvPr id="32" name="Text 30"/>
          <p:cNvSpPr/>
          <p:nvPr/>
        </p:nvSpPr>
        <p:spPr>
          <a:xfrm>
            <a:off x="8467344" y="2706624"/>
            <a:ext cx="1920240" cy="219456"/>
          </a:xfrm>
          <a:prstGeom prst="rect">
            <a:avLst/>
          </a:prstGeom>
          <a:noFill/>
          <a:ln/>
        </p:spPr>
        <p:txBody>
          <a:bodyPr wrap="square" lIns="0" tIns="0" rIns="0" bIns="0" rtlCol="0" anchor="ctr"/>
          <a:lstStyle/>
          <a:p>
            <a:pPr marL="0" indent="0">
              <a:buNone/>
            </a:pPr>
            <a:r>
              <a:rPr lang="en-US" sz="900" dirty="0">
                <a:solidFill>
                  <a:srgbClr val="6E7781"/>
                </a:solidFill>
                <a:latin typeface="Courier New" pitchFamily="34" charset="0"/>
                <a:ea typeface="Courier New" pitchFamily="34" charset="-122"/>
                <a:cs typeface="Courier New" pitchFamily="34" charset="-120"/>
              </a:rPr>
              <a:t>  01  delivery-plan</a:t>
            </a:r>
            <a:endParaRPr lang="en-US" sz="900" dirty="0"/>
          </a:p>
        </p:txBody>
      </p:sp>
      <p:sp>
        <p:nvSpPr>
          <p:cNvPr id="33" name="Text 31"/>
          <p:cNvSpPr/>
          <p:nvPr/>
        </p:nvSpPr>
        <p:spPr>
          <a:xfrm>
            <a:off x="10351008" y="2706624"/>
            <a:ext cx="960120" cy="219456"/>
          </a:xfrm>
          <a:prstGeom prst="rect">
            <a:avLst/>
          </a:prstGeom>
          <a:noFill/>
          <a:ln/>
        </p:spPr>
        <p:txBody>
          <a:bodyPr wrap="square" lIns="0" tIns="0" rIns="0" bIns="0" rtlCol="0" anchor="ctr"/>
          <a:lstStyle/>
          <a:p>
            <a:pPr marL="0" indent="0" algn="r">
              <a:buNone/>
            </a:pPr>
            <a:r>
              <a:rPr lang="en-US" sz="850" dirty="0">
                <a:solidFill>
                  <a:srgbClr val="B8621B"/>
                </a:solidFill>
                <a:latin typeface="Calibri" pitchFamily="34" charset="0"/>
                <a:ea typeface="Calibri" pitchFamily="34" charset="-122"/>
                <a:cs typeface="Calibri" pitchFamily="34" charset="-120"/>
              </a:rPr>
              <a:t>the plan</a:t>
            </a:r>
            <a:endParaRPr lang="en-US" sz="850" dirty="0"/>
          </a:p>
        </p:txBody>
      </p:sp>
      <p:sp>
        <p:nvSpPr>
          <p:cNvPr id="34" name="Text 32"/>
          <p:cNvSpPr/>
          <p:nvPr/>
        </p:nvSpPr>
        <p:spPr>
          <a:xfrm>
            <a:off x="8467344" y="2962656"/>
            <a:ext cx="1920240" cy="219456"/>
          </a:xfrm>
          <a:prstGeom prst="rect">
            <a:avLst/>
          </a:prstGeom>
          <a:noFill/>
          <a:ln/>
        </p:spPr>
        <p:txBody>
          <a:bodyPr wrap="square" lIns="0" tIns="0" rIns="0" bIns="0" rtlCol="0" anchor="ctr"/>
          <a:lstStyle/>
          <a:p>
            <a:pPr marL="0" indent="0">
              <a:buNone/>
            </a:pPr>
            <a:r>
              <a:rPr lang="en-US" sz="900" dirty="0">
                <a:solidFill>
                  <a:srgbClr val="6E7781"/>
                </a:solidFill>
                <a:latin typeface="Courier New" pitchFamily="34" charset="0"/>
                <a:ea typeface="Courier New" pitchFamily="34" charset="-122"/>
                <a:cs typeface="Courier New" pitchFamily="34" charset="-120"/>
              </a:rPr>
              <a:t>  02  scope-decisions</a:t>
            </a:r>
            <a:endParaRPr lang="en-US" sz="900" dirty="0"/>
          </a:p>
        </p:txBody>
      </p:sp>
      <p:sp>
        <p:nvSpPr>
          <p:cNvPr id="35" name="Text 33"/>
          <p:cNvSpPr/>
          <p:nvPr/>
        </p:nvSpPr>
        <p:spPr>
          <a:xfrm>
            <a:off x="10351008" y="2962656"/>
            <a:ext cx="960120" cy="219456"/>
          </a:xfrm>
          <a:prstGeom prst="rect">
            <a:avLst/>
          </a:prstGeom>
          <a:noFill/>
          <a:ln/>
        </p:spPr>
        <p:txBody>
          <a:bodyPr wrap="square" lIns="0" tIns="0" rIns="0" bIns="0" rtlCol="0" anchor="ctr"/>
          <a:lstStyle/>
          <a:p>
            <a:pPr marL="0" indent="0" algn="r">
              <a:buNone/>
            </a:pPr>
            <a:r>
              <a:rPr lang="en-US" sz="850" dirty="0">
                <a:solidFill>
                  <a:srgbClr val="B8621B"/>
                </a:solidFill>
                <a:latin typeface="Calibri" pitchFamily="34" charset="0"/>
                <a:ea typeface="Calibri" pitchFamily="34" charset="-122"/>
                <a:cs typeface="Calibri" pitchFamily="34" charset="-120"/>
              </a:rPr>
              <a:t>12 calls</a:t>
            </a:r>
            <a:endParaRPr lang="en-US" sz="850" dirty="0"/>
          </a:p>
        </p:txBody>
      </p:sp>
      <p:sp>
        <p:nvSpPr>
          <p:cNvPr id="36" name="Text 34"/>
          <p:cNvSpPr/>
          <p:nvPr/>
        </p:nvSpPr>
        <p:spPr>
          <a:xfrm>
            <a:off x="8467344" y="3218688"/>
            <a:ext cx="1920240" cy="219456"/>
          </a:xfrm>
          <a:prstGeom prst="rect">
            <a:avLst/>
          </a:prstGeom>
          <a:noFill/>
          <a:ln/>
        </p:spPr>
        <p:txBody>
          <a:bodyPr wrap="square" lIns="0" tIns="0" rIns="0" bIns="0" rtlCol="0" anchor="ctr"/>
          <a:lstStyle/>
          <a:p>
            <a:pPr marL="0" indent="0">
              <a:buNone/>
            </a:pPr>
            <a:r>
              <a:rPr lang="en-US" sz="900" dirty="0">
                <a:solidFill>
                  <a:srgbClr val="6E7781"/>
                </a:solidFill>
                <a:latin typeface="Courier New" pitchFamily="34" charset="0"/>
                <a:ea typeface="Courier New" pitchFamily="34" charset="-122"/>
                <a:cs typeface="Courier New" pitchFamily="34" charset="-120"/>
              </a:rPr>
              <a:t>  03  demo-date-branch</a:t>
            </a:r>
            <a:endParaRPr lang="en-US" sz="900" dirty="0"/>
          </a:p>
        </p:txBody>
      </p:sp>
      <p:sp>
        <p:nvSpPr>
          <p:cNvPr id="37" name="Text 35"/>
          <p:cNvSpPr/>
          <p:nvPr/>
        </p:nvSpPr>
        <p:spPr>
          <a:xfrm>
            <a:off x="10351008" y="3218688"/>
            <a:ext cx="960120" cy="219456"/>
          </a:xfrm>
          <a:prstGeom prst="rect">
            <a:avLst/>
          </a:prstGeom>
          <a:noFill/>
          <a:ln/>
        </p:spPr>
        <p:txBody>
          <a:bodyPr wrap="square" lIns="0" tIns="0" rIns="0" bIns="0" rtlCol="0" anchor="ctr"/>
          <a:lstStyle/>
          <a:p>
            <a:pPr marL="0" indent="0" algn="r">
              <a:buNone/>
            </a:pPr>
            <a:r>
              <a:rPr lang="en-US" sz="850" dirty="0">
                <a:solidFill>
                  <a:srgbClr val="B8621B"/>
                </a:solidFill>
                <a:latin typeface="Calibri" pitchFamily="34" charset="0"/>
                <a:ea typeface="Calibri" pitchFamily="34" charset="-122"/>
                <a:cs typeface="Calibri" pitchFamily="34" charset="-120"/>
              </a:rPr>
              <a:t>A / B</a:t>
            </a:r>
            <a:endParaRPr lang="en-US" sz="850" dirty="0"/>
          </a:p>
        </p:txBody>
      </p:sp>
      <p:sp>
        <p:nvSpPr>
          <p:cNvPr id="38" name="Text 36"/>
          <p:cNvSpPr/>
          <p:nvPr/>
        </p:nvSpPr>
        <p:spPr>
          <a:xfrm>
            <a:off x="8467344" y="3474720"/>
            <a:ext cx="1920240" cy="219456"/>
          </a:xfrm>
          <a:prstGeom prst="rect">
            <a:avLst/>
          </a:prstGeom>
          <a:noFill/>
          <a:ln/>
        </p:spPr>
        <p:txBody>
          <a:bodyPr wrap="square" lIns="0" tIns="0" rIns="0" bIns="0" rtlCol="0" anchor="ctr"/>
          <a:lstStyle/>
          <a:p>
            <a:pPr marL="0" indent="0">
              <a:buNone/>
            </a:pPr>
            <a:r>
              <a:rPr lang="en-US" sz="900" dirty="0">
                <a:solidFill>
                  <a:srgbClr val="6E7781"/>
                </a:solidFill>
                <a:latin typeface="Courier New" pitchFamily="34" charset="0"/>
                <a:ea typeface="Courier New" pitchFamily="34" charset="-122"/>
                <a:cs typeface="Courier New" pitchFamily="34" charset="-120"/>
              </a:rPr>
              <a:t>  04  critical-path</a:t>
            </a:r>
            <a:endParaRPr lang="en-US" sz="900" dirty="0"/>
          </a:p>
        </p:txBody>
      </p:sp>
      <p:sp>
        <p:nvSpPr>
          <p:cNvPr id="39" name="Text 37"/>
          <p:cNvSpPr/>
          <p:nvPr/>
        </p:nvSpPr>
        <p:spPr>
          <a:xfrm>
            <a:off x="10351008" y="3474720"/>
            <a:ext cx="960120" cy="219456"/>
          </a:xfrm>
          <a:prstGeom prst="rect">
            <a:avLst/>
          </a:prstGeom>
          <a:noFill/>
          <a:ln/>
        </p:spPr>
        <p:txBody>
          <a:bodyPr wrap="square" lIns="0" tIns="0" rIns="0" bIns="0" rtlCol="0" anchor="ctr"/>
          <a:lstStyle/>
          <a:p>
            <a:pPr marL="0" indent="0" algn="r">
              <a:buNone/>
            </a:pPr>
            <a:r>
              <a:rPr lang="en-US" sz="850" dirty="0">
                <a:solidFill>
                  <a:srgbClr val="B8621B"/>
                </a:solidFill>
                <a:latin typeface="Calibri" pitchFamily="34" charset="0"/>
                <a:ea typeface="Calibri" pitchFamily="34" charset="-122"/>
                <a:cs typeface="Calibri" pitchFamily="34" charset="-120"/>
              </a:rPr>
              <a:t>diagram</a:t>
            </a:r>
            <a:endParaRPr lang="en-US" sz="850" dirty="0"/>
          </a:p>
        </p:txBody>
      </p:sp>
      <p:sp>
        <p:nvSpPr>
          <p:cNvPr id="40" name="Text 38"/>
          <p:cNvSpPr/>
          <p:nvPr/>
        </p:nvSpPr>
        <p:spPr>
          <a:xfrm>
            <a:off x="8467344" y="3730752"/>
            <a:ext cx="1920240" cy="219456"/>
          </a:xfrm>
          <a:prstGeom prst="rect">
            <a:avLst/>
          </a:prstGeom>
          <a:noFill/>
          <a:ln/>
        </p:spPr>
        <p:txBody>
          <a:bodyPr wrap="square" lIns="0" tIns="0" rIns="0" bIns="0" rtlCol="0" anchor="ctr"/>
          <a:lstStyle/>
          <a:p>
            <a:pPr marL="0" indent="0">
              <a:buNone/>
            </a:pPr>
            <a:r>
              <a:rPr lang="en-US" sz="900" dirty="0">
                <a:solidFill>
                  <a:srgbClr val="6E7781"/>
                </a:solidFill>
                <a:latin typeface="Courier New" pitchFamily="34" charset="0"/>
                <a:ea typeface="Courier New" pitchFamily="34" charset="-122"/>
                <a:cs typeface="Courier New" pitchFamily="34" charset="-120"/>
              </a:rPr>
              <a:t>  05  estimation</a:t>
            </a:r>
            <a:endParaRPr lang="en-US" sz="900" dirty="0"/>
          </a:p>
        </p:txBody>
      </p:sp>
      <p:sp>
        <p:nvSpPr>
          <p:cNvPr id="41" name="Text 39"/>
          <p:cNvSpPr/>
          <p:nvPr/>
        </p:nvSpPr>
        <p:spPr>
          <a:xfrm>
            <a:off x="10351008" y="3730752"/>
            <a:ext cx="960120" cy="219456"/>
          </a:xfrm>
          <a:prstGeom prst="rect">
            <a:avLst/>
          </a:prstGeom>
          <a:noFill/>
          <a:ln/>
        </p:spPr>
        <p:txBody>
          <a:bodyPr wrap="square" lIns="0" tIns="0" rIns="0" bIns="0" rtlCol="0" anchor="ctr"/>
          <a:lstStyle/>
          <a:p>
            <a:pPr marL="0" indent="0" algn="r">
              <a:buNone/>
            </a:pPr>
            <a:r>
              <a:rPr lang="en-US" sz="850" dirty="0">
                <a:solidFill>
                  <a:srgbClr val="B8621B"/>
                </a:solidFill>
                <a:latin typeface="Calibri" pitchFamily="34" charset="0"/>
                <a:ea typeface="Calibri" pitchFamily="34" charset="-122"/>
                <a:cs typeface="Calibri" pitchFamily="34" charset="-120"/>
              </a:rPr>
              <a:t>multipliers</a:t>
            </a:r>
            <a:endParaRPr lang="en-US" sz="850" dirty="0"/>
          </a:p>
        </p:txBody>
      </p:sp>
      <p:sp>
        <p:nvSpPr>
          <p:cNvPr id="42" name="Text 40"/>
          <p:cNvSpPr/>
          <p:nvPr/>
        </p:nvSpPr>
        <p:spPr>
          <a:xfrm>
            <a:off x="8467344" y="3986784"/>
            <a:ext cx="1920240" cy="219456"/>
          </a:xfrm>
          <a:prstGeom prst="rect">
            <a:avLst/>
          </a:prstGeom>
          <a:noFill/>
          <a:ln/>
        </p:spPr>
        <p:txBody>
          <a:bodyPr wrap="square" lIns="0" tIns="0" rIns="0" bIns="0" rtlCol="0" anchor="ctr"/>
          <a:lstStyle/>
          <a:p>
            <a:pPr marL="0" indent="0">
              <a:buNone/>
            </a:pPr>
            <a:r>
              <a:rPr lang="en-US" sz="900" dirty="0">
                <a:solidFill>
                  <a:srgbClr val="6E7781"/>
                </a:solidFill>
                <a:latin typeface="Courier New" pitchFamily="34" charset="0"/>
                <a:ea typeface="Courier New" pitchFamily="34" charset="-122"/>
                <a:cs typeface="Courier New" pitchFamily="34" charset="-120"/>
              </a:rPr>
              <a:t>  06  b-pass-robotics</a:t>
            </a:r>
            <a:endParaRPr lang="en-US" sz="900" dirty="0"/>
          </a:p>
        </p:txBody>
      </p:sp>
      <p:sp>
        <p:nvSpPr>
          <p:cNvPr id="43" name="Text 41"/>
          <p:cNvSpPr/>
          <p:nvPr/>
        </p:nvSpPr>
        <p:spPr>
          <a:xfrm>
            <a:off x="10351008" y="3986784"/>
            <a:ext cx="960120" cy="219456"/>
          </a:xfrm>
          <a:prstGeom prst="rect">
            <a:avLst/>
          </a:prstGeom>
          <a:noFill/>
          <a:ln/>
        </p:spPr>
        <p:txBody>
          <a:bodyPr wrap="square" lIns="0" tIns="0" rIns="0" bIns="0" rtlCol="0" anchor="ctr"/>
          <a:lstStyle/>
          <a:p>
            <a:pPr marL="0" indent="0" algn="r">
              <a:buNone/>
            </a:pPr>
            <a:r>
              <a:rPr lang="en-US" sz="850" dirty="0">
                <a:solidFill>
                  <a:srgbClr val="B8621B"/>
                </a:solidFill>
                <a:latin typeface="Calibri" pitchFamily="34" charset="0"/>
                <a:ea typeface="Calibri" pitchFamily="34" charset="-122"/>
                <a:cs typeface="Calibri" pitchFamily="34" charset="-120"/>
              </a:rPr>
              <a:t>the pass</a:t>
            </a:r>
            <a:endParaRPr lang="en-US" sz="850" dirty="0"/>
          </a:p>
        </p:txBody>
      </p:sp>
      <p:sp>
        <p:nvSpPr>
          <p:cNvPr id="44" name="Text 42"/>
          <p:cNvSpPr/>
          <p:nvPr/>
        </p:nvSpPr>
        <p:spPr>
          <a:xfrm>
            <a:off x="8467344" y="4242816"/>
            <a:ext cx="1920240" cy="219456"/>
          </a:xfrm>
          <a:prstGeom prst="rect">
            <a:avLst/>
          </a:prstGeom>
          <a:noFill/>
          <a:ln/>
        </p:spPr>
        <p:txBody>
          <a:bodyPr wrap="square" lIns="0" tIns="0" rIns="0" bIns="0" rtlCol="0" anchor="ctr"/>
          <a:lstStyle/>
          <a:p>
            <a:pPr marL="0" indent="0">
              <a:buNone/>
            </a:pPr>
            <a:r>
              <a:rPr lang="en-US" sz="900" dirty="0">
                <a:solidFill>
                  <a:srgbClr val="6E7781"/>
                </a:solidFill>
                <a:latin typeface="Courier New" pitchFamily="34" charset="0"/>
                <a:ea typeface="Courier New" pitchFamily="34" charset="-122"/>
                <a:cs typeface="Courier New" pitchFamily="34" charset="-120"/>
              </a:rPr>
              <a:t>  stories.md</a:t>
            </a:r>
            <a:endParaRPr lang="en-US" sz="900" dirty="0"/>
          </a:p>
        </p:txBody>
      </p:sp>
      <p:sp>
        <p:nvSpPr>
          <p:cNvPr id="45" name="Text 43"/>
          <p:cNvSpPr/>
          <p:nvPr/>
        </p:nvSpPr>
        <p:spPr>
          <a:xfrm>
            <a:off x="10351008" y="4242816"/>
            <a:ext cx="960120" cy="219456"/>
          </a:xfrm>
          <a:prstGeom prst="rect">
            <a:avLst/>
          </a:prstGeom>
          <a:noFill/>
          <a:ln/>
        </p:spPr>
        <p:txBody>
          <a:bodyPr wrap="square" lIns="0" tIns="0" rIns="0" bIns="0" rtlCol="0" anchor="ctr"/>
          <a:lstStyle/>
          <a:p>
            <a:pPr marL="0" indent="0" algn="r">
              <a:buNone/>
            </a:pPr>
            <a:r>
              <a:rPr lang="en-US" sz="850" dirty="0">
                <a:solidFill>
                  <a:srgbClr val="B8621B"/>
                </a:solidFill>
                <a:latin typeface="Calibri" pitchFamily="34" charset="0"/>
                <a:ea typeface="Calibri" pitchFamily="34" charset="-122"/>
                <a:cs typeface="Calibri" pitchFamily="34" charset="-120"/>
              </a:rPr>
              <a:t>revised set</a:t>
            </a:r>
            <a:endParaRPr lang="en-US" sz="850" dirty="0"/>
          </a:p>
        </p:txBody>
      </p:sp>
      <p:sp>
        <p:nvSpPr>
          <p:cNvPr id="46" name="Text 44"/>
          <p:cNvSpPr/>
          <p:nvPr/>
        </p:nvSpPr>
        <p:spPr>
          <a:xfrm>
            <a:off x="8467344" y="4498848"/>
            <a:ext cx="1920240" cy="219456"/>
          </a:xfrm>
          <a:prstGeom prst="rect">
            <a:avLst/>
          </a:prstGeom>
          <a:noFill/>
          <a:ln/>
        </p:spPr>
        <p:txBody>
          <a:bodyPr wrap="square" lIns="0" tIns="0" rIns="0" bIns="0" rtlCol="0" anchor="ctr"/>
          <a:lstStyle/>
          <a:p>
            <a:pPr marL="0" indent="0">
              <a:buNone/>
            </a:pPr>
            <a:r>
              <a:rPr lang="en-US" sz="900" dirty="0">
                <a:solidFill>
                  <a:srgbClr val="6E7781"/>
                </a:solidFill>
                <a:latin typeface="Courier New" pitchFamily="34" charset="0"/>
                <a:ea typeface="Courier New" pitchFamily="34" charset="-122"/>
                <a:cs typeface="Courier New" pitchFamily="34" charset="-120"/>
              </a:rPr>
              <a:t>  firmware-schema</a:t>
            </a:r>
            <a:endParaRPr lang="en-US" sz="900" dirty="0"/>
          </a:p>
        </p:txBody>
      </p:sp>
      <p:sp>
        <p:nvSpPr>
          <p:cNvPr id="47" name="Text 45"/>
          <p:cNvSpPr/>
          <p:nvPr/>
        </p:nvSpPr>
        <p:spPr>
          <a:xfrm>
            <a:off x="10351008" y="4498848"/>
            <a:ext cx="960120" cy="219456"/>
          </a:xfrm>
          <a:prstGeom prst="rect">
            <a:avLst/>
          </a:prstGeom>
          <a:noFill/>
          <a:ln/>
        </p:spPr>
        <p:txBody>
          <a:bodyPr wrap="square" lIns="0" tIns="0" rIns="0" bIns="0" rtlCol="0" anchor="ctr"/>
          <a:lstStyle/>
          <a:p>
            <a:pPr marL="0" indent="0" algn="r">
              <a:buNone/>
            </a:pPr>
            <a:r>
              <a:rPr lang="en-US" sz="850" dirty="0">
                <a:solidFill>
                  <a:srgbClr val="B8621B"/>
                </a:solidFill>
                <a:latin typeface="Calibri" pitchFamily="34" charset="0"/>
                <a:ea typeface="Calibri" pitchFamily="34" charset="-122"/>
                <a:cs typeface="Calibri" pitchFamily="34" charset="-120"/>
              </a:rPr>
              <a:t>the contract</a:t>
            </a:r>
            <a:endParaRPr lang="en-US" sz="850" dirty="0"/>
          </a:p>
        </p:txBody>
      </p:sp>
      <p:sp>
        <p:nvSpPr>
          <p:cNvPr id="48" name="Text 46"/>
          <p:cNvSpPr/>
          <p:nvPr/>
        </p:nvSpPr>
        <p:spPr>
          <a:xfrm>
            <a:off x="8467344" y="4754880"/>
            <a:ext cx="1920240" cy="219456"/>
          </a:xfrm>
          <a:prstGeom prst="rect">
            <a:avLst/>
          </a:prstGeom>
          <a:noFill/>
          <a:ln/>
        </p:spPr>
        <p:txBody>
          <a:bodyPr wrap="square" lIns="0" tIns="0" rIns="0" bIns="0" rtlCol="0" anchor="ctr"/>
          <a:lstStyle/>
          <a:p>
            <a:pPr marL="0" indent="0">
              <a:buNone/>
            </a:pPr>
            <a:r>
              <a:rPr lang="en-US" sz="900" b="1" dirty="0">
                <a:solidFill>
                  <a:srgbClr val="1C1F26"/>
                </a:solidFill>
                <a:latin typeface="Courier New" pitchFamily="34" charset="0"/>
                <a:ea typeface="Courier New" pitchFamily="34" charset="-122"/>
                <a:cs typeface="Courier New" pitchFamily="34" charset="-120"/>
              </a:rPr>
              <a:t>slices/</a:t>
            </a:r>
            <a:endParaRPr lang="en-US" sz="900" dirty="0"/>
          </a:p>
        </p:txBody>
      </p:sp>
      <p:sp>
        <p:nvSpPr>
          <p:cNvPr id="49" name="Text 47"/>
          <p:cNvSpPr/>
          <p:nvPr/>
        </p:nvSpPr>
        <p:spPr>
          <a:xfrm>
            <a:off x="10351008" y="4754880"/>
            <a:ext cx="960120" cy="219456"/>
          </a:xfrm>
          <a:prstGeom prst="rect">
            <a:avLst/>
          </a:prstGeom>
          <a:noFill/>
          <a:ln/>
        </p:spPr>
        <p:txBody>
          <a:bodyPr wrap="square" lIns="0" tIns="0" rIns="0" bIns="0" rtlCol="0" anchor="ctr"/>
          <a:lstStyle/>
          <a:p>
            <a:pPr marL="0" indent="0" algn="r">
              <a:buNone/>
            </a:pPr>
            <a:endParaRPr lang="en-US" sz="850" dirty="0"/>
          </a:p>
        </p:txBody>
      </p:sp>
      <p:sp>
        <p:nvSpPr>
          <p:cNvPr id="50" name="Text 48"/>
          <p:cNvSpPr/>
          <p:nvPr/>
        </p:nvSpPr>
        <p:spPr>
          <a:xfrm>
            <a:off x="8467344" y="5010912"/>
            <a:ext cx="1920240" cy="219456"/>
          </a:xfrm>
          <a:prstGeom prst="rect">
            <a:avLst/>
          </a:prstGeom>
          <a:noFill/>
          <a:ln/>
        </p:spPr>
        <p:txBody>
          <a:bodyPr wrap="square" lIns="0" tIns="0" rIns="0" bIns="0" rtlCol="0" anchor="ctr"/>
          <a:lstStyle/>
          <a:p>
            <a:pPr marL="0" indent="0">
              <a:buNone/>
            </a:pPr>
            <a:r>
              <a:rPr lang="en-US" sz="900" dirty="0">
                <a:solidFill>
                  <a:srgbClr val="6E7781"/>
                </a:solidFill>
                <a:latin typeface="Courier New" pitchFamily="34" charset="0"/>
                <a:ea typeface="Courier New" pitchFamily="34" charset="-122"/>
                <a:cs typeface="Courier New" pitchFamily="34" charset="-120"/>
              </a:rPr>
              <a:t>  estop-audit</a:t>
            </a:r>
            <a:endParaRPr lang="en-US" sz="900" dirty="0"/>
          </a:p>
        </p:txBody>
      </p:sp>
      <p:sp>
        <p:nvSpPr>
          <p:cNvPr id="51" name="Text 49"/>
          <p:cNvSpPr/>
          <p:nvPr/>
        </p:nvSpPr>
        <p:spPr>
          <a:xfrm>
            <a:off x="10351008" y="5010912"/>
            <a:ext cx="960120" cy="219456"/>
          </a:xfrm>
          <a:prstGeom prst="rect">
            <a:avLst/>
          </a:prstGeom>
          <a:noFill/>
          <a:ln/>
        </p:spPr>
        <p:txBody>
          <a:bodyPr wrap="square" lIns="0" tIns="0" rIns="0" bIns="0" rtlCol="0" anchor="ctr"/>
          <a:lstStyle/>
          <a:p>
            <a:pPr marL="0" indent="0" algn="r">
              <a:buNone/>
            </a:pPr>
            <a:r>
              <a:rPr lang="en-US" sz="850" dirty="0">
                <a:solidFill>
                  <a:srgbClr val="B8621B"/>
                </a:solidFill>
                <a:latin typeface="Calibri" pitchFamily="34" charset="0"/>
                <a:ea typeface="Calibri" pitchFamily="34" charset="-122"/>
                <a:cs typeface="Calibri" pitchFamily="34" charset="-120"/>
              </a:rPr>
              <a:t>Python</a:t>
            </a:r>
            <a:endParaRPr lang="en-US" sz="850" dirty="0"/>
          </a:p>
        </p:txBody>
      </p:sp>
      <p:sp>
        <p:nvSpPr>
          <p:cNvPr id="52" name="Text 50"/>
          <p:cNvSpPr/>
          <p:nvPr/>
        </p:nvSpPr>
        <p:spPr>
          <a:xfrm>
            <a:off x="8467344" y="5266944"/>
            <a:ext cx="1920240" cy="219456"/>
          </a:xfrm>
          <a:prstGeom prst="rect">
            <a:avLst/>
          </a:prstGeom>
          <a:noFill/>
          <a:ln/>
        </p:spPr>
        <p:txBody>
          <a:bodyPr wrap="square" lIns="0" tIns="0" rIns="0" bIns="0" rtlCol="0" anchor="ctr"/>
          <a:lstStyle/>
          <a:p>
            <a:pPr marL="0" indent="0">
              <a:buNone/>
            </a:pPr>
            <a:r>
              <a:rPr lang="en-US" sz="900" dirty="0">
                <a:solidFill>
                  <a:srgbClr val="6E7781"/>
                </a:solidFill>
                <a:latin typeface="Courier New" pitchFamily="34" charset="0"/>
                <a:ea typeface="Courier New" pitchFamily="34" charset="-122"/>
                <a:cs typeface="Courier New" pitchFamily="34" charset="-120"/>
              </a:rPr>
              <a:t>  revision-impact</a:t>
            </a:r>
            <a:endParaRPr lang="en-US" sz="900" dirty="0"/>
          </a:p>
        </p:txBody>
      </p:sp>
      <p:sp>
        <p:nvSpPr>
          <p:cNvPr id="53" name="Text 51"/>
          <p:cNvSpPr/>
          <p:nvPr/>
        </p:nvSpPr>
        <p:spPr>
          <a:xfrm>
            <a:off x="10351008" y="5266944"/>
            <a:ext cx="960120" cy="219456"/>
          </a:xfrm>
          <a:prstGeom prst="rect">
            <a:avLst/>
          </a:prstGeom>
          <a:noFill/>
          <a:ln/>
        </p:spPr>
        <p:txBody>
          <a:bodyPr wrap="square" lIns="0" tIns="0" rIns="0" bIns="0" rtlCol="0" anchor="ctr"/>
          <a:lstStyle/>
          <a:p>
            <a:pPr marL="0" indent="0" algn="r">
              <a:buNone/>
            </a:pPr>
            <a:r>
              <a:rPr lang="en-US" sz="850" dirty="0">
                <a:solidFill>
                  <a:srgbClr val="B8621B"/>
                </a:solidFill>
                <a:latin typeface="Calibri" pitchFamily="34" charset="0"/>
                <a:ea typeface="Calibri" pitchFamily="34" charset="-122"/>
                <a:cs typeface="Calibri" pitchFamily="34" charset="-120"/>
              </a:rPr>
              <a:t>TypeScript</a:t>
            </a:r>
            <a:endParaRPr lang="en-US" sz="850" dirty="0"/>
          </a:p>
        </p:txBody>
      </p:sp>
      <p:sp>
        <p:nvSpPr>
          <p:cNvPr id="54" name="Text 52"/>
          <p:cNvSpPr/>
          <p:nvPr/>
        </p:nvSpPr>
        <p:spPr>
          <a:xfrm>
            <a:off x="640080" y="6309360"/>
            <a:ext cx="10881360" cy="292608"/>
          </a:xfrm>
          <a:prstGeom prst="rect">
            <a:avLst/>
          </a:prstGeom>
          <a:noFill/>
          <a:ln/>
        </p:spPr>
        <p:txBody>
          <a:bodyPr wrap="square" lIns="0" tIns="0" rIns="0" bIns="0" rtlCol="0" anchor="ctr"/>
          <a:lstStyle/>
          <a:p>
            <a:pPr marL="0" indent="0">
              <a:buNone/>
            </a:pPr>
            <a:r>
              <a:rPr lang="en-US" sz="1150" i="1" dirty="0">
                <a:solidFill>
                  <a:srgbClr val="6E7781"/>
                </a:solidFill>
                <a:latin typeface="Calibri" pitchFamily="34" charset="0"/>
                <a:ea typeface="Calibri" pitchFamily="34" charset="-122"/>
                <a:cs typeface="Calibri" pitchFamily="34" charset="-120"/>
              </a:rPr>
              <a:t>Ten minutes: 00, then 04, then 03. That is the plan; everything else is the working.</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5"/>
        </a:solidFill>
        <a:effectLst/>
      </p:bgPr>
    </p:bg>
    <p:spTree>
      <p:nvGrpSpPr>
        <p:cNvPr id="1" name=""/>
        <p:cNvGrpSpPr/>
        <p:nvPr/>
      </p:nvGrpSpPr>
      <p:grpSpPr>
        <a:xfrm>
          <a:off x="0" y="0"/>
          <a:ext cx="0" cy="0"/>
          <a:chOff x="0" y="0"/>
          <a:chExt cx="0" cy="0"/>
        </a:xfrm>
      </p:grpSpPr>
      <p:sp>
        <p:nvSpPr>
          <p:cNvPr id="2" name="Shape 0"/>
          <p:cNvSpPr/>
          <p:nvPr/>
        </p:nvSpPr>
        <p:spPr>
          <a:xfrm>
            <a:off x="640080" y="384048"/>
            <a:ext cx="384048" cy="384048"/>
          </a:xfrm>
          <a:prstGeom prst="rect">
            <a:avLst/>
          </a:prstGeom>
          <a:solidFill>
            <a:srgbClr val="B8621B"/>
          </a:solidFill>
          <a:ln/>
        </p:spPr>
        <p:txBody>
          <a:bodyPr/>
          <a:lstStyle/>
          <a:p>
            <a:endParaRPr lang="en-US"/>
          </a:p>
        </p:txBody>
      </p:sp>
      <p:sp>
        <p:nvSpPr>
          <p:cNvPr id="3" name="Text 1"/>
          <p:cNvSpPr/>
          <p:nvPr/>
        </p:nvSpPr>
        <p:spPr>
          <a:xfrm>
            <a:off x="640080" y="384048"/>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p:nvPr/>
        </p:nvSpPr>
        <p:spPr>
          <a:xfrm>
            <a:off x="1207008" y="329184"/>
            <a:ext cx="10314432" cy="530352"/>
          </a:xfrm>
          <a:prstGeom prst="rect">
            <a:avLst/>
          </a:prstGeom>
          <a:noFill/>
          <a:ln/>
        </p:spPr>
        <p:txBody>
          <a:bodyPr wrap="square" lIns="0" tIns="0" rIns="0" bIns="0" rtlCol="0" anchor="ctr"/>
          <a:lstStyle/>
          <a:p>
            <a:pPr marL="0" indent="0">
              <a:buNone/>
            </a:pPr>
            <a:r>
              <a:rPr lang="en-US" sz="3000" b="1" dirty="0">
                <a:solidFill>
                  <a:srgbClr val="1C1F26"/>
                </a:solidFill>
                <a:latin typeface="Cambria" pitchFamily="34" charset="0"/>
                <a:ea typeface="Cambria" pitchFamily="34" charset="-122"/>
                <a:cs typeface="Cambria" pitchFamily="34" charset="-120"/>
              </a:rPr>
              <a:t>Two chains not traced</a:t>
            </a:r>
            <a:endParaRPr lang="en-US" sz="3000" dirty="0"/>
          </a:p>
        </p:txBody>
      </p:sp>
      <p:sp>
        <p:nvSpPr>
          <p:cNvPr id="5" name="Text 3"/>
          <p:cNvSpPr/>
          <p:nvPr/>
        </p:nvSpPr>
        <p:spPr>
          <a:xfrm>
            <a:off x="640080" y="969264"/>
            <a:ext cx="10881360" cy="310896"/>
          </a:xfrm>
          <a:prstGeom prst="rect">
            <a:avLst/>
          </a:prstGeom>
          <a:noFill/>
          <a:ln/>
        </p:spPr>
        <p:txBody>
          <a:bodyPr wrap="square" lIns="0" tIns="0" rIns="0" bIns="0" rtlCol="0" anchor="ctr"/>
          <a:lstStyle/>
          <a:p>
            <a:pPr marL="0" indent="0">
              <a:buNone/>
            </a:pPr>
            <a:r>
              <a:rPr lang="en-US" sz="1400" i="1" dirty="0">
                <a:solidFill>
                  <a:srgbClr val="6E7781"/>
                </a:solidFill>
                <a:latin typeface="Calibri" pitchFamily="34" charset="0"/>
                <a:ea typeface="Calibri" pitchFamily="34" charset="-122"/>
                <a:cs typeface="Calibri" pitchFamily="34" charset="-120"/>
              </a:rPr>
              <a:t>Both were under-costed, by different people, and they converge on one event.</a:t>
            </a:r>
            <a:endParaRPr lang="en-US" sz="1400" dirty="0"/>
          </a:p>
        </p:txBody>
      </p:sp>
      <p:sp>
        <p:nvSpPr>
          <p:cNvPr id="6" name="Text 4"/>
          <p:cNvSpPr/>
          <p:nvPr/>
        </p:nvSpPr>
        <p:spPr>
          <a:xfrm>
            <a:off x="640080" y="1298448"/>
            <a:ext cx="4572000" cy="237744"/>
          </a:xfrm>
          <a:prstGeom prst="rect">
            <a:avLst/>
          </a:prstGeom>
          <a:noFill/>
          <a:ln/>
        </p:spPr>
        <p:txBody>
          <a:bodyPr wrap="square" lIns="0" tIns="0" rIns="0" bIns="0" rtlCol="0" anchor="ctr"/>
          <a:lstStyle/>
          <a:p>
            <a:pPr marL="0" indent="0">
              <a:buNone/>
            </a:pPr>
            <a:r>
              <a:rPr lang="en-US" sz="1050" b="1" kern="0" spc="120" dirty="0">
                <a:solidFill>
                  <a:srgbClr val="6E7781"/>
                </a:solidFill>
                <a:latin typeface="Calibri" pitchFamily="34" charset="0"/>
                <a:ea typeface="Calibri" pitchFamily="34" charset="-122"/>
                <a:cs typeface="Calibri" pitchFamily="34" charset="-120"/>
              </a:rPr>
              <a:t>SOFTWARE CHAIN</a:t>
            </a:r>
            <a:endParaRPr lang="en-US" sz="1050" dirty="0"/>
          </a:p>
        </p:txBody>
      </p:sp>
      <p:sp>
        <p:nvSpPr>
          <p:cNvPr id="7" name="Shape 5"/>
          <p:cNvSpPr/>
          <p:nvPr/>
        </p:nvSpPr>
        <p:spPr>
          <a:xfrm>
            <a:off x="822960" y="1591056"/>
            <a:ext cx="1508760" cy="402336"/>
          </a:xfrm>
          <a:prstGeom prst="rect">
            <a:avLst/>
          </a:prstGeom>
          <a:solidFill>
            <a:srgbClr val="A32020"/>
          </a:solidFill>
          <a:ln/>
        </p:spPr>
        <p:txBody>
          <a:bodyPr/>
          <a:lstStyle/>
          <a:p>
            <a:endParaRPr lang="en-US"/>
          </a:p>
        </p:txBody>
      </p:sp>
      <p:sp>
        <p:nvSpPr>
          <p:cNvPr id="8" name="Text 6"/>
          <p:cNvSpPr/>
          <p:nvPr/>
        </p:nvSpPr>
        <p:spPr>
          <a:xfrm>
            <a:off x="877824" y="1591056"/>
            <a:ext cx="1399032" cy="402336"/>
          </a:xfrm>
          <a:prstGeom prst="rect">
            <a:avLst/>
          </a:prstGeom>
          <a:noFill/>
          <a:ln/>
        </p:spPr>
        <p:txBody>
          <a:bodyPr wrap="square" lIns="0" tIns="0" rIns="0" bIns="0" rtlCol="0" anchor="ctr"/>
          <a:lstStyle/>
          <a:p>
            <a:pPr marL="0" indent="0">
              <a:buNone/>
            </a:pPr>
            <a:r>
              <a:rPr lang="en-US" sz="1050" dirty="0">
                <a:solidFill>
                  <a:srgbClr val="FFFFFF"/>
                </a:solidFill>
                <a:latin typeface="Calibri" pitchFamily="34" charset="0"/>
                <a:ea typeface="Calibri" pitchFamily="34" charset="-122"/>
                <a:cs typeface="Calibri" pitchFamily="34" charset="-120"/>
              </a:rPr>
              <a:t>a2  e-stop logging</a:t>
            </a:r>
            <a:endParaRPr lang="en-US" sz="1050" dirty="0"/>
          </a:p>
        </p:txBody>
      </p:sp>
      <p:sp>
        <p:nvSpPr>
          <p:cNvPr id="9" name="Shape 7"/>
          <p:cNvSpPr/>
          <p:nvPr/>
        </p:nvSpPr>
        <p:spPr>
          <a:xfrm>
            <a:off x="2331720" y="1591056"/>
            <a:ext cx="1508760" cy="402336"/>
          </a:xfrm>
          <a:prstGeom prst="rect">
            <a:avLst/>
          </a:prstGeom>
          <a:solidFill>
            <a:srgbClr val="A32020"/>
          </a:solidFill>
          <a:ln/>
        </p:spPr>
        <p:txBody>
          <a:bodyPr/>
          <a:lstStyle/>
          <a:p>
            <a:endParaRPr lang="en-US"/>
          </a:p>
        </p:txBody>
      </p:sp>
      <p:sp>
        <p:nvSpPr>
          <p:cNvPr id="10" name="Text 8"/>
          <p:cNvSpPr/>
          <p:nvPr/>
        </p:nvSpPr>
        <p:spPr>
          <a:xfrm>
            <a:off x="2386584" y="1591056"/>
            <a:ext cx="1399032" cy="402336"/>
          </a:xfrm>
          <a:prstGeom prst="rect">
            <a:avLst/>
          </a:prstGeom>
          <a:noFill/>
          <a:ln/>
        </p:spPr>
        <p:txBody>
          <a:bodyPr wrap="square" lIns="0" tIns="0" rIns="0" bIns="0" rtlCol="0" anchor="ctr"/>
          <a:lstStyle/>
          <a:p>
            <a:pPr marL="0" indent="0">
              <a:buNone/>
            </a:pPr>
            <a:r>
              <a:rPr lang="en-US" sz="1050" dirty="0">
                <a:solidFill>
                  <a:srgbClr val="FFFFFF"/>
                </a:solidFill>
                <a:latin typeface="Calibri" pitchFamily="34" charset="0"/>
                <a:ea typeface="Calibri" pitchFamily="34" charset="-122"/>
                <a:cs typeface="Calibri" pitchFamily="34" charset="-120"/>
              </a:rPr>
              <a:t>a3  stop response</a:t>
            </a:r>
            <a:endParaRPr lang="en-US" sz="1050" dirty="0"/>
          </a:p>
        </p:txBody>
      </p:sp>
      <p:sp>
        <p:nvSpPr>
          <p:cNvPr id="11" name="Shape 9"/>
          <p:cNvSpPr/>
          <p:nvPr/>
        </p:nvSpPr>
        <p:spPr>
          <a:xfrm>
            <a:off x="3840480" y="1591056"/>
            <a:ext cx="2011680" cy="402336"/>
          </a:xfrm>
          <a:prstGeom prst="rect">
            <a:avLst/>
          </a:prstGeom>
          <a:solidFill>
            <a:srgbClr val="C9C2B6"/>
          </a:solidFill>
          <a:ln/>
        </p:spPr>
        <p:txBody>
          <a:bodyPr/>
          <a:lstStyle/>
          <a:p>
            <a:endParaRPr lang="en-US"/>
          </a:p>
        </p:txBody>
      </p:sp>
      <p:sp>
        <p:nvSpPr>
          <p:cNvPr id="12" name="Text 10"/>
          <p:cNvSpPr/>
          <p:nvPr/>
        </p:nvSpPr>
        <p:spPr>
          <a:xfrm>
            <a:off x="3895344" y="1591056"/>
            <a:ext cx="1901952" cy="402336"/>
          </a:xfrm>
          <a:prstGeom prst="rect">
            <a:avLst/>
          </a:prstGeom>
          <a:noFill/>
          <a:ln/>
        </p:spPr>
        <p:txBody>
          <a:bodyPr wrap="square" lIns="0" tIns="0" rIns="0" bIns="0" rtlCol="0" anchor="ctr"/>
          <a:lstStyle/>
          <a:p>
            <a:pPr marL="0" indent="0">
              <a:buNone/>
            </a:pPr>
            <a:r>
              <a:rPr lang="en-US" sz="1050" dirty="0">
                <a:solidFill>
                  <a:srgbClr val="1C1F26"/>
                </a:solidFill>
                <a:latin typeface="Calibri" pitchFamily="34" charset="0"/>
                <a:ea typeface="Calibri" pitchFamily="34" charset="-122"/>
                <a:cs typeface="Calibri" pitchFamily="34" charset="-120"/>
              </a:rPr>
              <a:t>float — 9 days reserve</a:t>
            </a:r>
            <a:endParaRPr lang="en-US" sz="1050" dirty="0"/>
          </a:p>
        </p:txBody>
      </p:sp>
      <p:sp>
        <p:nvSpPr>
          <p:cNvPr id="13" name="Text 11"/>
          <p:cNvSpPr/>
          <p:nvPr/>
        </p:nvSpPr>
        <p:spPr>
          <a:xfrm>
            <a:off x="640080" y="2157984"/>
            <a:ext cx="4572000" cy="237744"/>
          </a:xfrm>
          <a:prstGeom prst="rect">
            <a:avLst/>
          </a:prstGeom>
          <a:noFill/>
          <a:ln/>
        </p:spPr>
        <p:txBody>
          <a:bodyPr wrap="square" lIns="0" tIns="0" rIns="0" bIns="0" rtlCol="0" anchor="ctr"/>
          <a:lstStyle/>
          <a:p>
            <a:pPr marL="0" indent="0">
              <a:buNone/>
            </a:pPr>
            <a:r>
              <a:rPr lang="en-US" sz="1050" b="1" kern="0" spc="120" dirty="0">
                <a:solidFill>
                  <a:srgbClr val="6E7781"/>
                </a:solidFill>
                <a:latin typeface="Calibri" pitchFamily="34" charset="0"/>
                <a:ea typeface="Calibri" pitchFamily="34" charset="-122"/>
                <a:cs typeface="Calibri" pitchFamily="34" charset="-120"/>
              </a:rPr>
              <a:t>FIRMWARE CHAIN — binding</a:t>
            </a:r>
            <a:endParaRPr lang="en-US" sz="1050" dirty="0"/>
          </a:p>
        </p:txBody>
      </p:sp>
      <p:sp>
        <p:nvSpPr>
          <p:cNvPr id="14" name="Shape 12"/>
          <p:cNvSpPr/>
          <p:nvPr/>
        </p:nvSpPr>
        <p:spPr>
          <a:xfrm>
            <a:off x="3337560" y="2450592"/>
            <a:ext cx="1257300" cy="402336"/>
          </a:xfrm>
          <a:prstGeom prst="rect">
            <a:avLst/>
          </a:prstGeom>
          <a:solidFill>
            <a:srgbClr val="B8621B"/>
          </a:solidFill>
          <a:ln/>
        </p:spPr>
        <p:txBody>
          <a:bodyPr/>
          <a:lstStyle/>
          <a:p>
            <a:endParaRPr lang="en-US"/>
          </a:p>
        </p:txBody>
      </p:sp>
      <p:sp>
        <p:nvSpPr>
          <p:cNvPr id="15" name="Text 13"/>
          <p:cNvSpPr/>
          <p:nvPr/>
        </p:nvSpPr>
        <p:spPr>
          <a:xfrm>
            <a:off x="3392424" y="2450592"/>
            <a:ext cx="1147572" cy="402336"/>
          </a:xfrm>
          <a:prstGeom prst="rect">
            <a:avLst/>
          </a:prstGeom>
          <a:noFill/>
          <a:ln/>
        </p:spPr>
        <p:txBody>
          <a:bodyPr wrap="square" lIns="0" tIns="0" rIns="0" bIns="0" rtlCol="0" anchor="ctr"/>
          <a:lstStyle/>
          <a:p>
            <a:pPr marL="0" indent="0">
              <a:buNone/>
            </a:pPr>
            <a:r>
              <a:rPr lang="en-US" sz="1050" dirty="0">
                <a:solidFill>
                  <a:srgbClr val="FFFFFF"/>
                </a:solidFill>
                <a:latin typeface="Calibri" pitchFamily="34" charset="0"/>
                <a:ea typeface="Calibri" pitchFamily="34" charset="-122"/>
                <a:cs typeface="Calibri" pitchFamily="34" charset="-120"/>
              </a:rPr>
              <a:t>v4.2a  stop path</a:t>
            </a:r>
            <a:endParaRPr lang="en-US" sz="1050" dirty="0"/>
          </a:p>
        </p:txBody>
      </p:sp>
      <p:sp>
        <p:nvSpPr>
          <p:cNvPr id="16" name="Shape 14"/>
          <p:cNvSpPr/>
          <p:nvPr/>
        </p:nvSpPr>
        <p:spPr>
          <a:xfrm>
            <a:off x="4594860" y="2450592"/>
            <a:ext cx="628650" cy="402336"/>
          </a:xfrm>
          <a:prstGeom prst="rect">
            <a:avLst/>
          </a:prstGeom>
          <a:solidFill>
            <a:srgbClr val="B8621B"/>
          </a:solidFill>
          <a:ln/>
        </p:spPr>
        <p:txBody>
          <a:bodyPr/>
          <a:lstStyle/>
          <a:p>
            <a:endParaRPr lang="en-US"/>
          </a:p>
        </p:txBody>
      </p:sp>
      <p:sp>
        <p:nvSpPr>
          <p:cNvPr id="17" name="Text 15"/>
          <p:cNvSpPr/>
          <p:nvPr/>
        </p:nvSpPr>
        <p:spPr>
          <a:xfrm>
            <a:off x="4649724" y="2450592"/>
            <a:ext cx="518922" cy="402336"/>
          </a:xfrm>
          <a:prstGeom prst="rect">
            <a:avLst/>
          </a:prstGeom>
          <a:noFill/>
          <a:ln/>
        </p:spPr>
        <p:txBody>
          <a:bodyPr wrap="square" lIns="0" tIns="0" rIns="0" bIns="0" rtlCol="0" anchor="ctr"/>
          <a:lstStyle/>
          <a:p>
            <a:pPr marL="0" indent="0">
              <a:buNone/>
            </a:pPr>
            <a:r>
              <a:rPr lang="en-US" sz="1050" dirty="0">
                <a:solidFill>
                  <a:srgbClr val="FFFFFF"/>
                </a:solidFill>
                <a:latin typeface="Calibri" pitchFamily="34" charset="0"/>
                <a:ea typeface="Calibri" pitchFamily="34" charset="-122"/>
                <a:cs typeface="Calibri" pitchFamily="34" charset="-120"/>
              </a:rPr>
              <a:t>bench</a:t>
            </a:r>
            <a:endParaRPr lang="en-US" sz="1050" dirty="0"/>
          </a:p>
        </p:txBody>
      </p:sp>
      <p:sp>
        <p:nvSpPr>
          <p:cNvPr id="18" name="Shape 16"/>
          <p:cNvSpPr/>
          <p:nvPr/>
        </p:nvSpPr>
        <p:spPr>
          <a:xfrm>
            <a:off x="5223510" y="2450592"/>
            <a:ext cx="628650" cy="402336"/>
          </a:xfrm>
          <a:prstGeom prst="rect">
            <a:avLst/>
          </a:prstGeom>
          <a:solidFill>
            <a:srgbClr val="B8621B"/>
          </a:solidFill>
          <a:ln/>
        </p:spPr>
        <p:txBody>
          <a:bodyPr/>
          <a:lstStyle/>
          <a:p>
            <a:endParaRPr lang="en-US"/>
          </a:p>
        </p:txBody>
      </p:sp>
      <p:sp>
        <p:nvSpPr>
          <p:cNvPr id="19" name="Text 17"/>
          <p:cNvSpPr/>
          <p:nvPr/>
        </p:nvSpPr>
        <p:spPr>
          <a:xfrm>
            <a:off x="5278374" y="2450592"/>
            <a:ext cx="518922" cy="402336"/>
          </a:xfrm>
          <a:prstGeom prst="rect">
            <a:avLst/>
          </a:prstGeom>
          <a:noFill/>
          <a:ln/>
        </p:spPr>
        <p:txBody>
          <a:bodyPr wrap="square" lIns="0" tIns="0" rIns="0" bIns="0" rtlCol="0" anchor="ctr"/>
          <a:lstStyle/>
          <a:p>
            <a:pPr marL="0" indent="0">
              <a:buNone/>
            </a:pPr>
            <a:r>
              <a:rPr lang="en-US" sz="1050" dirty="0">
                <a:solidFill>
                  <a:srgbClr val="FFFFFF"/>
                </a:solidFill>
                <a:latin typeface="Calibri" pitchFamily="34" charset="0"/>
                <a:ea typeface="Calibri" pitchFamily="34" charset="-122"/>
                <a:cs typeface="Calibri" pitchFamily="34" charset="-120"/>
              </a:rPr>
              <a:t>deploy</a:t>
            </a:r>
            <a:endParaRPr lang="en-US" sz="1050" dirty="0"/>
          </a:p>
        </p:txBody>
      </p:sp>
      <p:sp>
        <p:nvSpPr>
          <p:cNvPr id="20" name="Text 18"/>
          <p:cNvSpPr/>
          <p:nvPr/>
        </p:nvSpPr>
        <p:spPr>
          <a:xfrm>
            <a:off x="640080" y="3017520"/>
            <a:ext cx="4572000" cy="237744"/>
          </a:xfrm>
          <a:prstGeom prst="rect">
            <a:avLst/>
          </a:prstGeom>
          <a:noFill/>
          <a:ln/>
        </p:spPr>
        <p:txBody>
          <a:bodyPr wrap="square" lIns="0" tIns="0" rIns="0" bIns="0" rtlCol="0" anchor="ctr"/>
          <a:lstStyle/>
          <a:p>
            <a:pPr marL="0" indent="0">
              <a:buNone/>
            </a:pPr>
            <a:r>
              <a:rPr lang="en-US" sz="1050" b="1" kern="0" spc="120" dirty="0">
                <a:solidFill>
                  <a:srgbClr val="6E7781"/>
                </a:solidFill>
                <a:latin typeface="Calibri" pitchFamily="34" charset="0"/>
                <a:ea typeface="Calibri" pitchFamily="34" charset="-122"/>
                <a:cs typeface="Calibri" pitchFamily="34" charset="-120"/>
              </a:rPr>
              <a:t>THE GATE</a:t>
            </a:r>
            <a:endParaRPr lang="en-US" sz="1050" dirty="0"/>
          </a:p>
        </p:txBody>
      </p:sp>
      <p:sp>
        <p:nvSpPr>
          <p:cNvPr id="21" name="Shape 19"/>
          <p:cNvSpPr/>
          <p:nvPr/>
        </p:nvSpPr>
        <p:spPr>
          <a:xfrm>
            <a:off x="5852160" y="3310128"/>
            <a:ext cx="1257300" cy="402336"/>
          </a:xfrm>
          <a:prstGeom prst="rect">
            <a:avLst/>
          </a:prstGeom>
          <a:solidFill>
            <a:srgbClr val="A32020"/>
          </a:solidFill>
          <a:ln/>
        </p:spPr>
        <p:txBody>
          <a:bodyPr/>
          <a:lstStyle/>
          <a:p>
            <a:endParaRPr lang="en-US"/>
          </a:p>
        </p:txBody>
      </p:sp>
      <p:sp>
        <p:nvSpPr>
          <p:cNvPr id="22" name="Text 20"/>
          <p:cNvSpPr/>
          <p:nvPr/>
        </p:nvSpPr>
        <p:spPr>
          <a:xfrm>
            <a:off x="5907024" y="3310128"/>
            <a:ext cx="1147572" cy="402336"/>
          </a:xfrm>
          <a:prstGeom prst="rect">
            <a:avLst/>
          </a:prstGeom>
          <a:noFill/>
          <a:ln/>
        </p:spPr>
        <p:txBody>
          <a:bodyPr wrap="square" lIns="0" tIns="0" rIns="0" bIns="0" rtlCol="0" anchor="ctr"/>
          <a:lstStyle/>
          <a:p>
            <a:pPr marL="0" indent="0">
              <a:buNone/>
            </a:pPr>
            <a:r>
              <a:rPr lang="en-US" sz="1050" dirty="0">
                <a:solidFill>
                  <a:srgbClr val="FFFFFF"/>
                </a:solidFill>
                <a:latin typeface="Calibri" pitchFamily="34" charset="0"/>
                <a:ea typeface="Calibri" pitchFamily="34" charset="-122"/>
                <a:cs typeface="Calibri" pitchFamily="34" charset="-120"/>
              </a:rPr>
              <a:t>a5  cell re-test</a:t>
            </a:r>
            <a:endParaRPr lang="en-US" sz="1050" dirty="0"/>
          </a:p>
        </p:txBody>
      </p:sp>
      <p:sp>
        <p:nvSpPr>
          <p:cNvPr id="23" name="Shape 21"/>
          <p:cNvSpPr/>
          <p:nvPr/>
        </p:nvSpPr>
        <p:spPr>
          <a:xfrm>
            <a:off x="7360920" y="3310128"/>
            <a:ext cx="2514600" cy="402336"/>
          </a:xfrm>
          <a:prstGeom prst="rect">
            <a:avLst/>
          </a:prstGeom>
          <a:solidFill>
            <a:srgbClr val="1C1F26"/>
          </a:solidFill>
          <a:ln/>
        </p:spPr>
        <p:txBody>
          <a:bodyPr/>
          <a:lstStyle/>
          <a:p>
            <a:endParaRPr lang="en-US"/>
          </a:p>
        </p:txBody>
      </p:sp>
      <p:sp>
        <p:nvSpPr>
          <p:cNvPr id="24" name="Text 22"/>
          <p:cNvSpPr/>
          <p:nvPr/>
        </p:nvSpPr>
        <p:spPr>
          <a:xfrm>
            <a:off x="7415784" y="3310128"/>
            <a:ext cx="2404872" cy="402336"/>
          </a:xfrm>
          <a:prstGeom prst="rect">
            <a:avLst/>
          </a:prstGeom>
          <a:noFill/>
          <a:ln/>
        </p:spPr>
        <p:txBody>
          <a:bodyPr wrap="square" lIns="0" tIns="0" rIns="0" bIns="0" rtlCol="0" anchor="ctr"/>
          <a:lstStyle/>
          <a:p>
            <a:pPr marL="0" indent="0">
              <a:buNone/>
            </a:pPr>
            <a:r>
              <a:rPr lang="en-US" sz="1050" dirty="0">
                <a:solidFill>
                  <a:srgbClr val="FFFFFF"/>
                </a:solidFill>
                <a:latin typeface="Calibri" pitchFamily="34" charset="0"/>
                <a:ea typeface="Calibri" pitchFamily="34" charset="-122"/>
                <a:cs typeface="Calibri" pitchFamily="34" charset="-120"/>
              </a:rPr>
              <a:t>a7  inspector — EXTERNAL, 10 working days</a:t>
            </a:r>
            <a:endParaRPr lang="en-US" sz="1050" dirty="0"/>
          </a:p>
        </p:txBody>
      </p:sp>
      <p:sp>
        <p:nvSpPr>
          <p:cNvPr id="25" name="Text 23"/>
          <p:cNvSpPr/>
          <p:nvPr/>
        </p:nvSpPr>
        <p:spPr>
          <a:xfrm>
            <a:off x="3017520" y="2011680"/>
            <a:ext cx="822960" cy="365760"/>
          </a:xfrm>
          <a:prstGeom prst="rect">
            <a:avLst/>
          </a:prstGeom>
          <a:noFill/>
          <a:ln/>
        </p:spPr>
        <p:txBody>
          <a:bodyPr wrap="square" lIns="0" tIns="0" rIns="0" bIns="0" rtlCol="0" anchor="ctr"/>
          <a:lstStyle/>
          <a:p>
            <a:pPr marL="0" indent="0" algn="ctr">
              <a:buNone/>
            </a:pPr>
            <a:r>
              <a:rPr lang="en-US" sz="900" dirty="0">
                <a:solidFill>
                  <a:srgbClr val="6E7781"/>
                </a:solidFill>
                <a:latin typeface="Calibri" pitchFamily="34" charset="0"/>
                <a:ea typeface="Calibri" pitchFamily="34" charset="-122"/>
                <a:cs typeface="Calibri" pitchFamily="34" charset="-120"/>
              </a:rPr>
              <a:t>boards</a:t>
            </a:r>
            <a:endParaRPr lang="en-US" sz="900" dirty="0"/>
          </a:p>
          <a:p>
            <a:pPr marL="0" indent="0" algn="ctr">
              <a:buNone/>
            </a:pPr>
            <a:r>
              <a:rPr lang="en-US" sz="900" dirty="0">
                <a:solidFill>
                  <a:srgbClr val="6E7781"/>
                </a:solidFill>
                <a:latin typeface="Calibri" pitchFamily="34" charset="0"/>
                <a:ea typeface="Calibri" pitchFamily="34" charset="-122"/>
                <a:cs typeface="Calibri" pitchFamily="34" charset="-120"/>
              </a:rPr>
              <a:t>arrive</a:t>
            </a:r>
            <a:endParaRPr lang="en-US" sz="900" dirty="0"/>
          </a:p>
        </p:txBody>
      </p:sp>
      <p:sp>
        <p:nvSpPr>
          <p:cNvPr id="26" name="Shape 24"/>
          <p:cNvSpPr/>
          <p:nvPr/>
        </p:nvSpPr>
        <p:spPr>
          <a:xfrm>
            <a:off x="7235190" y="1426464"/>
            <a:ext cx="22860" cy="2395728"/>
          </a:xfrm>
          <a:prstGeom prst="rect">
            <a:avLst/>
          </a:prstGeom>
          <a:solidFill>
            <a:srgbClr val="A32020"/>
          </a:solidFill>
          <a:ln/>
        </p:spPr>
        <p:txBody>
          <a:bodyPr/>
          <a:lstStyle/>
          <a:p>
            <a:endParaRPr lang="en-US"/>
          </a:p>
        </p:txBody>
      </p:sp>
      <p:sp>
        <p:nvSpPr>
          <p:cNvPr id="27" name="Text 25"/>
          <p:cNvSpPr/>
          <p:nvPr/>
        </p:nvSpPr>
        <p:spPr>
          <a:xfrm>
            <a:off x="6549390" y="3895344"/>
            <a:ext cx="1371600" cy="457200"/>
          </a:xfrm>
          <a:prstGeom prst="rect">
            <a:avLst/>
          </a:prstGeom>
          <a:noFill/>
          <a:ln/>
        </p:spPr>
        <p:txBody>
          <a:bodyPr wrap="square" lIns="0" tIns="0" rIns="0" bIns="0" rtlCol="0" anchor="ctr"/>
          <a:lstStyle/>
          <a:p>
            <a:pPr marL="0" indent="0" algn="ctr">
              <a:buNone/>
            </a:pPr>
            <a:r>
              <a:rPr lang="en-US" sz="950" b="1" dirty="0">
                <a:solidFill>
                  <a:srgbClr val="A32020"/>
                </a:solidFill>
                <a:latin typeface="Calibri" pitchFamily="34" charset="0"/>
                <a:ea typeface="Calibri" pitchFamily="34" charset="-122"/>
                <a:cs typeface="Calibri" pitchFamily="34" charset="-120"/>
              </a:rPr>
              <a:t>THE WALL</a:t>
            </a:r>
            <a:endParaRPr lang="en-US" sz="950" dirty="0"/>
          </a:p>
          <a:p>
            <a:pPr marL="0" indent="0" algn="ctr">
              <a:buNone/>
            </a:pPr>
            <a:r>
              <a:rPr lang="en-US" sz="950" b="1" dirty="0">
                <a:solidFill>
                  <a:srgbClr val="A32020"/>
                </a:solidFill>
                <a:latin typeface="Calibri" pitchFamily="34" charset="0"/>
                <a:ea typeface="Calibri" pitchFamily="34" charset="-122"/>
                <a:cs typeface="Calibri" pitchFamily="34" charset="-120"/>
              </a:rPr>
              <a:t>Wed 23 Sep</a:t>
            </a:r>
            <a:endParaRPr lang="en-US" sz="950" dirty="0"/>
          </a:p>
        </p:txBody>
      </p:sp>
      <p:sp>
        <p:nvSpPr>
          <p:cNvPr id="28" name="Shape 26"/>
          <p:cNvSpPr/>
          <p:nvPr/>
        </p:nvSpPr>
        <p:spPr>
          <a:xfrm>
            <a:off x="10755630" y="1426464"/>
            <a:ext cx="22860" cy="2395728"/>
          </a:xfrm>
          <a:prstGeom prst="rect">
            <a:avLst/>
          </a:prstGeom>
          <a:solidFill>
            <a:srgbClr val="1C1F26"/>
          </a:solidFill>
          <a:ln/>
        </p:spPr>
        <p:txBody>
          <a:bodyPr/>
          <a:lstStyle/>
          <a:p>
            <a:endParaRPr lang="en-US"/>
          </a:p>
        </p:txBody>
      </p:sp>
      <p:sp>
        <p:nvSpPr>
          <p:cNvPr id="29" name="Text 27"/>
          <p:cNvSpPr/>
          <p:nvPr/>
        </p:nvSpPr>
        <p:spPr>
          <a:xfrm>
            <a:off x="9932670" y="3895344"/>
            <a:ext cx="1371600" cy="457200"/>
          </a:xfrm>
          <a:prstGeom prst="rect">
            <a:avLst/>
          </a:prstGeom>
          <a:noFill/>
          <a:ln/>
        </p:spPr>
        <p:txBody>
          <a:bodyPr wrap="square" lIns="0" tIns="0" rIns="0" bIns="0" rtlCol="0" anchor="ctr"/>
          <a:lstStyle/>
          <a:p>
            <a:pPr marL="0" indent="0" algn="ctr">
              <a:buNone/>
            </a:pPr>
            <a:r>
              <a:rPr lang="en-US" sz="950" b="1" dirty="0">
                <a:solidFill>
                  <a:srgbClr val="1C1F26"/>
                </a:solidFill>
                <a:latin typeface="Calibri" pitchFamily="34" charset="0"/>
                <a:ea typeface="Calibri" pitchFamily="34" charset="-122"/>
                <a:cs typeface="Calibri" pitchFamily="34" charset="-120"/>
              </a:rPr>
              <a:t>DEMO</a:t>
            </a:r>
            <a:endParaRPr lang="en-US" sz="950" dirty="0"/>
          </a:p>
          <a:p>
            <a:pPr marL="0" indent="0" algn="ctr">
              <a:buNone/>
            </a:pPr>
            <a:r>
              <a:rPr lang="en-US" sz="950" b="1" dirty="0">
                <a:solidFill>
                  <a:srgbClr val="1C1F26"/>
                </a:solidFill>
                <a:latin typeface="Calibri" pitchFamily="34" charset="0"/>
                <a:ea typeface="Calibri" pitchFamily="34" charset="-122"/>
                <a:cs typeface="Calibri" pitchFamily="34" charset="-120"/>
              </a:rPr>
              <a:t>Mon 12 Oct</a:t>
            </a:r>
            <a:endParaRPr lang="en-US" sz="950" dirty="0"/>
          </a:p>
        </p:txBody>
      </p:sp>
      <p:sp>
        <p:nvSpPr>
          <p:cNvPr id="30" name="Shape 28"/>
          <p:cNvSpPr/>
          <p:nvPr/>
        </p:nvSpPr>
        <p:spPr>
          <a:xfrm>
            <a:off x="640080" y="4709160"/>
            <a:ext cx="5349240" cy="1371600"/>
          </a:xfrm>
          <a:prstGeom prst="rect">
            <a:avLst/>
          </a:prstGeom>
          <a:solidFill>
            <a:srgbClr val="FFFFFF"/>
          </a:solidFill>
          <a:ln w="12700">
            <a:solidFill>
              <a:srgbClr val="D8D2C9"/>
            </a:solidFill>
            <a:prstDash val="solid"/>
          </a:ln>
        </p:spPr>
        <p:txBody>
          <a:bodyPr/>
          <a:lstStyle/>
          <a:p>
            <a:endParaRPr lang="en-US"/>
          </a:p>
        </p:txBody>
      </p:sp>
      <p:sp>
        <p:nvSpPr>
          <p:cNvPr id="31" name="Text 29"/>
          <p:cNvSpPr/>
          <p:nvPr/>
        </p:nvSpPr>
        <p:spPr>
          <a:xfrm>
            <a:off x="859536" y="4864608"/>
            <a:ext cx="4937760" cy="384048"/>
          </a:xfrm>
          <a:prstGeom prst="rect">
            <a:avLst/>
          </a:prstGeom>
          <a:noFill/>
          <a:ln/>
        </p:spPr>
        <p:txBody>
          <a:bodyPr wrap="square" lIns="0" tIns="0" rIns="0" bIns="0" rtlCol="0" anchor="ctr"/>
          <a:lstStyle/>
          <a:p>
            <a:pPr marL="0" indent="0">
              <a:buNone/>
            </a:pPr>
            <a:r>
              <a:rPr lang="en-US" sz="1500" b="1" i="1" dirty="0">
                <a:solidFill>
                  <a:srgbClr val="1C1F26"/>
                </a:solidFill>
                <a:latin typeface="Cambria" pitchFamily="34" charset="0"/>
                <a:ea typeface="Cambria" pitchFamily="34" charset="-122"/>
                <a:cs typeface="Cambria" pitchFamily="34" charset="-120"/>
              </a:rPr>
              <a:t>"I don't think there's much in there."</a:t>
            </a:r>
            <a:endParaRPr lang="en-US" sz="1500" dirty="0"/>
          </a:p>
        </p:txBody>
      </p:sp>
      <p:sp>
        <p:nvSpPr>
          <p:cNvPr id="32" name="Text 30"/>
          <p:cNvSpPr/>
          <p:nvPr/>
        </p:nvSpPr>
        <p:spPr>
          <a:xfrm>
            <a:off x="859536" y="5285232"/>
            <a:ext cx="4937760" cy="658368"/>
          </a:xfrm>
          <a:prstGeom prst="rect">
            <a:avLst/>
          </a:prstGeom>
          <a:noFill/>
          <a:ln/>
        </p:spPr>
        <p:txBody>
          <a:bodyPr wrap="square" lIns="0" tIns="0" rIns="0" bIns="0" rtlCol="0" anchor="ctr"/>
          <a:lstStyle/>
          <a:p>
            <a:pPr marL="0" indent="0">
              <a:buNone/>
            </a:pPr>
            <a:r>
              <a:rPr lang="en-US" sz="1150" dirty="0">
                <a:solidFill>
                  <a:srgbClr val="6E7781"/>
                </a:solidFill>
                <a:latin typeface="Calibri" pitchFamily="34" charset="0"/>
                <a:ea typeface="Calibri" pitchFamily="34" charset="-122"/>
                <a:cs typeface="Calibri" pitchFamily="34" charset="-120"/>
              </a:rPr>
              <a:t>— CTO, on the site inspection actions. It is 24 working days with a 10-day external lead time on the end.</a:t>
            </a:r>
            <a:endParaRPr lang="en-US" sz="1150" dirty="0"/>
          </a:p>
        </p:txBody>
      </p:sp>
      <p:sp>
        <p:nvSpPr>
          <p:cNvPr id="33" name="Shape 31"/>
          <p:cNvSpPr/>
          <p:nvPr/>
        </p:nvSpPr>
        <p:spPr>
          <a:xfrm>
            <a:off x="6172200" y="4709160"/>
            <a:ext cx="5349240" cy="1371600"/>
          </a:xfrm>
          <a:prstGeom prst="rect">
            <a:avLst/>
          </a:prstGeom>
          <a:solidFill>
            <a:srgbClr val="FFFFFF"/>
          </a:solidFill>
          <a:ln w="12700">
            <a:solidFill>
              <a:srgbClr val="D8D2C9"/>
            </a:solidFill>
            <a:prstDash val="solid"/>
          </a:ln>
        </p:spPr>
        <p:txBody>
          <a:bodyPr/>
          <a:lstStyle/>
          <a:p>
            <a:endParaRPr lang="en-US"/>
          </a:p>
        </p:txBody>
      </p:sp>
      <p:sp>
        <p:nvSpPr>
          <p:cNvPr id="34" name="Text 32"/>
          <p:cNvSpPr/>
          <p:nvPr/>
        </p:nvSpPr>
        <p:spPr>
          <a:xfrm>
            <a:off x="6391656" y="4864608"/>
            <a:ext cx="4937760" cy="384048"/>
          </a:xfrm>
          <a:prstGeom prst="rect">
            <a:avLst/>
          </a:prstGeom>
          <a:noFill/>
          <a:ln/>
        </p:spPr>
        <p:txBody>
          <a:bodyPr wrap="square" lIns="0" tIns="0" rIns="0" bIns="0" rtlCol="0" anchor="ctr"/>
          <a:lstStyle/>
          <a:p>
            <a:pPr marL="0" indent="0">
              <a:buNone/>
            </a:pPr>
            <a:r>
              <a:rPr lang="en-US" sz="1500" b="1" i="1" dirty="0">
                <a:solidFill>
                  <a:srgbClr val="1C1F26"/>
                </a:solidFill>
                <a:latin typeface="Cambria" pitchFamily="34" charset="0"/>
                <a:ea typeface="Cambria" pitchFamily="34" charset="-122"/>
                <a:cs typeface="Cambria" pitchFamily="34" charset="-120"/>
              </a:rPr>
              <a:t>"Firmware is on the cell end of week 5."</a:t>
            </a:r>
            <a:endParaRPr lang="en-US" sz="1500" dirty="0"/>
          </a:p>
        </p:txBody>
      </p:sp>
      <p:sp>
        <p:nvSpPr>
          <p:cNvPr id="35" name="Text 33"/>
          <p:cNvSpPr/>
          <p:nvPr/>
        </p:nvSpPr>
        <p:spPr>
          <a:xfrm>
            <a:off x="6391656" y="5285232"/>
            <a:ext cx="4937760" cy="658368"/>
          </a:xfrm>
          <a:prstGeom prst="rect">
            <a:avLst/>
          </a:prstGeom>
          <a:noFill/>
          <a:ln/>
        </p:spPr>
        <p:txBody>
          <a:bodyPr wrap="square" lIns="0" tIns="0" rIns="0" bIns="0" rtlCol="0" anchor="ctr"/>
          <a:lstStyle/>
          <a:p>
            <a:pPr marL="0" indent="0">
              <a:buNone/>
            </a:pPr>
            <a:r>
              <a:rPr lang="en-US" sz="1150" dirty="0">
                <a:solidFill>
                  <a:srgbClr val="6E7781"/>
                </a:solidFill>
                <a:latin typeface="Calibri" pitchFamily="34" charset="0"/>
                <a:ea typeface="Calibri" pitchFamily="34" charset="-122"/>
                <a:cs typeface="Calibri" pitchFamily="34" charset="-120"/>
              </a:rPr>
              <a:t>— Chris, by email. His own attached plan (2.5w + 1.0w + 0.5w from week 3) says end of week 7.</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8F5"/>
        </a:solidFill>
        <a:effectLst/>
      </p:bgPr>
    </p:bg>
    <p:spTree>
      <p:nvGrpSpPr>
        <p:cNvPr id="1" name=""/>
        <p:cNvGrpSpPr/>
        <p:nvPr/>
      </p:nvGrpSpPr>
      <p:grpSpPr>
        <a:xfrm>
          <a:off x="0" y="0"/>
          <a:ext cx="0" cy="0"/>
          <a:chOff x="0" y="0"/>
          <a:chExt cx="0" cy="0"/>
        </a:xfrm>
      </p:grpSpPr>
      <p:sp>
        <p:nvSpPr>
          <p:cNvPr id="2" name="Shape 0"/>
          <p:cNvSpPr/>
          <p:nvPr/>
        </p:nvSpPr>
        <p:spPr>
          <a:xfrm>
            <a:off x="640080" y="384048"/>
            <a:ext cx="384048" cy="384048"/>
          </a:xfrm>
          <a:prstGeom prst="rect">
            <a:avLst/>
          </a:prstGeom>
          <a:solidFill>
            <a:srgbClr val="B8621B"/>
          </a:solidFill>
          <a:ln/>
        </p:spPr>
        <p:txBody>
          <a:bodyPr/>
          <a:lstStyle/>
          <a:p>
            <a:endParaRPr lang="en-US"/>
          </a:p>
        </p:txBody>
      </p:sp>
      <p:sp>
        <p:nvSpPr>
          <p:cNvPr id="3" name="Text 1"/>
          <p:cNvSpPr/>
          <p:nvPr/>
        </p:nvSpPr>
        <p:spPr>
          <a:xfrm>
            <a:off x="640080" y="384048"/>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4" name="Text 2"/>
          <p:cNvSpPr/>
          <p:nvPr/>
        </p:nvSpPr>
        <p:spPr>
          <a:xfrm>
            <a:off x="1207008" y="329184"/>
            <a:ext cx="10314432" cy="530352"/>
          </a:xfrm>
          <a:prstGeom prst="rect">
            <a:avLst/>
          </a:prstGeom>
          <a:noFill/>
          <a:ln/>
        </p:spPr>
        <p:txBody>
          <a:bodyPr wrap="square" lIns="0" tIns="0" rIns="0" bIns="0" rtlCol="0" anchor="ctr"/>
          <a:lstStyle/>
          <a:p>
            <a:pPr marL="0" indent="0">
              <a:buNone/>
            </a:pPr>
            <a:r>
              <a:rPr lang="en-US" sz="3000" b="1" dirty="0">
                <a:solidFill>
                  <a:srgbClr val="1C1F26"/>
                </a:solidFill>
                <a:latin typeface="Cambria" pitchFamily="34" charset="0"/>
                <a:ea typeface="Cambria" pitchFamily="34" charset="-122"/>
                <a:cs typeface="Cambria" pitchFamily="34" charset="-120"/>
              </a:rPr>
              <a:t>One question decides the shape</a:t>
            </a:r>
            <a:endParaRPr lang="en-US" sz="3000" dirty="0"/>
          </a:p>
        </p:txBody>
      </p:sp>
      <p:sp>
        <p:nvSpPr>
          <p:cNvPr id="5" name="Text 3"/>
          <p:cNvSpPr/>
          <p:nvPr/>
        </p:nvSpPr>
        <p:spPr>
          <a:xfrm>
            <a:off x="640080" y="969264"/>
            <a:ext cx="10881360" cy="310896"/>
          </a:xfrm>
          <a:prstGeom prst="rect">
            <a:avLst/>
          </a:prstGeom>
          <a:noFill/>
          <a:ln/>
        </p:spPr>
        <p:txBody>
          <a:bodyPr wrap="square" lIns="0" tIns="0" rIns="0" bIns="0" rtlCol="0" anchor="ctr"/>
          <a:lstStyle/>
          <a:p>
            <a:pPr marL="0" indent="0">
              <a:buNone/>
            </a:pPr>
            <a:r>
              <a:rPr lang="en-US" sz="1400" i="1" dirty="0">
                <a:solidFill>
                  <a:srgbClr val="6E7781"/>
                </a:solidFill>
                <a:latin typeface="Calibri" pitchFamily="34" charset="0"/>
                <a:ea typeface="Calibri" pitchFamily="34" charset="-122"/>
                <a:cs typeface="Calibri" pitchFamily="34" charset="-120"/>
              </a:rPr>
              <a:t>Asked in week one, before anyone has built anything. Not discovered in week six.</a:t>
            </a:r>
            <a:endParaRPr lang="en-US" sz="1400" dirty="0"/>
          </a:p>
        </p:txBody>
      </p:sp>
      <p:sp>
        <p:nvSpPr>
          <p:cNvPr id="6" name="Shape 4"/>
          <p:cNvSpPr/>
          <p:nvPr/>
        </p:nvSpPr>
        <p:spPr>
          <a:xfrm>
            <a:off x="640080" y="1371600"/>
            <a:ext cx="10881360" cy="1133856"/>
          </a:xfrm>
          <a:prstGeom prst="rect">
            <a:avLst/>
          </a:prstGeom>
          <a:solidFill>
            <a:srgbClr val="FFFFFF"/>
          </a:solidFill>
          <a:ln w="12700">
            <a:solidFill>
              <a:srgbClr val="B8621B"/>
            </a:solidFill>
            <a:prstDash val="solid"/>
          </a:ln>
        </p:spPr>
        <p:txBody>
          <a:bodyPr/>
          <a:lstStyle/>
          <a:p>
            <a:endParaRPr lang="en-US"/>
          </a:p>
        </p:txBody>
      </p:sp>
      <p:sp>
        <p:nvSpPr>
          <p:cNvPr id="7" name="Text 5"/>
          <p:cNvSpPr/>
          <p:nvPr/>
        </p:nvSpPr>
        <p:spPr>
          <a:xfrm>
            <a:off x="914400" y="1517904"/>
            <a:ext cx="10332720" cy="365760"/>
          </a:xfrm>
          <a:prstGeom prst="rect">
            <a:avLst/>
          </a:prstGeom>
          <a:noFill/>
          <a:ln/>
        </p:spPr>
        <p:txBody>
          <a:bodyPr wrap="square" lIns="0" tIns="0" rIns="0" bIns="0" rtlCol="0" anchor="ctr"/>
          <a:lstStyle/>
          <a:p>
            <a:pPr marL="0" indent="0">
              <a:buNone/>
            </a:pPr>
            <a:r>
              <a:rPr lang="en-US" sz="1400" b="1" dirty="0">
                <a:solidFill>
                  <a:srgbClr val="B8621B"/>
                </a:solidFill>
                <a:latin typeface="Calibri" pitchFamily="34" charset="0"/>
                <a:ea typeface="Calibri" pitchFamily="34" charset="-122"/>
                <a:cs typeface="Calibri" pitchFamily="34" charset="-120"/>
              </a:rPr>
              <a:t>Q-A  </a:t>
            </a:r>
            <a:r>
              <a:rPr lang="en-US" sz="1400" dirty="0">
                <a:solidFill>
                  <a:srgbClr val="1C1F26"/>
                </a:solidFill>
                <a:latin typeface="Calibri" pitchFamily="34" charset="0"/>
                <a:ea typeface="Calibri" pitchFamily="34" charset="-122"/>
                <a:cs typeface="Calibri" pitchFamily="34" charset="-120"/>
              </a:rPr>
              <a:t>Can v4.2 split so the stop path ships first and observability ships after sign-off?</a:t>
            </a:r>
            <a:endParaRPr lang="en-US" sz="1400" dirty="0"/>
          </a:p>
        </p:txBody>
      </p:sp>
      <p:sp>
        <p:nvSpPr>
          <p:cNvPr id="8" name="Text 6"/>
          <p:cNvSpPr/>
          <p:nvPr/>
        </p:nvSpPr>
        <p:spPr>
          <a:xfrm>
            <a:off x="914400" y="1883664"/>
            <a:ext cx="10332720" cy="365760"/>
          </a:xfrm>
          <a:prstGeom prst="rect">
            <a:avLst/>
          </a:prstGeom>
          <a:noFill/>
          <a:ln/>
        </p:spPr>
        <p:txBody>
          <a:bodyPr wrap="square" lIns="0" tIns="0" rIns="0" bIns="0" rtlCol="0" anchor="ctr"/>
          <a:lstStyle/>
          <a:p>
            <a:pPr marL="0" indent="0">
              <a:buNone/>
            </a:pPr>
            <a:r>
              <a:rPr lang="en-US" sz="1400" b="1" dirty="0">
                <a:solidFill>
                  <a:srgbClr val="B8621B"/>
                </a:solidFill>
                <a:latin typeface="Calibri" pitchFamily="34" charset="0"/>
                <a:ea typeface="Calibri" pitchFamily="34" charset="-122"/>
                <a:cs typeface="Calibri" pitchFamily="34" charset="-120"/>
              </a:rPr>
              <a:t>Q-B  </a:t>
            </a:r>
            <a:r>
              <a:rPr lang="en-US" sz="1400" dirty="0">
                <a:solidFill>
                  <a:srgbClr val="1C1F26"/>
                </a:solidFill>
                <a:latin typeface="Calibri" pitchFamily="34" charset="0"/>
                <a:ea typeface="Calibri" pitchFamily="34" charset="-122"/>
                <a:cs typeface="Calibri" pitchFamily="34" charset="-120"/>
              </a:rPr>
              <a:t>Can the run-event stream ride in the early half without extending its build?</a:t>
            </a:r>
            <a:endParaRPr lang="en-US" sz="1400" dirty="0"/>
          </a:p>
        </p:txBody>
      </p:sp>
      <p:sp>
        <p:nvSpPr>
          <p:cNvPr id="9" name="Text 7"/>
          <p:cNvSpPr/>
          <p:nvPr/>
        </p:nvSpPr>
        <p:spPr>
          <a:xfrm>
            <a:off x="914400" y="2212848"/>
            <a:ext cx="10332720" cy="274320"/>
          </a:xfrm>
          <a:prstGeom prst="rect">
            <a:avLst/>
          </a:prstGeom>
          <a:noFill/>
          <a:ln/>
        </p:spPr>
        <p:txBody>
          <a:bodyPr wrap="square" lIns="0" tIns="0" rIns="0" bIns="0" rtlCol="0" anchor="ctr"/>
          <a:lstStyle/>
          <a:p>
            <a:pPr marL="0" indent="0">
              <a:buNone/>
            </a:pPr>
            <a:r>
              <a:rPr lang="en-US" sz="1150" i="1" dirty="0">
                <a:solidFill>
                  <a:srgbClr val="6E7781"/>
                </a:solidFill>
                <a:latin typeface="Calibri" pitchFamily="34" charset="0"/>
                <a:ea typeface="Calibri" pitchFamily="34" charset="-122"/>
                <a:cs typeface="Calibri" pitchFamily="34" charset="-120"/>
              </a:rPr>
              <a:t>Q-A asks whether the split is possible. Q-B asks whether it is worth having.</a:t>
            </a:r>
            <a:endParaRPr lang="en-US" sz="1150" dirty="0"/>
          </a:p>
        </p:txBody>
      </p:sp>
      <p:sp>
        <p:nvSpPr>
          <p:cNvPr id="10" name="Shape 8"/>
          <p:cNvSpPr/>
          <p:nvPr/>
        </p:nvSpPr>
        <p:spPr>
          <a:xfrm>
            <a:off x="640080" y="2724912"/>
            <a:ext cx="5349240" cy="2487168"/>
          </a:xfrm>
          <a:prstGeom prst="rect">
            <a:avLst/>
          </a:prstGeom>
          <a:solidFill>
            <a:srgbClr val="FFFFFF"/>
          </a:solidFill>
          <a:ln w="12700">
            <a:solidFill>
              <a:srgbClr val="D8D2C9"/>
            </a:solidFill>
            <a:prstDash val="solid"/>
          </a:ln>
        </p:spPr>
        <p:txBody>
          <a:bodyPr/>
          <a:lstStyle/>
          <a:p>
            <a:endParaRPr lang="en-US"/>
          </a:p>
        </p:txBody>
      </p:sp>
      <p:sp>
        <p:nvSpPr>
          <p:cNvPr id="11" name="Shape 9"/>
          <p:cNvSpPr/>
          <p:nvPr/>
        </p:nvSpPr>
        <p:spPr>
          <a:xfrm>
            <a:off x="640080" y="2724912"/>
            <a:ext cx="5349240" cy="420624"/>
          </a:xfrm>
          <a:prstGeom prst="rect">
            <a:avLst/>
          </a:prstGeom>
          <a:solidFill>
            <a:srgbClr val="B8621B"/>
          </a:solidFill>
          <a:ln/>
        </p:spPr>
        <p:txBody>
          <a:bodyPr/>
          <a:lstStyle/>
          <a:p>
            <a:endParaRPr lang="en-US"/>
          </a:p>
        </p:txBody>
      </p:sp>
      <p:sp>
        <p:nvSpPr>
          <p:cNvPr id="12" name="Text 10"/>
          <p:cNvSpPr/>
          <p:nvPr/>
        </p:nvSpPr>
        <p:spPr>
          <a:xfrm>
            <a:off x="859536" y="2724912"/>
            <a:ext cx="4937760" cy="420624"/>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PLAN A — split works</a:t>
            </a:r>
            <a:endParaRPr lang="en-US" sz="1250" dirty="0"/>
          </a:p>
        </p:txBody>
      </p:sp>
      <p:sp>
        <p:nvSpPr>
          <p:cNvPr id="13" name="Text 11"/>
          <p:cNvSpPr/>
          <p:nvPr/>
        </p:nvSpPr>
        <p:spPr>
          <a:xfrm>
            <a:off x="859536" y="3255264"/>
            <a:ext cx="3200400" cy="310896"/>
          </a:xfrm>
          <a:prstGeom prst="rect">
            <a:avLst/>
          </a:prstGeom>
          <a:noFill/>
          <a:ln/>
        </p:spPr>
        <p:txBody>
          <a:bodyPr wrap="square" lIns="0" tIns="0" rIns="0" bIns="0" rtlCol="0" anchor="ctr"/>
          <a:lstStyle/>
          <a:p>
            <a:pPr marL="0" indent="0">
              <a:buNone/>
            </a:pPr>
            <a:r>
              <a:rPr lang="en-US" sz="1150" dirty="0">
                <a:solidFill>
                  <a:srgbClr val="6E7781"/>
                </a:solidFill>
                <a:latin typeface="Calibri" pitchFamily="34" charset="0"/>
                <a:ea typeface="Calibri" pitchFamily="34" charset="-122"/>
                <a:cs typeface="Calibri" pitchFamily="34" charset="-120"/>
              </a:rPr>
              <a:t>Demo 12 Oct</a:t>
            </a:r>
            <a:endParaRPr lang="en-US" sz="1150" dirty="0"/>
          </a:p>
        </p:txBody>
      </p:sp>
      <p:sp>
        <p:nvSpPr>
          <p:cNvPr id="14" name="Text 12"/>
          <p:cNvSpPr/>
          <p:nvPr/>
        </p:nvSpPr>
        <p:spPr>
          <a:xfrm>
            <a:off x="4023360" y="3255264"/>
            <a:ext cx="1737360" cy="310896"/>
          </a:xfrm>
          <a:prstGeom prst="rect">
            <a:avLst/>
          </a:prstGeom>
          <a:noFill/>
          <a:ln/>
        </p:spPr>
        <p:txBody>
          <a:bodyPr wrap="square" lIns="0" tIns="0" rIns="0" bIns="0" rtlCol="0" anchor="ctr"/>
          <a:lstStyle/>
          <a:p>
            <a:pPr marL="0" indent="0" algn="r">
              <a:buNone/>
            </a:pPr>
            <a:r>
              <a:rPr lang="en-US" sz="1150" b="1" dirty="0">
                <a:solidFill>
                  <a:srgbClr val="1C1F26"/>
                </a:solidFill>
                <a:latin typeface="Calibri" pitchFamily="34" charset="0"/>
                <a:ea typeface="Calibri" pitchFamily="34" charset="-122"/>
                <a:cs typeface="Calibri" pitchFamily="34" charset="-120"/>
              </a:rPr>
              <a:t>Unsupervised</a:t>
            </a:r>
            <a:endParaRPr lang="en-US" sz="1150" dirty="0"/>
          </a:p>
        </p:txBody>
      </p:sp>
      <p:sp>
        <p:nvSpPr>
          <p:cNvPr id="15" name="Text 13"/>
          <p:cNvSpPr/>
          <p:nvPr/>
        </p:nvSpPr>
        <p:spPr>
          <a:xfrm>
            <a:off x="859536" y="3639312"/>
            <a:ext cx="3200400" cy="310896"/>
          </a:xfrm>
          <a:prstGeom prst="rect">
            <a:avLst/>
          </a:prstGeom>
          <a:noFill/>
          <a:ln/>
        </p:spPr>
        <p:txBody>
          <a:bodyPr wrap="square" lIns="0" tIns="0" rIns="0" bIns="0" rtlCol="0" anchor="ctr"/>
          <a:lstStyle/>
          <a:p>
            <a:pPr marL="0" indent="0">
              <a:buNone/>
            </a:pPr>
            <a:r>
              <a:rPr lang="en-US" sz="1150" dirty="0">
                <a:solidFill>
                  <a:srgbClr val="6E7781"/>
                </a:solidFill>
                <a:latin typeface="Calibri" pitchFamily="34" charset="0"/>
                <a:ea typeface="Calibri" pitchFamily="34" charset="-122"/>
                <a:cs typeface="Calibri" pitchFamily="34" charset="-120"/>
              </a:rPr>
              <a:t>Certificate</a:t>
            </a:r>
            <a:endParaRPr lang="en-US" sz="1150" dirty="0"/>
          </a:p>
        </p:txBody>
      </p:sp>
      <p:sp>
        <p:nvSpPr>
          <p:cNvPr id="16" name="Text 14"/>
          <p:cNvSpPr/>
          <p:nvPr/>
        </p:nvSpPr>
        <p:spPr>
          <a:xfrm>
            <a:off x="4023360" y="3639312"/>
            <a:ext cx="1737360" cy="310896"/>
          </a:xfrm>
          <a:prstGeom prst="rect">
            <a:avLst/>
          </a:prstGeom>
          <a:noFill/>
          <a:ln/>
        </p:spPr>
        <p:txBody>
          <a:bodyPr wrap="square" lIns="0" tIns="0" rIns="0" bIns="0" rtlCol="0" anchor="ctr"/>
          <a:lstStyle/>
          <a:p>
            <a:pPr marL="0" indent="0" algn="r">
              <a:buNone/>
            </a:pPr>
            <a:r>
              <a:rPr lang="en-US" sz="1150" b="1" dirty="0">
                <a:solidFill>
                  <a:srgbClr val="1C1F26"/>
                </a:solidFill>
                <a:latin typeface="Calibri" pitchFamily="34" charset="0"/>
                <a:ea typeface="Calibri" pitchFamily="34" charset="-122"/>
                <a:cs typeface="Calibri" pitchFamily="34" charset="-120"/>
              </a:rPr>
              <a:t>Wed 7 Oct</a:t>
            </a:r>
            <a:endParaRPr lang="en-US" sz="1150" dirty="0"/>
          </a:p>
        </p:txBody>
      </p:sp>
      <p:sp>
        <p:nvSpPr>
          <p:cNvPr id="17" name="Text 15"/>
          <p:cNvSpPr/>
          <p:nvPr/>
        </p:nvSpPr>
        <p:spPr>
          <a:xfrm>
            <a:off x="859536" y="4023360"/>
            <a:ext cx="3200400" cy="310896"/>
          </a:xfrm>
          <a:prstGeom prst="rect">
            <a:avLst/>
          </a:prstGeom>
          <a:noFill/>
          <a:ln/>
        </p:spPr>
        <p:txBody>
          <a:bodyPr wrap="square" lIns="0" tIns="0" rIns="0" bIns="0" rtlCol="0" anchor="ctr"/>
          <a:lstStyle/>
          <a:p>
            <a:pPr marL="0" indent="0">
              <a:buNone/>
            </a:pPr>
            <a:r>
              <a:rPr lang="en-US" sz="1150" dirty="0">
                <a:solidFill>
                  <a:srgbClr val="6E7781"/>
                </a:solidFill>
                <a:latin typeface="Calibri" pitchFamily="34" charset="0"/>
                <a:ea typeface="Calibri" pitchFamily="34" charset="-122"/>
                <a:cs typeface="Calibri" pitchFamily="34" charset="-120"/>
              </a:rPr>
              <a:t>Fleet Monitor real-cell integration</a:t>
            </a:r>
            <a:endParaRPr lang="en-US" sz="1150" dirty="0"/>
          </a:p>
        </p:txBody>
      </p:sp>
      <p:sp>
        <p:nvSpPr>
          <p:cNvPr id="18" name="Text 16"/>
          <p:cNvSpPr/>
          <p:nvPr/>
        </p:nvSpPr>
        <p:spPr>
          <a:xfrm>
            <a:off x="4023360" y="4023360"/>
            <a:ext cx="1737360" cy="310896"/>
          </a:xfrm>
          <a:prstGeom prst="rect">
            <a:avLst/>
          </a:prstGeom>
          <a:noFill/>
          <a:ln/>
        </p:spPr>
        <p:txBody>
          <a:bodyPr wrap="square" lIns="0" tIns="0" rIns="0" bIns="0" rtlCol="0" anchor="ctr"/>
          <a:lstStyle/>
          <a:p>
            <a:pPr marL="0" indent="0" algn="r">
              <a:buNone/>
            </a:pPr>
            <a:r>
              <a:rPr lang="en-US" sz="1150" b="1" dirty="0">
                <a:solidFill>
                  <a:srgbClr val="1C1F26"/>
                </a:solidFill>
                <a:latin typeface="Calibri" pitchFamily="34" charset="0"/>
                <a:ea typeface="Calibri" pitchFamily="34" charset="-122"/>
                <a:cs typeface="Calibri" pitchFamily="34" charset="-120"/>
              </a:rPr>
              <a:t>1 week</a:t>
            </a:r>
            <a:endParaRPr lang="en-US" sz="1150" dirty="0"/>
          </a:p>
        </p:txBody>
      </p:sp>
      <p:sp>
        <p:nvSpPr>
          <p:cNvPr id="19" name="Text 17"/>
          <p:cNvSpPr/>
          <p:nvPr/>
        </p:nvSpPr>
        <p:spPr>
          <a:xfrm>
            <a:off x="859536" y="4407408"/>
            <a:ext cx="3200400" cy="310896"/>
          </a:xfrm>
          <a:prstGeom prst="rect">
            <a:avLst/>
          </a:prstGeom>
          <a:noFill/>
          <a:ln/>
        </p:spPr>
        <p:txBody>
          <a:bodyPr wrap="square" lIns="0" tIns="0" rIns="0" bIns="0" rtlCol="0" anchor="ctr"/>
          <a:lstStyle/>
          <a:p>
            <a:pPr marL="0" indent="0">
              <a:buNone/>
            </a:pPr>
            <a:r>
              <a:rPr lang="en-US" sz="1150" dirty="0">
                <a:solidFill>
                  <a:srgbClr val="6E7781"/>
                </a:solidFill>
                <a:latin typeface="Calibri" pitchFamily="34" charset="0"/>
                <a:ea typeface="Calibri" pitchFamily="34" charset="-122"/>
                <a:cs typeface="Calibri" pitchFamily="34" charset="-120"/>
              </a:rPr>
              <a:t>FM-4 buffer</a:t>
            </a:r>
            <a:endParaRPr lang="en-US" sz="1150" dirty="0"/>
          </a:p>
        </p:txBody>
      </p:sp>
      <p:sp>
        <p:nvSpPr>
          <p:cNvPr id="20" name="Text 18"/>
          <p:cNvSpPr/>
          <p:nvPr/>
        </p:nvSpPr>
        <p:spPr>
          <a:xfrm>
            <a:off x="4023360" y="4407408"/>
            <a:ext cx="1737360" cy="310896"/>
          </a:xfrm>
          <a:prstGeom prst="rect">
            <a:avLst/>
          </a:prstGeom>
          <a:noFill/>
          <a:ln/>
        </p:spPr>
        <p:txBody>
          <a:bodyPr wrap="square" lIns="0" tIns="0" rIns="0" bIns="0" rtlCol="0" anchor="ctr"/>
          <a:lstStyle/>
          <a:p>
            <a:pPr marL="0" indent="0" algn="r">
              <a:buNone/>
            </a:pPr>
            <a:r>
              <a:rPr lang="en-US" sz="1150" b="1" dirty="0">
                <a:solidFill>
                  <a:srgbClr val="1C1F26"/>
                </a:solidFill>
                <a:latin typeface="Calibri" pitchFamily="34" charset="0"/>
                <a:ea typeface="Calibri" pitchFamily="34" charset="-122"/>
                <a:cs typeface="Calibri" pitchFamily="34" charset="-120"/>
              </a:rPr>
              <a:t>Cut</a:t>
            </a:r>
            <a:endParaRPr lang="en-US" sz="1150" dirty="0"/>
          </a:p>
        </p:txBody>
      </p:sp>
      <p:sp>
        <p:nvSpPr>
          <p:cNvPr id="21" name="Text 19"/>
          <p:cNvSpPr/>
          <p:nvPr/>
        </p:nvSpPr>
        <p:spPr>
          <a:xfrm>
            <a:off x="859536" y="4791456"/>
            <a:ext cx="3200400" cy="310896"/>
          </a:xfrm>
          <a:prstGeom prst="rect">
            <a:avLst/>
          </a:prstGeom>
          <a:noFill/>
          <a:ln/>
        </p:spPr>
        <p:txBody>
          <a:bodyPr wrap="square" lIns="0" tIns="0" rIns="0" bIns="0" rtlCol="0" anchor="ctr"/>
          <a:lstStyle/>
          <a:p>
            <a:pPr marL="0" indent="0">
              <a:buNone/>
            </a:pPr>
            <a:r>
              <a:rPr lang="en-US" sz="1150" dirty="0">
                <a:solidFill>
                  <a:srgbClr val="6E7781"/>
                </a:solidFill>
                <a:latin typeface="Calibri" pitchFamily="34" charset="0"/>
                <a:ea typeface="Calibri" pitchFamily="34" charset="-122"/>
                <a:cs typeface="Calibri" pitchFamily="34" charset="-120"/>
              </a:rPr>
              <a:t>Float on robotics chain</a:t>
            </a:r>
            <a:endParaRPr lang="en-US" sz="1150" dirty="0"/>
          </a:p>
        </p:txBody>
      </p:sp>
      <p:sp>
        <p:nvSpPr>
          <p:cNvPr id="22" name="Text 20"/>
          <p:cNvSpPr/>
          <p:nvPr/>
        </p:nvSpPr>
        <p:spPr>
          <a:xfrm>
            <a:off x="4023360" y="4791456"/>
            <a:ext cx="1737360" cy="310896"/>
          </a:xfrm>
          <a:prstGeom prst="rect">
            <a:avLst/>
          </a:prstGeom>
          <a:noFill/>
          <a:ln/>
        </p:spPr>
        <p:txBody>
          <a:bodyPr wrap="square" lIns="0" tIns="0" rIns="0" bIns="0" rtlCol="0" anchor="ctr"/>
          <a:lstStyle/>
          <a:p>
            <a:pPr marL="0" indent="0" algn="r">
              <a:buNone/>
            </a:pPr>
            <a:r>
              <a:rPr lang="en-US" sz="1150" b="1" dirty="0">
                <a:solidFill>
                  <a:srgbClr val="1C1F26"/>
                </a:solidFill>
                <a:latin typeface="Calibri" pitchFamily="34" charset="0"/>
                <a:ea typeface="Calibri" pitchFamily="34" charset="-122"/>
                <a:cs typeface="Calibri" pitchFamily="34" charset="-120"/>
              </a:rPr>
              <a:t>~1 day</a:t>
            </a:r>
            <a:endParaRPr lang="en-US" sz="1150" dirty="0"/>
          </a:p>
        </p:txBody>
      </p:sp>
      <p:sp>
        <p:nvSpPr>
          <p:cNvPr id="23" name="Shape 21"/>
          <p:cNvSpPr/>
          <p:nvPr/>
        </p:nvSpPr>
        <p:spPr>
          <a:xfrm>
            <a:off x="6172200" y="2724912"/>
            <a:ext cx="5349240" cy="2487168"/>
          </a:xfrm>
          <a:prstGeom prst="rect">
            <a:avLst/>
          </a:prstGeom>
          <a:solidFill>
            <a:srgbClr val="FFFFFF"/>
          </a:solidFill>
          <a:ln w="12700">
            <a:solidFill>
              <a:srgbClr val="D8D2C9"/>
            </a:solidFill>
            <a:prstDash val="solid"/>
          </a:ln>
        </p:spPr>
        <p:txBody>
          <a:bodyPr/>
          <a:lstStyle/>
          <a:p>
            <a:endParaRPr lang="en-US"/>
          </a:p>
        </p:txBody>
      </p:sp>
      <p:sp>
        <p:nvSpPr>
          <p:cNvPr id="24" name="Shape 22"/>
          <p:cNvSpPr/>
          <p:nvPr/>
        </p:nvSpPr>
        <p:spPr>
          <a:xfrm>
            <a:off x="6172200" y="2724912"/>
            <a:ext cx="5349240" cy="420624"/>
          </a:xfrm>
          <a:prstGeom prst="rect">
            <a:avLst/>
          </a:prstGeom>
          <a:solidFill>
            <a:srgbClr val="1C1F26"/>
          </a:solidFill>
          <a:ln/>
        </p:spPr>
        <p:txBody>
          <a:bodyPr/>
          <a:lstStyle/>
          <a:p>
            <a:endParaRPr lang="en-US"/>
          </a:p>
        </p:txBody>
      </p:sp>
      <p:sp>
        <p:nvSpPr>
          <p:cNvPr id="25" name="Text 23"/>
          <p:cNvSpPr/>
          <p:nvPr/>
        </p:nvSpPr>
        <p:spPr>
          <a:xfrm>
            <a:off x="6391656" y="2724912"/>
            <a:ext cx="4937760" cy="420624"/>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PLAN B — split does not work</a:t>
            </a:r>
            <a:endParaRPr lang="en-US" sz="1250" dirty="0"/>
          </a:p>
        </p:txBody>
      </p:sp>
      <p:sp>
        <p:nvSpPr>
          <p:cNvPr id="26" name="Text 24"/>
          <p:cNvSpPr/>
          <p:nvPr/>
        </p:nvSpPr>
        <p:spPr>
          <a:xfrm>
            <a:off x="6391656" y="3255264"/>
            <a:ext cx="3200400" cy="310896"/>
          </a:xfrm>
          <a:prstGeom prst="rect">
            <a:avLst/>
          </a:prstGeom>
          <a:noFill/>
          <a:ln/>
        </p:spPr>
        <p:txBody>
          <a:bodyPr wrap="square" lIns="0" tIns="0" rIns="0" bIns="0" rtlCol="0" anchor="ctr"/>
          <a:lstStyle/>
          <a:p>
            <a:pPr marL="0" indent="0">
              <a:buNone/>
            </a:pPr>
            <a:r>
              <a:rPr lang="en-US" sz="1150" dirty="0">
                <a:solidFill>
                  <a:srgbClr val="6E7781"/>
                </a:solidFill>
                <a:latin typeface="Calibri" pitchFamily="34" charset="0"/>
                <a:ea typeface="Calibri" pitchFamily="34" charset="-122"/>
                <a:cs typeface="Calibri" pitchFamily="34" charset="-120"/>
              </a:rPr>
              <a:t>Demo 12 Oct</a:t>
            </a:r>
            <a:endParaRPr lang="en-US" sz="1150" dirty="0"/>
          </a:p>
        </p:txBody>
      </p:sp>
      <p:sp>
        <p:nvSpPr>
          <p:cNvPr id="27" name="Text 25"/>
          <p:cNvSpPr/>
          <p:nvPr/>
        </p:nvSpPr>
        <p:spPr>
          <a:xfrm>
            <a:off x="9555480" y="3255264"/>
            <a:ext cx="1737360" cy="310896"/>
          </a:xfrm>
          <a:prstGeom prst="rect">
            <a:avLst/>
          </a:prstGeom>
          <a:noFill/>
          <a:ln/>
        </p:spPr>
        <p:txBody>
          <a:bodyPr wrap="square" lIns="0" tIns="0" rIns="0" bIns="0" rtlCol="0" anchor="ctr"/>
          <a:lstStyle/>
          <a:p>
            <a:pPr marL="0" indent="0" algn="r">
              <a:buNone/>
            </a:pPr>
            <a:r>
              <a:rPr lang="en-US" sz="1150" b="1" dirty="0">
                <a:solidFill>
                  <a:srgbClr val="1C1F26"/>
                </a:solidFill>
                <a:latin typeface="Calibri" pitchFamily="34" charset="0"/>
                <a:ea typeface="Calibri" pitchFamily="34" charset="-122"/>
                <a:cs typeface="Calibri" pitchFamily="34" charset="-120"/>
              </a:rPr>
              <a:t>Supervised</a:t>
            </a:r>
            <a:endParaRPr lang="en-US" sz="1150" dirty="0"/>
          </a:p>
        </p:txBody>
      </p:sp>
      <p:sp>
        <p:nvSpPr>
          <p:cNvPr id="28" name="Text 26"/>
          <p:cNvSpPr/>
          <p:nvPr/>
        </p:nvSpPr>
        <p:spPr>
          <a:xfrm>
            <a:off x="6391656" y="3639312"/>
            <a:ext cx="3200400" cy="310896"/>
          </a:xfrm>
          <a:prstGeom prst="rect">
            <a:avLst/>
          </a:prstGeom>
          <a:noFill/>
          <a:ln/>
        </p:spPr>
        <p:txBody>
          <a:bodyPr wrap="square" lIns="0" tIns="0" rIns="0" bIns="0" rtlCol="0" anchor="ctr"/>
          <a:lstStyle/>
          <a:p>
            <a:pPr marL="0" indent="0">
              <a:buNone/>
            </a:pPr>
            <a:r>
              <a:rPr lang="en-US" sz="1150" dirty="0">
                <a:solidFill>
                  <a:srgbClr val="6E7781"/>
                </a:solidFill>
                <a:latin typeface="Calibri" pitchFamily="34" charset="0"/>
                <a:ea typeface="Calibri" pitchFamily="34" charset="-122"/>
                <a:cs typeface="Calibri" pitchFamily="34" charset="-120"/>
              </a:rPr>
              <a:t>Certificate</a:t>
            </a:r>
            <a:endParaRPr lang="en-US" sz="1150" dirty="0"/>
          </a:p>
        </p:txBody>
      </p:sp>
      <p:sp>
        <p:nvSpPr>
          <p:cNvPr id="29" name="Text 27"/>
          <p:cNvSpPr/>
          <p:nvPr/>
        </p:nvSpPr>
        <p:spPr>
          <a:xfrm>
            <a:off x="9555480" y="3639312"/>
            <a:ext cx="1737360" cy="310896"/>
          </a:xfrm>
          <a:prstGeom prst="rect">
            <a:avLst/>
          </a:prstGeom>
          <a:noFill/>
          <a:ln/>
        </p:spPr>
        <p:txBody>
          <a:bodyPr wrap="square" lIns="0" tIns="0" rIns="0" bIns="0" rtlCol="0" anchor="ctr"/>
          <a:lstStyle/>
          <a:p>
            <a:pPr marL="0" indent="0" algn="r">
              <a:buNone/>
            </a:pPr>
            <a:r>
              <a:rPr lang="en-US" sz="1150" b="1" dirty="0">
                <a:solidFill>
                  <a:srgbClr val="1C1F26"/>
                </a:solidFill>
                <a:latin typeface="Calibri" pitchFamily="34" charset="0"/>
                <a:ea typeface="Calibri" pitchFamily="34" charset="-122"/>
                <a:cs typeface="Calibri" pitchFamily="34" charset="-120"/>
              </a:rPr>
              <a:t>~Mon 2 Nov</a:t>
            </a:r>
            <a:endParaRPr lang="en-US" sz="1150" dirty="0"/>
          </a:p>
        </p:txBody>
      </p:sp>
      <p:sp>
        <p:nvSpPr>
          <p:cNvPr id="30" name="Text 28"/>
          <p:cNvSpPr/>
          <p:nvPr/>
        </p:nvSpPr>
        <p:spPr>
          <a:xfrm>
            <a:off x="6391656" y="4023360"/>
            <a:ext cx="3200400" cy="310896"/>
          </a:xfrm>
          <a:prstGeom prst="rect">
            <a:avLst/>
          </a:prstGeom>
          <a:noFill/>
          <a:ln/>
        </p:spPr>
        <p:txBody>
          <a:bodyPr wrap="square" lIns="0" tIns="0" rIns="0" bIns="0" rtlCol="0" anchor="ctr"/>
          <a:lstStyle/>
          <a:p>
            <a:pPr marL="0" indent="0">
              <a:buNone/>
            </a:pPr>
            <a:r>
              <a:rPr lang="en-US" sz="1150" dirty="0">
                <a:solidFill>
                  <a:srgbClr val="6E7781"/>
                </a:solidFill>
                <a:latin typeface="Calibri" pitchFamily="34" charset="0"/>
                <a:ea typeface="Calibri" pitchFamily="34" charset="-122"/>
                <a:cs typeface="Calibri" pitchFamily="34" charset="-120"/>
              </a:rPr>
              <a:t>Fleet Monitor real-cell integration</a:t>
            </a:r>
            <a:endParaRPr lang="en-US" sz="1150" dirty="0"/>
          </a:p>
        </p:txBody>
      </p:sp>
      <p:sp>
        <p:nvSpPr>
          <p:cNvPr id="31" name="Text 29"/>
          <p:cNvSpPr/>
          <p:nvPr/>
        </p:nvSpPr>
        <p:spPr>
          <a:xfrm>
            <a:off x="9555480" y="4023360"/>
            <a:ext cx="1737360" cy="310896"/>
          </a:xfrm>
          <a:prstGeom prst="rect">
            <a:avLst/>
          </a:prstGeom>
          <a:noFill/>
          <a:ln/>
        </p:spPr>
        <p:txBody>
          <a:bodyPr wrap="square" lIns="0" tIns="0" rIns="0" bIns="0" rtlCol="0" anchor="ctr"/>
          <a:lstStyle/>
          <a:p>
            <a:pPr marL="0" indent="0" algn="r">
              <a:buNone/>
            </a:pPr>
            <a:r>
              <a:rPr lang="en-US" sz="1150" b="1" dirty="0">
                <a:solidFill>
                  <a:srgbClr val="1C1F26"/>
                </a:solidFill>
                <a:latin typeface="Calibri" pitchFamily="34" charset="0"/>
                <a:ea typeface="Calibri" pitchFamily="34" charset="-122"/>
                <a:cs typeface="Calibri" pitchFamily="34" charset="-120"/>
              </a:rPr>
              <a:t>3+ weeks</a:t>
            </a:r>
            <a:endParaRPr lang="en-US" sz="1150" dirty="0"/>
          </a:p>
        </p:txBody>
      </p:sp>
      <p:sp>
        <p:nvSpPr>
          <p:cNvPr id="32" name="Text 30"/>
          <p:cNvSpPr/>
          <p:nvPr/>
        </p:nvSpPr>
        <p:spPr>
          <a:xfrm>
            <a:off x="6391656" y="4407408"/>
            <a:ext cx="3200400" cy="310896"/>
          </a:xfrm>
          <a:prstGeom prst="rect">
            <a:avLst/>
          </a:prstGeom>
          <a:noFill/>
          <a:ln/>
        </p:spPr>
        <p:txBody>
          <a:bodyPr wrap="square" lIns="0" tIns="0" rIns="0" bIns="0" rtlCol="0" anchor="ctr"/>
          <a:lstStyle/>
          <a:p>
            <a:pPr marL="0" indent="0">
              <a:buNone/>
            </a:pPr>
            <a:r>
              <a:rPr lang="en-US" sz="1150" dirty="0">
                <a:solidFill>
                  <a:srgbClr val="6E7781"/>
                </a:solidFill>
                <a:latin typeface="Calibri" pitchFamily="34" charset="0"/>
                <a:ea typeface="Calibri" pitchFamily="34" charset="-122"/>
                <a:cs typeface="Calibri" pitchFamily="34" charset="-120"/>
              </a:rPr>
              <a:t>FM-4 buffer</a:t>
            </a:r>
            <a:endParaRPr lang="en-US" sz="1150" dirty="0"/>
          </a:p>
        </p:txBody>
      </p:sp>
      <p:sp>
        <p:nvSpPr>
          <p:cNvPr id="33" name="Text 31"/>
          <p:cNvSpPr/>
          <p:nvPr/>
        </p:nvSpPr>
        <p:spPr>
          <a:xfrm>
            <a:off x="9555480" y="4407408"/>
            <a:ext cx="1737360" cy="310896"/>
          </a:xfrm>
          <a:prstGeom prst="rect">
            <a:avLst/>
          </a:prstGeom>
          <a:noFill/>
          <a:ln/>
        </p:spPr>
        <p:txBody>
          <a:bodyPr wrap="square" lIns="0" tIns="0" rIns="0" bIns="0" rtlCol="0" anchor="ctr"/>
          <a:lstStyle/>
          <a:p>
            <a:pPr marL="0" indent="0" algn="r">
              <a:buNone/>
            </a:pPr>
            <a:r>
              <a:rPr lang="en-US" sz="1150" b="1" dirty="0">
                <a:solidFill>
                  <a:srgbClr val="1C1F26"/>
                </a:solidFill>
                <a:latin typeface="Calibri" pitchFamily="34" charset="0"/>
                <a:ea typeface="Calibri" pitchFamily="34" charset="-122"/>
                <a:cs typeface="Calibri" pitchFamily="34" charset="-120"/>
              </a:rPr>
              <a:t>Ships</a:t>
            </a:r>
            <a:endParaRPr lang="en-US" sz="1150" dirty="0"/>
          </a:p>
        </p:txBody>
      </p:sp>
      <p:sp>
        <p:nvSpPr>
          <p:cNvPr id="34" name="Text 32"/>
          <p:cNvSpPr/>
          <p:nvPr/>
        </p:nvSpPr>
        <p:spPr>
          <a:xfrm>
            <a:off x="6391656" y="4791456"/>
            <a:ext cx="3200400" cy="310896"/>
          </a:xfrm>
          <a:prstGeom prst="rect">
            <a:avLst/>
          </a:prstGeom>
          <a:noFill/>
          <a:ln/>
        </p:spPr>
        <p:txBody>
          <a:bodyPr wrap="square" lIns="0" tIns="0" rIns="0" bIns="0" rtlCol="0" anchor="ctr"/>
          <a:lstStyle/>
          <a:p>
            <a:pPr marL="0" indent="0">
              <a:buNone/>
            </a:pPr>
            <a:r>
              <a:rPr lang="en-US" sz="1150" dirty="0">
                <a:solidFill>
                  <a:srgbClr val="6E7781"/>
                </a:solidFill>
                <a:latin typeface="Calibri" pitchFamily="34" charset="0"/>
                <a:ea typeface="Calibri" pitchFamily="34" charset="-122"/>
                <a:cs typeface="Calibri" pitchFamily="34" charset="-120"/>
              </a:rPr>
              <a:t>Float on robotics chain</a:t>
            </a:r>
            <a:endParaRPr lang="en-US" sz="1150" dirty="0"/>
          </a:p>
        </p:txBody>
      </p:sp>
      <p:sp>
        <p:nvSpPr>
          <p:cNvPr id="35" name="Text 33"/>
          <p:cNvSpPr/>
          <p:nvPr/>
        </p:nvSpPr>
        <p:spPr>
          <a:xfrm>
            <a:off x="9555480" y="4791456"/>
            <a:ext cx="1737360" cy="310896"/>
          </a:xfrm>
          <a:prstGeom prst="rect">
            <a:avLst/>
          </a:prstGeom>
          <a:noFill/>
          <a:ln/>
        </p:spPr>
        <p:txBody>
          <a:bodyPr wrap="square" lIns="0" tIns="0" rIns="0" bIns="0" rtlCol="0" anchor="ctr"/>
          <a:lstStyle/>
          <a:p>
            <a:pPr marL="0" indent="0" algn="r">
              <a:buNone/>
            </a:pPr>
            <a:r>
              <a:rPr lang="en-US" sz="1150" b="1" dirty="0">
                <a:solidFill>
                  <a:srgbClr val="1C1F26"/>
                </a:solidFill>
                <a:latin typeface="Calibri" pitchFamily="34" charset="0"/>
                <a:ea typeface="Calibri" pitchFamily="34" charset="-122"/>
                <a:cs typeface="Calibri" pitchFamily="34" charset="-120"/>
              </a:rPr>
              <a:t>~2 weeks</a:t>
            </a:r>
            <a:endParaRPr lang="en-US" sz="1150" dirty="0"/>
          </a:p>
        </p:txBody>
      </p:sp>
      <p:sp>
        <p:nvSpPr>
          <p:cNvPr id="36" name="Shape 34"/>
          <p:cNvSpPr/>
          <p:nvPr/>
        </p:nvSpPr>
        <p:spPr>
          <a:xfrm>
            <a:off x="640080" y="5431536"/>
            <a:ext cx="10881360" cy="786384"/>
          </a:xfrm>
          <a:prstGeom prst="rect">
            <a:avLst/>
          </a:prstGeom>
          <a:solidFill>
            <a:srgbClr val="1C1F26"/>
          </a:solidFill>
          <a:ln w="12700">
            <a:solidFill>
              <a:srgbClr val="1C1F26"/>
            </a:solidFill>
            <a:prstDash val="solid"/>
          </a:ln>
        </p:spPr>
        <p:txBody>
          <a:bodyPr/>
          <a:lstStyle/>
          <a:p>
            <a:endParaRPr lang="en-US"/>
          </a:p>
        </p:txBody>
      </p:sp>
      <p:sp>
        <p:nvSpPr>
          <p:cNvPr id="37" name="Text 35"/>
          <p:cNvSpPr/>
          <p:nvPr/>
        </p:nvSpPr>
        <p:spPr>
          <a:xfrm>
            <a:off x="914400" y="5431536"/>
            <a:ext cx="10332720" cy="786384"/>
          </a:xfrm>
          <a:prstGeom prst="rect">
            <a:avLst/>
          </a:prstGeom>
          <a:noFill/>
          <a:ln/>
        </p:spPr>
        <p:txBody>
          <a:bodyPr wrap="square" lIns="0" tIns="0" rIns="0" bIns="0" rtlCol="0" anchor="ctr"/>
          <a:lstStyle/>
          <a:p>
            <a:pPr marL="0" indent="0">
              <a:buNone/>
            </a:pPr>
            <a:r>
              <a:rPr lang="en-US" sz="1250" b="1" dirty="0">
                <a:solidFill>
                  <a:srgbClr val="B8621B"/>
                </a:solidFill>
                <a:latin typeface="Calibri" pitchFamily="34" charset="0"/>
                <a:ea typeface="Calibri" pitchFamily="34" charset="-122"/>
                <a:cs typeface="Calibri" pitchFamily="34" charset="-120"/>
              </a:rPr>
              <a:t>Recommendation:  </a:t>
            </a:r>
            <a:r>
              <a:rPr lang="en-US" sz="1250" dirty="0">
                <a:solidFill>
                  <a:srgbClr val="FFFFFF"/>
                </a:solidFill>
                <a:latin typeface="Calibri" pitchFamily="34" charset="0"/>
                <a:ea typeface="Calibri" pitchFamily="34" charset="-122"/>
                <a:cs typeface="Calibri" pitchFamily="34" charset="-120"/>
              </a:rPr>
              <a:t>Plan B, unless both answers are yes. Plan A as originally scoped delivers an unsupervised demo of under-integrated software — and the under-integrated half is the feature the customer came for.</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8F5"/>
        </a:solidFill>
        <a:effectLst/>
      </p:bgPr>
    </p:bg>
    <p:spTree>
      <p:nvGrpSpPr>
        <p:cNvPr id="1" name=""/>
        <p:cNvGrpSpPr/>
        <p:nvPr/>
      </p:nvGrpSpPr>
      <p:grpSpPr>
        <a:xfrm>
          <a:off x="0" y="0"/>
          <a:ext cx="0" cy="0"/>
          <a:chOff x="0" y="0"/>
          <a:chExt cx="0" cy="0"/>
        </a:xfrm>
      </p:grpSpPr>
      <p:sp>
        <p:nvSpPr>
          <p:cNvPr id="2" name="Shape 0"/>
          <p:cNvSpPr/>
          <p:nvPr/>
        </p:nvSpPr>
        <p:spPr>
          <a:xfrm>
            <a:off x="640080" y="384048"/>
            <a:ext cx="384048" cy="384048"/>
          </a:xfrm>
          <a:prstGeom prst="rect">
            <a:avLst/>
          </a:prstGeom>
          <a:solidFill>
            <a:srgbClr val="B8621B"/>
          </a:solidFill>
          <a:ln/>
        </p:spPr>
        <p:txBody>
          <a:bodyPr/>
          <a:lstStyle/>
          <a:p>
            <a:endParaRPr lang="en-US"/>
          </a:p>
        </p:txBody>
      </p:sp>
      <p:sp>
        <p:nvSpPr>
          <p:cNvPr id="3" name="Text 1"/>
          <p:cNvSpPr/>
          <p:nvPr/>
        </p:nvSpPr>
        <p:spPr>
          <a:xfrm>
            <a:off x="640080" y="384048"/>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4" name="Text 2"/>
          <p:cNvSpPr/>
          <p:nvPr/>
        </p:nvSpPr>
        <p:spPr>
          <a:xfrm>
            <a:off x="1207008" y="329184"/>
            <a:ext cx="10314432" cy="530352"/>
          </a:xfrm>
          <a:prstGeom prst="rect">
            <a:avLst/>
          </a:prstGeom>
          <a:noFill/>
          <a:ln/>
        </p:spPr>
        <p:txBody>
          <a:bodyPr wrap="square" lIns="0" tIns="0" rIns="0" bIns="0" rtlCol="0" anchor="ctr"/>
          <a:lstStyle/>
          <a:p>
            <a:pPr marL="0" indent="0">
              <a:buNone/>
            </a:pPr>
            <a:r>
              <a:rPr lang="en-US" sz="3000" b="1" dirty="0">
                <a:solidFill>
                  <a:srgbClr val="1C1F26"/>
                </a:solidFill>
                <a:latin typeface="Cambria" pitchFamily="34" charset="0"/>
                <a:ea typeface="Cambria" pitchFamily="34" charset="-122"/>
                <a:cs typeface="Cambria" pitchFamily="34" charset="-120"/>
              </a:rPr>
              <a:t>What I cut, and the number behind each</a:t>
            </a:r>
            <a:endParaRPr lang="en-US" sz="3000" dirty="0"/>
          </a:p>
        </p:txBody>
      </p:sp>
      <p:sp>
        <p:nvSpPr>
          <p:cNvPr id="5" name="Text 3"/>
          <p:cNvSpPr/>
          <p:nvPr/>
        </p:nvSpPr>
        <p:spPr>
          <a:xfrm>
            <a:off x="640080" y="969264"/>
            <a:ext cx="10881360" cy="310896"/>
          </a:xfrm>
          <a:prstGeom prst="rect">
            <a:avLst/>
          </a:prstGeom>
          <a:noFill/>
          <a:ln/>
        </p:spPr>
        <p:txBody>
          <a:bodyPr wrap="square" lIns="0" tIns="0" rIns="0" bIns="0" rtlCol="0" anchor="ctr"/>
          <a:lstStyle/>
          <a:p>
            <a:pPr marL="0" indent="0">
              <a:buNone/>
            </a:pPr>
            <a:r>
              <a:rPr lang="en-US" sz="1400" i="1" dirty="0">
                <a:solidFill>
                  <a:srgbClr val="6E7781"/>
                </a:solidFill>
                <a:latin typeface="Calibri" pitchFamily="34" charset="0"/>
                <a:ea typeface="Calibri" pitchFamily="34" charset="-122"/>
                <a:cs typeface="Calibri" pitchFamily="34" charset="-120"/>
              </a:rPr>
              <a:t>Demand as handed over: 35.6 person-weeks against 23.9 available. Roughly 49% over.</a:t>
            </a:r>
            <a:endParaRPr lang="en-US" sz="1400" dirty="0"/>
          </a:p>
        </p:txBody>
      </p:sp>
      <p:sp>
        <p:nvSpPr>
          <p:cNvPr id="6" name="Shape 4"/>
          <p:cNvSpPr/>
          <p:nvPr/>
        </p:nvSpPr>
        <p:spPr>
          <a:xfrm>
            <a:off x="640080" y="1481328"/>
            <a:ext cx="10881360" cy="1042416"/>
          </a:xfrm>
          <a:prstGeom prst="rect">
            <a:avLst/>
          </a:prstGeom>
          <a:solidFill>
            <a:srgbClr val="FFFFFF"/>
          </a:solidFill>
          <a:ln w="12700">
            <a:solidFill>
              <a:srgbClr val="D8D2C9"/>
            </a:solidFill>
            <a:prstDash val="solid"/>
          </a:ln>
        </p:spPr>
        <p:txBody>
          <a:bodyPr/>
          <a:lstStyle/>
          <a:p>
            <a:endParaRPr lang="en-US"/>
          </a:p>
        </p:txBody>
      </p:sp>
      <p:sp>
        <p:nvSpPr>
          <p:cNvPr id="7" name="Text 5"/>
          <p:cNvSpPr/>
          <p:nvPr/>
        </p:nvSpPr>
        <p:spPr>
          <a:xfrm>
            <a:off x="859536" y="1627632"/>
            <a:ext cx="1051560" cy="566928"/>
          </a:xfrm>
          <a:prstGeom prst="rect">
            <a:avLst/>
          </a:prstGeom>
          <a:noFill/>
          <a:ln/>
        </p:spPr>
        <p:txBody>
          <a:bodyPr wrap="square" lIns="0" tIns="0" rIns="0" bIns="0" rtlCol="0" anchor="ctr"/>
          <a:lstStyle/>
          <a:p>
            <a:pPr marL="0" indent="0" algn="ctr">
              <a:buNone/>
            </a:pPr>
            <a:r>
              <a:rPr lang="en-US" sz="3000" b="1" dirty="0">
                <a:solidFill>
                  <a:srgbClr val="B8621B"/>
                </a:solidFill>
                <a:latin typeface="Cambria" pitchFamily="34" charset="0"/>
                <a:ea typeface="Cambria" pitchFamily="34" charset="-122"/>
                <a:cs typeface="Cambria" pitchFamily="34" charset="-120"/>
              </a:rPr>
              <a:t>4.5</a:t>
            </a:r>
            <a:endParaRPr lang="en-US" sz="3000" dirty="0"/>
          </a:p>
        </p:txBody>
      </p:sp>
      <p:sp>
        <p:nvSpPr>
          <p:cNvPr id="8" name="Text 6"/>
          <p:cNvSpPr/>
          <p:nvPr/>
        </p:nvSpPr>
        <p:spPr>
          <a:xfrm>
            <a:off x="859536" y="2176272"/>
            <a:ext cx="1051560" cy="219456"/>
          </a:xfrm>
          <a:prstGeom prst="rect">
            <a:avLst/>
          </a:prstGeom>
          <a:noFill/>
          <a:ln/>
        </p:spPr>
        <p:txBody>
          <a:bodyPr wrap="square" lIns="0" tIns="0" rIns="0" bIns="0" rtlCol="0" anchor="ctr"/>
          <a:lstStyle/>
          <a:p>
            <a:pPr marL="0" indent="0" algn="ctr">
              <a:buNone/>
            </a:pPr>
            <a:r>
              <a:rPr lang="en-US" sz="950" dirty="0">
                <a:solidFill>
                  <a:srgbClr val="6E7781"/>
                </a:solidFill>
                <a:latin typeface="Calibri" pitchFamily="34" charset="0"/>
                <a:ea typeface="Calibri" pitchFamily="34" charset="-122"/>
                <a:cs typeface="Calibri" pitchFamily="34" charset="-120"/>
              </a:rPr>
              <a:t>wks</a:t>
            </a:r>
            <a:endParaRPr lang="en-US" sz="950" dirty="0"/>
          </a:p>
        </p:txBody>
      </p:sp>
      <p:sp>
        <p:nvSpPr>
          <p:cNvPr id="9" name="Text 7"/>
          <p:cNvSpPr/>
          <p:nvPr/>
        </p:nvSpPr>
        <p:spPr>
          <a:xfrm>
            <a:off x="2121408" y="1627632"/>
            <a:ext cx="9052560" cy="310896"/>
          </a:xfrm>
          <a:prstGeom prst="rect">
            <a:avLst/>
          </a:prstGeom>
          <a:noFill/>
          <a:ln/>
        </p:spPr>
        <p:txBody>
          <a:bodyPr wrap="square" lIns="0" tIns="0" rIns="0" bIns="0" rtlCol="0" anchor="ctr"/>
          <a:lstStyle/>
          <a:p>
            <a:pPr marL="0" indent="0">
              <a:buNone/>
            </a:pPr>
            <a:r>
              <a:rPr lang="en-US" sz="1400" b="1" dirty="0">
                <a:solidFill>
                  <a:srgbClr val="1C1F26"/>
                </a:solidFill>
                <a:latin typeface="Calibri" pitchFamily="34" charset="0"/>
                <a:ea typeface="Calibri" pitchFamily="34" charset="-122"/>
                <a:cs typeface="Calibri" pitchFamily="34" charset="-120"/>
              </a:rPr>
              <a:t>Build model migration cutover</a:t>
            </a:r>
            <a:endParaRPr lang="en-US" sz="1400" dirty="0"/>
          </a:p>
        </p:txBody>
      </p:sp>
      <p:sp>
        <p:nvSpPr>
          <p:cNvPr id="10" name="Text 8"/>
          <p:cNvSpPr/>
          <p:nvPr/>
        </p:nvSpPr>
        <p:spPr>
          <a:xfrm>
            <a:off x="2121408" y="1956816"/>
            <a:ext cx="9052560" cy="457200"/>
          </a:xfrm>
          <a:prstGeom prst="rect">
            <a:avLst/>
          </a:prstGeom>
          <a:noFill/>
          <a:ln/>
        </p:spPr>
        <p:txBody>
          <a:bodyPr wrap="square" lIns="0" tIns="0" rIns="0" bIns="0" rtlCol="0" anchor="ctr"/>
          <a:lstStyle/>
          <a:p>
            <a:pPr marL="0" indent="0">
              <a:buNone/>
            </a:pPr>
            <a:r>
              <a:rPr lang="en-US" sz="1150" dirty="0">
                <a:solidFill>
                  <a:srgbClr val="6E7781"/>
                </a:solidFill>
                <a:latin typeface="Calibri" pitchFamily="34" charset="0"/>
                <a:ea typeface="Calibri" pitchFamily="34" charset="-122"/>
                <a:cs typeface="Calibri" pitchFamily="34" charset="-120"/>
              </a:rPr>
              <a:t>Jo has 2.8 weeks of capacity before the week-3 target and is away weeks 4–5. Replaced by a read-only adapter; cutover moves to Q4.</a:t>
            </a:r>
            <a:endParaRPr lang="en-US" sz="1150" dirty="0"/>
          </a:p>
        </p:txBody>
      </p:sp>
      <p:sp>
        <p:nvSpPr>
          <p:cNvPr id="11" name="Shape 9"/>
          <p:cNvSpPr/>
          <p:nvPr/>
        </p:nvSpPr>
        <p:spPr>
          <a:xfrm>
            <a:off x="640080" y="2651760"/>
            <a:ext cx="10881360" cy="1042416"/>
          </a:xfrm>
          <a:prstGeom prst="rect">
            <a:avLst/>
          </a:prstGeom>
          <a:solidFill>
            <a:srgbClr val="FFFFFF"/>
          </a:solidFill>
          <a:ln w="12700">
            <a:solidFill>
              <a:srgbClr val="D8D2C9"/>
            </a:solidFill>
            <a:prstDash val="solid"/>
          </a:ln>
        </p:spPr>
        <p:txBody>
          <a:bodyPr/>
          <a:lstStyle/>
          <a:p>
            <a:endParaRPr lang="en-US"/>
          </a:p>
        </p:txBody>
      </p:sp>
      <p:sp>
        <p:nvSpPr>
          <p:cNvPr id="12" name="Text 10"/>
          <p:cNvSpPr/>
          <p:nvPr/>
        </p:nvSpPr>
        <p:spPr>
          <a:xfrm>
            <a:off x="859536" y="2798064"/>
            <a:ext cx="1051560" cy="566928"/>
          </a:xfrm>
          <a:prstGeom prst="rect">
            <a:avLst/>
          </a:prstGeom>
          <a:noFill/>
          <a:ln/>
        </p:spPr>
        <p:txBody>
          <a:bodyPr wrap="square" lIns="0" tIns="0" rIns="0" bIns="0" rtlCol="0" anchor="ctr"/>
          <a:lstStyle/>
          <a:p>
            <a:pPr marL="0" indent="0" algn="ctr">
              <a:buNone/>
            </a:pPr>
            <a:r>
              <a:rPr lang="en-US" sz="3000" b="1" dirty="0">
                <a:solidFill>
                  <a:srgbClr val="B8621B"/>
                </a:solidFill>
                <a:latin typeface="Cambria" pitchFamily="34" charset="0"/>
                <a:ea typeface="Cambria" pitchFamily="34" charset="-122"/>
                <a:cs typeface="Cambria" pitchFamily="34" charset="-120"/>
              </a:rPr>
              <a:t>2.3</a:t>
            </a:r>
            <a:endParaRPr lang="en-US" sz="3000" dirty="0"/>
          </a:p>
        </p:txBody>
      </p:sp>
      <p:sp>
        <p:nvSpPr>
          <p:cNvPr id="13" name="Text 11"/>
          <p:cNvSpPr/>
          <p:nvPr/>
        </p:nvSpPr>
        <p:spPr>
          <a:xfrm>
            <a:off x="859536" y="3346704"/>
            <a:ext cx="1051560" cy="219456"/>
          </a:xfrm>
          <a:prstGeom prst="rect">
            <a:avLst/>
          </a:prstGeom>
          <a:noFill/>
          <a:ln/>
        </p:spPr>
        <p:txBody>
          <a:bodyPr wrap="square" lIns="0" tIns="0" rIns="0" bIns="0" rtlCol="0" anchor="ctr"/>
          <a:lstStyle/>
          <a:p>
            <a:pPr marL="0" indent="0" algn="ctr">
              <a:buNone/>
            </a:pPr>
            <a:r>
              <a:rPr lang="en-US" sz="950" dirty="0">
                <a:solidFill>
                  <a:srgbClr val="6E7781"/>
                </a:solidFill>
                <a:latin typeface="Calibri" pitchFamily="34" charset="0"/>
                <a:ea typeface="Calibri" pitchFamily="34" charset="-122"/>
                <a:cs typeface="Calibri" pitchFamily="34" charset="-120"/>
              </a:rPr>
              <a:t>wks</a:t>
            </a:r>
            <a:endParaRPr lang="en-US" sz="950" dirty="0"/>
          </a:p>
        </p:txBody>
      </p:sp>
      <p:sp>
        <p:nvSpPr>
          <p:cNvPr id="14" name="Text 12"/>
          <p:cNvSpPr/>
          <p:nvPr/>
        </p:nvSpPr>
        <p:spPr>
          <a:xfrm>
            <a:off x="2121408" y="2798064"/>
            <a:ext cx="9052560" cy="310896"/>
          </a:xfrm>
          <a:prstGeom prst="rect">
            <a:avLst/>
          </a:prstGeom>
          <a:noFill/>
          <a:ln/>
        </p:spPr>
        <p:txBody>
          <a:bodyPr wrap="square" lIns="0" tIns="0" rIns="0" bIns="0" rtlCol="0" anchor="ctr"/>
          <a:lstStyle/>
          <a:p>
            <a:pPr marL="0" indent="0">
              <a:buNone/>
            </a:pPr>
            <a:r>
              <a:rPr lang="en-US" sz="1400" b="1" dirty="0">
                <a:solidFill>
                  <a:srgbClr val="1C1F26"/>
                </a:solidFill>
                <a:latin typeface="Calibri" pitchFamily="34" charset="0"/>
                <a:ea typeface="Calibri" pitchFamily="34" charset="-122"/>
                <a:cs typeface="Calibri" pitchFamily="34" charset="-120"/>
              </a:rPr>
              <a:t>Indirect effects, as designed</a:t>
            </a:r>
            <a:endParaRPr lang="en-US" sz="1400" dirty="0"/>
          </a:p>
        </p:txBody>
      </p:sp>
      <p:sp>
        <p:nvSpPr>
          <p:cNvPr id="15" name="Text 13"/>
          <p:cNvSpPr/>
          <p:nvPr/>
        </p:nvSpPr>
        <p:spPr>
          <a:xfrm>
            <a:off x="2121408" y="3127248"/>
            <a:ext cx="9052560" cy="457200"/>
          </a:xfrm>
          <a:prstGeom prst="rect">
            <a:avLst/>
          </a:prstGeom>
          <a:noFill/>
          <a:ln/>
        </p:spPr>
        <p:txBody>
          <a:bodyPr wrap="square" lIns="0" tIns="0" rIns="0" bIns="0" rtlCol="0" anchor="ctr"/>
          <a:lstStyle/>
          <a:p>
            <a:pPr marL="0" indent="0">
              <a:buNone/>
            </a:pPr>
            <a:r>
              <a:rPr lang="en-US" sz="1150" dirty="0">
                <a:solidFill>
                  <a:srgbClr val="6E7781"/>
                </a:solidFill>
                <a:latin typeface="Calibri" pitchFamily="34" charset="0"/>
                <a:ea typeface="Calibri" pitchFamily="34" charset="-122"/>
                <a:cs typeface="Calibri" pitchFamily="34" charset="-120"/>
              </a:rPr>
              <a:t>Adjacency flags 13 of 20 panels on the real fixture, against a 12% waste baseline. Worse than the status quo.</a:t>
            </a:r>
            <a:endParaRPr lang="en-US" sz="1150" dirty="0"/>
          </a:p>
        </p:txBody>
      </p:sp>
      <p:sp>
        <p:nvSpPr>
          <p:cNvPr id="16" name="Shape 14"/>
          <p:cNvSpPr/>
          <p:nvPr/>
        </p:nvSpPr>
        <p:spPr>
          <a:xfrm>
            <a:off x="640080" y="3822192"/>
            <a:ext cx="10881360" cy="1042416"/>
          </a:xfrm>
          <a:prstGeom prst="rect">
            <a:avLst/>
          </a:prstGeom>
          <a:solidFill>
            <a:srgbClr val="FFFFFF"/>
          </a:solidFill>
          <a:ln w="12700">
            <a:solidFill>
              <a:srgbClr val="D8D2C9"/>
            </a:solidFill>
            <a:prstDash val="solid"/>
          </a:ln>
        </p:spPr>
        <p:txBody>
          <a:bodyPr/>
          <a:lstStyle/>
          <a:p>
            <a:endParaRPr lang="en-US"/>
          </a:p>
        </p:txBody>
      </p:sp>
      <p:sp>
        <p:nvSpPr>
          <p:cNvPr id="17" name="Text 15"/>
          <p:cNvSpPr/>
          <p:nvPr/>
        </p:nvSpPr>
        <p:spPr>
          <a:xfrm>
            <a:off x="859536" y="3968496"/>
            <a:ext cx="1051560" cy="566928"/>
          </a:xfrm>
          <a:prstGeom prst="rect">
            <a:avLst/>
          </a:prstGeom>
          <a:noFill/>
          <a:ln/>
        </p:spPr>
        <p:txBody>
          <a:bodyPr wrap="square" lIns="0" tIns="0" rIns="0" bIns="0" rtlCol="0" anchor="ctr"/>
          <a:lstStyle/>
          <a:p>
            <a:pPr marL="0" indent="0" algn="ctr">
              <a:buNone/>
            </a:pPr>
            <a:r>
              <a:rPr lang="en-US" sz="3000" b="1" dirty="0">
                <a:solidFill>
                  <a:srgbClr val="B8621B"/>
                </a:solidFill>
                <a:latin typeface="Cambria" pitchFamily="34" charset="0"/>
                <a:ea typeface="Cambria" pitchFamily="34" charset="-122"/>
                <a:cs typeface="Cambria" pitchFamily="34" charset="-120"/>
              </a:rPr>
              <a:t>3.6</a:t>
            </a:r>
            <a:endParaRPr lang="en-US" sz="3000" dirty="0"/>
          </a:p>
        </p:txBody>
      </p:sp>
      <p:sp>
        <p:nvSpPr>
          <p:cNvPr id="18" name="Text 16"/>
          <p:cNvSpPr/>
          <p:nvPr/>
        </p:nvSpPr>
        <p:spPr>
          <a:xfrm>
            <a:off x="859536" y="4517136"/>
            <a:ext cx="1051560" cy="219456"/>
          </a:xfrm>
          <a:prstGeom prst="rect">
            <a:avLst/>
          </a:prstGeom>
          <a:noFill/>
          <a:ln/>
        </p:spPr>
        <p:txBody>
          <a:bodyPr wrap="square" lIns="0" tIns="0" rIns="0" bIns="0" rtlCol="0" anchor="ctr"/>
          <a:lstStyle/>
          <a:p>
            <a:pPr marL="0" indent="0" algn="ctr">
              <a:buNone/>
            </a:pPr>
            <a:r>
              <a:rPr lang="en-US" sz="950" dirty="0">
                <a:solidFill>
                  <a:srgbClr val="6E7781"/>
                </a:solidFill>
                <a:latin typeface="Calibri" pitchFamily="34" charset="0"/>
                <a:ea typeface="Calibri" pitchFamily="34" charset="-122"/>
                <a:cs typeface="Calibri" pitchFamily="34" charset="-120"/>
              </a:rPr>
              <a:t>wks</a:t>
            </a:r>
            <a:endParaRPr lang="en-US" sz="950" dirty="0"/>
          </a:p>
        </p:txBody>
      </p:sp>
      <p:sp>
        <p:nvSpPr>
          <p:cNvPr id="19" name="Text 17"/>
          <p:cNvSpPr/>
          <p:nvPr/>
        </p:nvSpPr>
        <p:spPr>
          <a:xfrm>
            <a:off x="2121408" y="3968496"/>
            <a:ext cx="9052560" cy="310896"/>
          </a:xfrm>
          <a:prstGeom prst="rect">
            <a:avLst/>
          </a:prstGeom>
          <a:noFill/>
          <a:ln/>
        </p:spPr>
        <p:txBody>
          <a:bodyPr wrap="square" lIns="0" tIns="0" rIns="0" bIns="0" rtlCol="0" anchor="ctr"/>
          <a:lstStyle/>
          <a:p>
            <a:pPr marL="0" indent="0">
              <a:buNone/>
            </a:pPr>
            <a:r>
              <a:rPr lang="en-US" sz="1400" b="1" dirty="0">
                <a:solidFill>
                  <a:srgbClr val="1C1F26"/>
                </a:solidFill>
                <a:latin typeface="Calibri" pitchFamily="34" charset="0"/>
                <a:ea typeface="Calibri" pitchFamily="34" charset="-122"/>
                <a:cs typeface="Calibri" pitchFamily="34" charset="-120"/>
              </a:rPr>
              <a:t>Run-progress estimator</a:t>
            </a:r>
            <a:endParaRPr lang="en-US" sz="1400" dirty="0"/>
          </a:p>
        </p:txBody>
      </p:sp>
      <p:sp>
        <p:nvSpPr>
          <p:cNvPr id="20" name="Text 18"/>
          <p:cNvSpPr/>
          <p:nvPr/>
        </p:nvSpPr>
        <p:spPr>
          <a:xfrm>
            <a:off x="2121408" y="4297680"/>
            <a:ext cx="9052560" cy="457200"/>
          </a:xfrm>
          <a:prstGeom prst="rect">
            <a:avLst/>
          </a:prstGeom>
          <a:noFill/>
          <a:ln/>
        </p:spPr>
        <p:txBody>
          <a:bodyPr wrap="square" lIns="0" tIns="0" rIns="0" bIns="0" rtlCol="0" anchor="ctr"/>
          <a:lstStyle/>
          <a:p>
            <a:pPr marL="0" indent="0">
              <a:buNone/>
            </a:pPr>
            <a:r>
              <a:rPr lang="en-US" sz="1150" dirty="0">
                <a:solidFill>
                  <a:srgbClr val="6E7781"/>
                </a:solidFill>
                <a:latin typeface="Calibri" pitchFamily="34" charset="0"/>
                <a:ea typeface="Calibri" pitchFamily="34" charset="-122"/>
                <a:cs typeface="Calibri" pitchFamily="34" charset="-120"/>
              </a:rPr>
              <a:t>cycleSeconds does not reconcile with wall clock — 388s reported against 376s elapsed. Derive from panel counts instead.</a:t>
            </a:r>
            <a:endParaRPr lang="en-US" sz="1150" dirty="0"/>
          </a:p>
        </p:txBody>
      </p:sp>
      <p:sp>
        <p:nvSpPr>
          <p:cNvPr id="21" name="Shape 19"/>
          <p:cNvSpPr/>
          <p:nvPr/>
        </p:nvSpPr>
        <p:spPr>
          <a:xfrm>
            <a:off x="640080" y="4992624"/>
            <a:ext cx="10881360" cy="1042416"/>
          </a:xfrm>
          <a:prstGeom prst="rect">
            <a:avLst/>
          </a:prstGeom>
          <a:solidFill>
            <a:srgbClr val="FFFFFF"/>
          </a:solidFill>
          <a:ln w="12700">
            <a:solidFill>
              <a:srgbClr val="D8D2C9"/>
            </a:solidFill>
            <a:prstDash val="solid"/>
          </a:ln>
        </p:spPr>
        <p:txBody>
          <a:bodyPr/>
          <a:lstStyle/>
          <a:p>
            <a:endParaRPr lang="en-US"/>
          </a:p>
        </p:txBody>
      </p:sp>
      <p:sp>
        <p:nvSpPr>
          <p:cNvPr id="22" name="Text 20"/>
          <p:cNvSpPr/>
          <p:nvPr/>
        </p:nvSpPr>
        <p:spPr>
          <a:xfrm>
            <a:off x="859536" y="5138928"/>
            <a:ext cx="1051560" cy="566928"/>
          </a:xfrm>
          <a:prstGeom prst="rect">
            <a:avLst/>
          </a:prstGeom>
          <a:noFill/>
          <a:ln/>
        </p:spPr>
        <p:txBody>
          <a:bodyPr wrap="square" lIns="0" tIns="0" rIns="0" bIns="0" rtlCol="0" anchor="ctr"/>
          <a:lstStyle/>
          <a:p>
            <a:pPr marL="0" indent="0" algn="ctr">
              <a:buNone/>
            </a:pPr>
            <a:r>
              <a:rPr lang="en-US" sz="3000" b="1" dirty="0">
                <a:solidFill>
                  <a:srgbClr val="B8621B"/>
                </a:solidFill>
                <a:latin typeface="Cambria" pitchFamily="34" charset="0"/>
                <a:ea typeface="Cambria" pitchFamily="34" charset="-122"/>
                <a:cs typeface="Cambria" pitchFamily="34" charset="-120"/>
              </a:rPr>
              <a:t>0.7</a:t>
            </a:r>
            <a:endParaRPr lang="en-US" sz="3000" dirty="0"/>
          </a:p>
        </p:txBody>
      </p:sp>
      <p:sp>
        <p:nvSpPr>
          <p:cNvPr id="23" name="Text 21"/>
          <p:cNvSpPr/>
          <p:nvPr/>
        </p:nvSpPr>
        <p:spPr>
          <a:xfrm>
            <a:off x="859536" y="5687568"/>
            <a:ext cx="1051560" cy="219456"/>
          </a:xfrm>
          <a:prstGeom prst="rect">
            <a:avLst/>
          </a:prstGeom>
          <a:noFill/>
          <a:ln/>
        </p:spPr>
        <p:txBody>
          <a:bodyPr wrap="square" lIns="0" tIns="0" rIns="0" bIns="0" rtlCol="0" anchor="ctr"/>
          <a:lstStyle/>
          <a:p>
            <a:pPr marL="0" indent="0" algn="ctr">
              <a:buNone/>
            </a:pPr>
            <a:r>
              <a:rPr lang="en-US" sz="950" dirty="0">
                <a:solidFill>
                  <a:srgbClr val="6E7781"/>
                </a:solidFill>
                <a:latin typeface="Calibri" pitchFamily="34" charset="0"/>
                <a:ea typeface="Calibri" pitchFamily="34" charset="-122"/>
                <a:cs typeface="Calibri" pitchFamily="34" charset="-120"/>
              </a:rPr>
              <a:t>wks</a:t>
            </a:r>
            <a:endParaRPr lang="en-US" sz="950" dirty="0"/>
          </a:p>
        </p:txBody>
      </p:sp>
      <p:sp>
        <p:nvSpPr>
          <p:cNvPr id="24" name="Text 22"/>
          <p:cNvSpPr/>
          <p:nvPr/>
        </p:nvSpPr>
        <p:spPr>
          <a:xfrm>
            <a:off x="2121408" y="5138928"/>
            <a:ext cx="9052560" cy="310896"/>
          </a:xfrm>
          <a:prstGeom prst="rect">
            <a:avLst/>
          </a:prstGeom>
          <a:noFill/>
          <a:ln/>
        </p:spPr>
        <p:txBody>
          <a:bodyPr wrap="square" lIns="0" tIns="0" rIns="0" bIns="0" rtlCol="0" anchor="ctr"/>
          <a:lstStyle/>
          <a:p>
            <a:pPr marL="0" indent="0">
              <a:buNone/>
            </a:pPr>
            <a:r>
              <a:rPr lang="en-US" sz="1400" b="1" dirty="0">
                <a:solidFill>
                  <a:srgbClr val="1C1F26"/>
                </a:solidFill>
                <a:latin typeface="Calibri" pitchFamily="34" charset="0"/>
                <a:ea typeface="Calibri" pitchFamily="34" charset="-122"/>
                <a:cs typeface="Calibri" pitchFamily="34" charset="-120"/>
              </a:rPr>
              <a:t>Operator sign-in (a4)</a:t>
            </a:r>
            <a:endParaRPr lang="en-US" sz="1400" dirty="0"/>
          </a:p>
        </p:txBody>
      </p:sp>
      <p:sp>
        <p:nvSpPr>
          <p:cNvPr id="25" name="Text 23"/>
          <p:cNvSpPr/>
          <p:nvPr/>
        </p:nvSpPr>
        <p:spPr>
          <a:xfrm>
            <a:off x="2121408" y="5468112"/>
            <a:ext cx="9052560" cy="457200"/>
          </a:xfrm>
          <a:prstGeom prst="rect">
            <a:avLst/>
          </a:prstGeom>
          <a:noFill/>
          <a:ln/>
        </p:spPr>
        <p:txBody>
          <a:bodyPr wrap="square" lIns="0" tIns="0" rIns="0" bIns="0" rtlCol="0" anchor="ctr"/>
          <a:lstStyle/>
          <a:p>
            <a:pPr marL="0" indent="0">
              <a:buNone/>
            </a:pPr>
            <a:r>
              <a:rPr lang="en-US" sz="1150" dirty="0">
                <a:solidFill>
                  <a:srgbClr val="6E7781"/>
                </a:solidFill>
                <a:latin typeface="Calibri" pitchFamily="34" charset="0"/>
                <a:ea typeface="Calibri" pitchFamily="34" charset="-122"/>
                <a:cs typeface="Calibri" pitchFamily="34" charset="-120"/>
              </a:rPr>
              <a:t>The only inspection action that does not block unsupervised running. run.started may already carry the data.</a:t>
            </a:r>
            <a:endParaRPr lang="en-US" sz="1150" dirty="0"/>
          </a:p>
        </p:txBody>
      </p:sp>
      <p:sp>
        <p:nvSpPr>
          <p:cNvPr id="26" name="Text 24"/>
          <p:cNvSpPr/>
          <p:nvPr/>
        </p:nvSpPr>
        <p:spPr>
          <a:xfrm>
            <a:off x="640080" y="6236208"/>
            <a:ext cx="10881360" cy="292608"/>
          </a:xfrm>
          <a:prstGeom prst="rect">
            <a:avLst/>
          </a:prstGeom>
          <a:noFill/>
          <a:ln/>
        </p:spPr>
        <p:txBody>
          <a:bodyPr wrap="square" lIns="0" tIns="0" rIns="0" bIns="0" rtlCol="0" anchor="ctr"/>
          <a:lstStyle/>
          <a:p>
            <a:pPr marL="0" indent="0">
              <a:buNone/>
            </a:pPr>
            <a:r>
              <a:rPr lang="en-US" sz="1150" i="1" dirty="0">
                <a:solidFill>
                  <a:srgbClr val="6E7781"/>
                </a:solidFill>
                <a:latin typeface="Calibri" pitchFamily="34" charset="0"/>
                <a:ea typeface="Calibri" pitchFamily="34" charset="-122"/>
                <a:cs typeface="Calibri" pitchFamily="34" charset="-120"/>
              </a:rPr>
              <a:t>After cuts: ~21.4 against 23.9. About 10% slack, so the release valves are pre-agreed rather than found later.</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8F5"/>
        </a:solidFill>
        <a:effectLst/>
      </p:bgPr>
    </p:bg>
    <p:spTree>
      <p:nvGrpSpPr>
        <p:cNvPr id="1" name=""/>
        <p:cNvGrpSpPr/>
        <p:nvPr/>
      </p:nvGrpSpPr>
      <p:grpSpPr>
        <a:xfrm>
          <a:off x="0" y="0"/>
          <a:ext cx="0" cy="0"/>
          <a:chOff x="0" y="0"/>
          <a:chExt cx="0" cy="0"/>
        </a:xfrm>
      </p:grpSpPr>
      <p:sp>
        <p:nvSpPr>
          <p:cNvPr id="2" name="Shape 0"/>
          <p:cNvSpPr/>
          <p:nvPr/>
        </p:nvSpPr>
        <p:spPr>
          <a:xfrm>
            <a:off x="640080" y="384048"/>
            <a:ext cx="384048" cy="384048"/>
          </a:xfrm>
          <a:prstGeom prst="rect">
            <a:avLst/>
          </a:prstGeom>
          <a:solidFill>
            <a:srgbClr val="B8621B"/>
          </a:solidFill>
          <a:ln/>
        </p:spPr>
        <p:txBody>
          <a:bodyPr/>
          <a:lstStyle/>
          <a:p>
            <a:endParaRPr lang="en-US"/>
          </a:p>
        </p:txBody>
      </p:sp>
      <p:sp>
        <p:nvSpPr>
          <p:cNvPr id="3" name="Text 1"/>
          <p:cNvSpPr/>
          <p:nvPr/>
        </p:nvSpPr>
        <p:spPr>
          <a:xfrm>
            <a:off x="640080" y="384048"/>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4" name="Text 2"/>
          <p:cNvSpPr/>
          <p:nvPr/>
        </p:nvSpPr>
        <p:spPr>
          <a:xfrm>
            <a:off x="1207008" y="329184"/>
            <a:ext cx="10314432" cy="530352"/>
          </a:xfrm>
          <a:prstGeom prst="rect">
            <a:avLst/>
          </a:prstGeom>
          <a:noFill/>
          <a:ln/>
        </p:spPr>
        <p:txBody>
          <a:bodyPr wrap="square" lIns="0" tIns="0" rIns="0" bIns="0" rtlCol="0" anchor="ctr"/>
          <a:lstStyle/>
          <a:p>
            <a:pPr marL="0" indent="0">
              <a:buNone/>
            </a:pPr>
            <a:r>
              <a:rPr lang="en-US" sz="3000" b="1" dirty="0">
                <a:solidFill>
                  <a:srgbClr val="1C1F26"/>
                </a:solidFill>
                <a:latin typeface="Cambria" pitchFamily="34" charset="0"/>
                <a:ea typeface="Cambria" pitchFamily="34" charset="-122"/>
                <a:cs typeface="Cambria" pitchFamily="34" charset="-120"/>
              </a:rPr>
              <a:t>What I added, and why it came from the data</a:t>
            </a:r>
            <a:endParaRPr lang="en-US" sz="3000" dirty="0"/>
          </a:p>
        </p:txBody>
      </p:sp>
      <p:sp>
        <p:nvSpPr>
          <p:cNvPr id="5" name="Text 3"/>
          <p:cNvSpPr/>
          <p:nvPr/>
        </p:nvSpPr>
        <p:spPr>
          <a:xfrm>
            <a:off x="640080" y="969264"/>
            <a:ext cx="10881360" cy="310896"/>
          </a:xfrm>
          <a:prstGeom prst="rect">
            <a:avLst/>
          </a:prstGeom>
          <a:noFill/>
          <a:ln/>
        </p:spPr>
        <p:txBody>
          <a:bodyPr wrap="square" lIns="0" tIns="0" rIns="0" bIns="0" rtlCol="0" anchor="ctr"/>
          <a:lstStyle/>
          <a:p>
            <a:pPr marL="0" indent="0">
              <a:buNone/>
            </a:pPr>
            <a:r>
              <a:rPr lang="en-US" sz="1400" i="1" dirty="0">
                <a:solidFill>
                  <a:srgbClr val="6E7781"/>
                </a:solidFill>
                <a:latin typeface="Calibri" pitchFamily="34" charset="0"/>
                <a:ea typeface="Calibri" pitchFamily="34" charset="-122"/>
                <a:cs typeface="Calibri" pitchFamily="34" charset="-120"/>
              </a:rPr>
              <a:t>Neither was in the hand-over. Both fall out of reading the fixtures.</a:t>
            </a:r>
            <a:endParaRPr lang="en-US" sz="1400" dirty="0"/>
          </a:p>
        </p:txBody>
      </p:sp>
      <p:sp>
        <p:nvSpPr>
          <p:cNvPr id="6" name="Shape 4"/>
          <p:cNvSpPr/>
          <p:nvPr/>
        </p:nvSpPr>
        <p:spPr>
          <a:xfrm>
            <a:off x="640080" y="1417320"/>
            <a:ext cx="5349240" cy="3703320"/>
          </a:xfrm>
          <a:prstGeom prst="rect">
            <a:avLst/>
          </a:prstGeom>
          <a:solidFill>
            <a:srgbClr val="FFFFFF"/>
          </a:solidFill>
          <a:ln w="12700">
            <a:solidFill>
              <a:srgbClr val="D8D2C9"/>
            </a:solidFill>
            <a:prstDash val="solid"/>
          </a:ln>
        </p:spPr>
        <p:txBody>
          <a:bodyPr/>
          <a:lstStyle/>
          <a:p>
            <a:endParaRPr lang="en-US"/>
          </a:p>
        </p:txBody>
      </p:sp>
      <p:sp>
        <p:nvSpPr>
          <p:cNvPr id="7" name="Shape 5"/>
          <p:cNvSpPr/>
          <p:nvPr/>
        </p:nvSpPr>
        <p:spPr>
          <a:xfrm>
            <a:off x="640080" y="1417320"/>
            <a:ext cx="5349240" cy="420624"/>
          </a:xfrm>
          <a:prstGeom prst="rect">
            <a:avLst/>
          </a:prstGeom>
          <a:solidFill>
            <a:srgbClr val="B8621B"/>
          </a:solidFill>
          <a:ln/>
        </p:spPr>
        <p:txBody>
          <a:bodyPr/>
          <a:lstStyle/>
          <a:p>
            <a:endParaRPr lang="en-US"/>
          </a:p>
        </p:txBody>
      </p:sp>
      <p:sp>
        <p:nvSpPr>
          <p:cNvPr id="8" name="Text 6"/>
          <p:cNvSpPr/>
          <p:nvPr/>
        </p:nvSpPr>
        <p:spPr>
          <a:xfrm>
            <a:off x="859536" y="1417320"/>
            <a:ext cx="4937760" cy="420624"/>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PR-6  Impact and cost assessment</a:t>
            </a:r>
            <a:endParaRPr lang="en-US" sz="1250" dirty="0"/>
          </a:p>
        </p:txBody>
      </p:sp>
      <p:sp>
        <p:nvSpPr>
          <p:cNvPr id="9" name="Text 7"/>
          <p:cNvSpPr/>
          <p:nvPr/>
        </p:nvSpPr>
        <p:spPr>
          <a:xfrm>
            <a:off x="859536" y="1956816"/>
            <a:ext cx="4937760" cy="566928"/>
          </a:xfrm>
          <a:prstGeom prst="rect">
            <a:avLst/>
          </a:prstGeom>
          <a:noFill/>
          <a:ln/>
        </p:spPr>
        <p:txBody>
          <a:bodyPr wrap="square" lIns="0" tIns="0" rIns="0" bIns="0" rtlCol="0" anchor="ctr"/>
          <a:lstStyle/>
          <a:p>
            <a:pPr marL="0" indent="0">
              <a:buNone/>
            </a:pPr>
            <a:r>
              <a:rPr lang="en-US" sz="1150" dirty="0">
                <a:solidFill>
                  <a:srgbClr val="6E7781"/>
                </a:solidFill>
                <a:latin typeface="Calibri" pitchFamily="34" charset="0"/>
                <a:ea typeface="Calibri" pitchFamily="34" charset="-122"/>
                <a:cs typeface="Calibri" pitchFamily="34" charset="-120"/>
              </a:rPr>
              <a:t>Seven of twenty panels changed between r3 and r4. Their recoverability differs completely — and that difference is the whole feature.</a:t>
            </a:r>
            <a:endParaRPr lang="en-US" sz="1150" dirty="0"/>
          </a:p>
        </p:txBody>
      </p:sp>
      <p:sp>
        <p:nvSpPr>
          <p:cNvPr id="10" name="Text 8"/>
          <p:cNvSpPr/>
          <p:nvPr/>
        </p:nvSpPr>
        <p:spPr>
          <a:xfrm>
            <a:off x="859536" y="2615184"/>
            <a:ext cx="1737360" cy="310896"/>
          </a:xfrm>
          <a:prstGeom prst="rect">
            <a:avLst/>
          </a:prstGeom>
          <a:noFill/>
          <a:ln/>
        </p:spPr>
        <p:txBody>
          <a:bodyPr wrap="square" lIns="0" tIns="0" rIns="0" bIns="0" rtlCol="0" anchor="ctr"/>
          <a:lstStyle/>
          <a:p>
            <a:pPr marL="0" indent="0">
              <a:buNone/>
            </a:pPr>
            <a:r>
              <a:rPr lang="en-US" sz="1200" b="1" dirty="0">
                <a:solidFill>
                  <a:srgbClr val="1C1F26"/>
                </a:solidFill>
                <a:latin typeface="Calibri" pitchFamily="34" charset="0"/>
                <a:ea typeface="Calibri" pitchFamily="34" charset="-122"/>
                <a:cs typeface="Calibri" pitchFamily="34" charset="-120"/>
              </a:rPr>
              <a:t>4 manufactured</a:t>
            </a:r>
            <a:endParaRPr lang="en-US" sz="1200" dirty="0"/>
          </a:p>
        </p:txBody>
      </p:sp>
      <p:sp>
        <p:nvSpPr>
          <p:cNvPr id="11" name="Text 9"/>
          <p:cNvSpPr/>
          <p:nvPr/>
        </p:nvSpPr>
        <p:spPr>
          <a:xfrm>
            <a:off x="2651760" y="2615184"/>
            <a:ext cx="1097280" cy="310896"/>
          </a:xfrm>
          <a:prstGeom prst="rect">
            <a:avLst/>
          </a:prstGeom>
          <a:noFill/>
          <a:ln/>
        </p:spPr>
        <p:txBody>
          <a:bodyPr wrap="square" lIns="0" tIns="0" rIns="0" bIns="0" rtlCol="0" anchor="ctr"/>
          <a:lstStyle/>
          <a:p>
            <a:pPr marL="0" indent="0">
              <a:buNone/>
            </a:pPr>
            <a:r>
              <a:rPr lang="en-US" sz="1200" b="1" dirty="0">
                <a:solidFill>
                  <a:srgbClr val="A32020"/>
                </a:solidFill>
                <a:latin typeface="Calibri" pitchFamily="34" charset="0"/>
                <a:ea typeface="Calibri" pitchFamily="34" charset="-122"/>
                <a:cs typeface="Calibri" pitchFamily="34" charset="-120"/>
              </a:rPr>
              <a:t>£720</a:t>
            </a:r>
            <a:endParaRPr lang="en-US" sz="1200" dirty="0"/>
          </a:p>
        </p:txBody>
      </p:sp>
      <p:sp>
        <p:nvSpPr>
          <p:cNvPr id="12" name="Text 10"/>
          <p:cNvSpPr/>
          <p:nvPr/>
        </p:nvSpPr>
        <p:spPr>
          <a:xfrm>
            <a:off x="3794760" y="2615184"/>
            <a:ext cx="2011680" cy="310896"/>
          </a:xfrm>
          <a:prstGeom prst="rect">
            <a:avLst/>
          </a:prstGeom>
          <a:noFill/>
          <a:ln/>
        </p:spPr>
        <p:txBody>
          <a:bodyPr wrap="square" lIns="0" tIns="0" rIns="0" bIns="0" rtlCol="0" anchor="ctr"/>
          <a:lstStyle/>
          <a:p>
            <a:pPr marL="0" indent="0">
              <a:buNone/>
            </a:pPr>
            <a:r>
              <a:rPr lang="en-US" sz="1100" dirty="0">
                <a:solidFill>
                  <a:srgbClr val="6E7781"/>
                </a:solidFill>
                <a:latin typeface="Calibri" pitchFamily="34" charset="0"/>
                <a:ea typeface="Calibri" pitchFamily="34" charset="-122"/>
                <a:cs typeface="Calibri" pitchFamily="34" charset="-120"/>
              </a:rPr>
              <a:t>must be re-made</a:t>
            </a:r>
            <a:endParaRPr lang="en-US" sz="1100" dirty="0"/>
          </a:p>
        </p:txBody>
      </p:sp>
      <p:sp>
        <p:nvSpPr>
          <p:cNvPr id="13" name="Text 11"/>
          <p:cNvSpPr/>
          <p:nvPr/>
        </p:nvSpPr>
        <p:spPr>
          <a:xfrm>
            <a:off x="859536" y="3182112"/>
            <a:ext cx="1737360" cy="310896"/>
          </a:xfrm>
          <a:prstGeom prst="rect">
            <a:avLst/>
          </a:prstGeom>
          <a:noFill/>
          <a:ln/>
        </p:spPr>
        <p:txBody>
          <a:bodyPr wrap="square" lIns="0" tIns="0" rIns="0" bIns="0" rtlCol="0" anchor="ctr"/>
          <a:lstStyle/>
          <a:p>
            <a:pPr marL="0" indent="0">
              <a:buNone/>
            </a:pPr>
            <a:r>
              <a:rPr lang="en-US" sz="1200" b="1" dirty="0">
                <a:solidFill>
                  <a:srgbClr val="1C1F26"/>
                </a:solidFill>
                <a:latin typeface="Calibri" pitchFamily="34" charset="0"/>
                <a:ea typeface="Calibri" pitchFamily="34" charset="-122"/>
                <a:cs typeface="Calibri" pitchFamily="34" charset="-120"/>
              </a:rPr>
              <a:t>2 planned</a:t>
            </a:r>
            <a:endParaRPr lang="en-US" sz="1200" dirty="0"/>
          </a:p>
        </p:txBody>
      </p:sp>
      <p:sp>
        <p:nvSpPr>
          <p:cNvPr id="14" name="Text 12"/>
          <p:cNvSpPr/>
          <p:nvPr/>
        </p:nvSpPr>
        <p:spPr>
          <a:xfrm>
            <a:off x="2651760" y="3182112"/>
            <a:ext cx="1097280" cy="310896"/>
          </a:xfrm>
          <a:prstGeom prst="rect">
            <a:avLst/>
          </a:prstGeom>
          <a:noFill/>
          <a:ln/>
        </p:spPr>
        <p:txBody>
          <a:bodyPr wrap="square" lIns="0" tIns="0" rIns="0" bIns="0" rtlCol="0" anchor="ctr"/>
          <a:lstStyle/>
          <a:p>
            <a:pPr marL="0" indent="0">
              <a:buNone/>
            </a:pPr>
            <a:r>
              <a:rPr lang="en-US" sz="1200" b="1" dirty="0">
                <a:solidFill>
                  <a:srgbClr val="2E7D32"/>
                </a:solidFill>
                <a:latin typeface="Calibri" pitchFamily="34" charset="0"/>
                <a:ea typeface="Calibri" pitchFamily="34" charset="-122"/>
                <a:cs typeface="Calibri" pitchFamily="34" charset="-120"/>
              </a:rPr>
              <a:t>£0</a:t>
            </a:r>
            <a:endParaRPr lang="en-US" sz="1200" dirty="0"/>
          </a:p>
        </p:txBody>
      </p:sp>
      <p:sp>
        <p:nvSpPr>
          <p:cNvPr id="15" name="Text 13"/>
          <p:cNvSpPr/>
          <p:nvPr/>
        </p:nvSpPr>
        <p:spPr>
          <a:xfrm>
            <a:off x="3794760" y="3182112"/>
            <a:ext cx="2011680" cy="310896"/>
          </a:xfrm>
          <a:prstGeom prst="rect">
            <a:avLst/>
          </a:prstGeom>
          <a:noFill/>
          <a:ln/>
        </p:spPr>
        <p:txBody>
          <a:bodyPr wrap="square" lIns="0" tIns="0" rIns="0" bIns="0" rtlCol="0" anchor="ctr"/>
          <a:lstStyle/>
          <a:p>
            <a:pPr marL="0" indent="0">
              <a:buNone/>
            </a:pPr>
            <a:r>
              <a:rPr lang="en-US" sz="1100" dirty="0">
                <a:solidFill>
                  <a:srgbClr val="6E7781"/>
                </a:solidFill>
                <a:latin typeface="Calibri" pitchFamily="34" charset="0"/>
                <a:ea typeface="Calibri" pitchFamily="34" charset="-122"/>
                <a:cs typeface="Calibri" pitchFamily="34" charset="-120"/>
              </a:rPr>
              <a:t>just re-queue</a:t>
            </a:r>
            <a:endParaRPr lang="en-US" sz="1100" dirty="0"/>
          </a:p>
        </p:txBody>
      </p:sp>
      <p:sp>
        <p:nvSpPr>
          <p:cNvPr id="16" name="Text 14"/>
          <p:cNvSpPr/>
          <p:nvPr/>
        </p:nvSpPr>
        <p:spPr>
          <a:xfrm>
            <a:off x="859536" y="3749040"/>
            <a:ext cx="1737360" cy="310896"/>
          </a:xfrm>
          <a:prstGeom prst="rect">
            <a:avLst/>
          </a:prstGeom>
          <a:noFill/>
          <a:ln/>
        </p:spPr>
        <p:txBody>
          <a:bodyPr wrap="square" lIns="0" tIns="0" rIns="0" bIns="0" rtlCol="0" anchor="ctr"/>
          <a:lstStyle/>
          <a:p>
            <a:pPr marL="0" indent="0">
              <a:buNone/>
            </a:pPr>
            <a:r>
              <a:rPr lang="en-US" sz="1200" b="1" dirty="0">
                <a:solidFill>
                  <a:srgbClr val="1C1F26"/>
                </a:solidFill>
                <a:latin typeface="Calibri" pitchFamily="34" charset="0"/>
                <a:ea typeface="Calibri" pitchFamily="34" charset="-122"/>
                <a:cs typeface="Calibri" pitchFamily="34" charset="-120"/>
              </a:rPr>
              <a:t>1 installed</a:t>
            </a:r>
            <a:endParaRPr lang="en-US" sz="1200" dirty="0"/>
          </a:p>
        </p:txBody>
      </p:sp>
      <p:sp>
        <p:nvSpPr>
          <p:cNvPr id="17" name="Text 15"/>
          <p:cNvSpPr/>
          <p:nvPr/>
        </p:nvSpPr>
        <p:spPr>
          <a:xfrm>
            <a:off x="2651760" y="3749040"/>
            <a:ext cx="1097280" cy="310896"/>
          </a:xfrm>
          <a:prstGeom prst="rect">
            <a:avLst/>
          </a:prstGeom>
          <a:noFill/>
          <a:ln/>
        </p:spPr>
        <p:txBody>
          <a:bodyPr wrap="square" lIns="0" tIns="0" rIns="0" bIns="0" rtlCol="0" anchor="ctr"/>
          <a:lstStyle/>
          <a:p>
            <a:pPr marL="0" indent="0">
              <a:buNone/>
            </a:pPr>
            <a:r>
              <a:rPr lang="en-US" sz="1200" b="1" dirty="0">
                <a:solidFill>
                  <a:srgbClr val="1C1F26"/>
                </a:solidFill>
                <a:latin typeface="Calibri" pitchFamily="34" charset="0"/>
                <a:ea typeface="Calibri" pitchFamily="34" charset="-122"/>
                <a:cs typeface="Calibri" pitchFamily="34" charset="-120"/>
              </a:rPr>
              <a:t>escalate</a:t>
            </a:r>
            <a:endParaRPr lang="en-US" sz="1200" dirty="0"/>
          </a:p>
        </p:txBody>
      </p:sp>
      <p:sp>
        <p:nvSpPr>
          <p:cNvPr id="18" name="Text 16"/>
          <p:cNvSpPr/>
          <p:nvPr/>
        </p:nvSpPr>
        <p:spPr>
          <a:xfrm>
            <a:off x="3794760" y="3749040"/>
            <a:ext cx="2011680" cy="310896"/>
          </a:xfrm>
          <a:prstGeom prst="rect">
            <a:avLst/>
          </a:prstGeom>
          <a:noFill/>
          <a:ln/>
        </p:spPr>
        <p:txBody>
          <a:bodyPr wrap="square" lIns="0" tIns="0" rIns="0" bIns="0" rtlCol="0" anchor="ctr"/>
          <a:lstStyle/>
          <a:p>
            <a:pPr marL="0" indent="0">
              <a:buNone/>
            </a:pPr>
            <a:r>
              <a:rPr lang="en-US" sz="1100" dirty="0">
                <a:solidFill>
                  <a:srgbClr val="6E7781"/>
                </a:solidFill>
                <a:latin typeface="Calibri" pitchFamily="34" charset="0"/>
                <a:ea typeface="Calibri" pitchFamily="34" charset="-122"/>
                <a:cs typeface="Calibri" pitchFamily="34" charset="-120"/>
              </a:rPr>
              <a:t>standing in a building</a:t>
            </a:r>
            <a:endParaRPr lang="en-US" sz="1100" dirty="0"/>
          </a:p>
        </p:txBody>
      </p:sp>
      <p:sp>
        <p:nvSpPr>
          <p:cNvPr id="19" name="Text 17"/>
          <p:cNvSpPr/>
          <p:nvPr/>
        </p:nvSpPr>
        <p:spPr>
          <a:xfrm>
            <a:off x="859536" y="4370832"/>
            <a:ext cx="4937760" cy="640080"/>
          </a:xfrm>
          <a:prstGeom prst="rect">
            <a:avLst/>
          </a:prstGeom>
          <a:noFill/>
          <a:ln/>
        </p:spPr>
        <p:txBody>
          <a:bodyPr wrap="square" lIns="0" tIns="0" rIns="0" bIns="0" rtlCol="0" anchor="ctr"/>
          <a:lstStyle/>
          <a:p>
            <a:pPr marL="0" indent="0">
              <a:buNone/>
            </a:pPr>
            <a:r>
              <a:rPr lang="en-US" sz="1150" dirty="0">
                <a:solidFill>
                  <a:srgbClr val="1C1F26"/>
                </a:solidFill>
                <a:latin typeface="Calibri" pitchFamily="34" charset="0"/>
                <a:ea typeface="Calibri" pitchFamily="34" charset="-122"/>
                <a:cs typeface="Calibri" pitchFamily="34" charset="-120"/>
              </a:rPr>
              <a:t>A tool that shows all seven as equally "affected" reproduces the £430-per-build waste it exists to prevent. The only story that surfaced money was marked Should.</a:t>
            </a:r>
            <a:endParaRPr lang="en-US" sz="1150" dirty="0"/>
          </a:p>
        </p:txBody>
      </p:sp>
      <p:sp>
        <p:nvSpPr>
          <p:cNvPr id="20" name="Shape 18"/>
          <p:cNvSpPr/>
          <p:nvPr/>
        </p:nvSpPr>
        <p:spPr>
          <a:xfrm>
            <a:off x="6172200" y="1417320"/>
            <a:ext cx="5349240" cy="3703320"/>
          </a:xfrm>
          <a:prstGeom prst="rect">
            <a:avLst/>
          </a:prstGeom>
          <a:solidFill>
            <a:srgbClr val="FFFFFF"/>
          </a:solidFill>
          <a:ln w="12700">
            <a:solidFill>
              <a:srgbClr val="D8D2C9"/>
            </a:solidFill>
            <a:prstDash val="solid"/>
          </a:ln>
        </p:spPr>
        <p:txBody>
          <a:bodyPr/>
          <a:lstStyle/>
          <a:p>
            <a:endParaRPr lang="en-US"/>
          </a:p>
        </p:txBody>
      </p:sp>
      <p:sp>
        <p:nvSpPr>
          <p:cNvPr id="21" name="Shape 19"/>
          <p:cNvSpPr/>
          <p:nvPr/>
        </p:nvSpPr>
        <p:spPr>
          <a:xfrm>
            <a:off x="6172200" y="1417320"/>
            <a:ext cx="5349240" cy="420624"/>
          </a:xfrm>
          <a:prstGeom prst="rect">
            <a:avLst/>
          </a:prstGeom>
          <a:solidFill>
            <a:srgbClr val="1C1F26"/>
          </a:solidFill>
          <a:ln/>
        </p:spPr>
        <p:txBody>
          <a:bodyPr/>
          <a:lstStyle/>
          <a:p>
            <a:endParaRPr lang="en-US"/>
          </a:p>
        </p:txBody>
      </p:sp>
      <p:sp>
        <p:nvSpPr>
          <p:cNvPr id="22" name="Text 20"/>
          <p:cNvSpPr/>
          <p:nvPr/>
        </p:nvSpPr>
        <p:spPr>
          <a:xfrm>
            <a:off x="6391656" y="1417320"/>
            <a:ext cx="4937760" cy="420624"/>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Firmware v4.2 event schema contract</a:t>
            </a:r>
            <a:endParaRPr lang="en-US" sz="1250" dirty="0"/>
          </a:p>
        </p:txBody>
      </p:sp>
      <p:sp>
        <p:nvSpPr>
          <p:cNvPr id="23" name="Text 21"/>
          <p:cNvSpPr/>
          <p:nvPr/>
        </p:nvSpPr>
        <p:spPr>
          <a:xfrm>
            <a:off x="6391656" y="1956816"/>
            <a:ext cx="4937760" cy="566928"/>
          </a:xfrm>
          <a:prstGeom prst="rect">
            <a:avLst/>
          </a:prstGeom>
          <a:noFill/>
          <a:ln/>
        </p:spPr>
        <p:txBody>
          <a:bodyPr wrap="square" lIns="0" tIns="0" rIns="0" bIns="0" rtlCol="0" anchor="ctr"/>
          <a:lstStyle/>
          <a:p>
            <a:pPr marL="0" indent="0">
              <a:buNone/>
            </a:pPr>
            <a:r>
              <a:rPr lang="en-US" sz="1150" dirty="0">
                <a:solidFill>
                  <a:srgbClr val="6E7781"/>
                </a:solidFill>
                <a:latin typeface="Calibri" pitchFamily="34" charset="0"/>
                <a:ea typeface="Calibri" pitchFamily="34" charset="-122"/>
                <a:cs typeface="Calibri" pitchFamily="34" charset="-120"/>
              </a:rPr>
              <a:t>Three separate blockers turn out to be one missing document. Nobody wrote down what the controller must emit — only what it must do.</a:t>
            </a:r>
            <a:endParaRPr lang="en-US" sz="1150" dirty="0"/>
          </a:p>
        </p:txBody>
      </p:sp>
      <p:sp>
        <p:nvSpPr>
          <p:cNvPr id="24" name="Text 22"/>
          <p:cNvSpPr/>
          <p:nvPr/>
        </p:nvSpPr>
        <p:spPr>
          <a:xfrm>
            <a:off x="6391656" y="2615184"/>
            <a:ext cx="2651760" cy="310896"/>
          </a:xfrm>
          <a:prstGeom prst="rect">
            <a:avLst/>
          </a:prstGeom>
          <a:noFill/>
          <a:ln/>
        </p:spPr>
        <p:txBody>
          <a:bodyPr wrap="square" lIns="0" tIns="0" rIns="0" bIns="0" rtlCol="0" anchor="ctr"/>
          <a:lstStyle/>
          <a:p>
            <a:pPr marL="0" indent="0">
              <a:buNone/>
            </a:pPr>
            <a:r>
              <a:rPr lang="en-US" sz="1150" b="1" dirty="0">
                <a:solidFill>
                  <a:srgbClr val="1C1F26"/>
                </a:solidFill>
                <a:latin typeface="Calibri" pitchFamily="34" charset="0"/>
                <a:ea typeface="Calibri" pitchFamily="34" charset="-122"/>
                <a:cs typeface="Calibri" pitchFamily="34" charset="-120"/>
              </a:rPr>
              <a:t>FM-4  buffer and reconcile</a:t>
            </a:r>
            <a:endParaRPr lang="en-US" sz="1150" dirty="0"/>
          </a:p>
        </p:txBody>
      </p:sp>
      <p:sp>
        <p:nvSpPr>
          <p:cNvPr id="25" name="Text 23"/>
          <p:cNvSpPr/>
          <p:nvPr/>
        </p:nvSpPr>
        <p:spPr>
          <a:xfrm>
            <a:off x="9098280" y="2615184"/>
            <a:ext cx="2240280" cy="310896"/>
          </a:xfrm>
          <a:prstGeom prst="rect">
            <a:avLst/>
          </a:prstGeom>
          <a:noFill/>
          <a:ln/>
        </p:spPr>
        <p:txBody>
          <a:bodyPr wrap="square" lIns="0" tIns="0" rIns="0" bIns="0" rtlCol="0" anchor="ctr"/>
          <a:lstStyle/>
          <a:p>
            <a:pPr marL="0" indent="0" algn="r">
              <a:buNone/>
            </a:pPr>
            <a:r>
              <a:rPr lang="en-US" sz="1100" dirty="0">
                <a:solidFill>
                  <a:srgbClr val="6E7781"/>
                </a:solidFill>
                <a:latin typeface="Calibri" pitchFamily="34" charset="0"/>
                <a:ea typeface="Calibri" pitchFamily="34" charset="-122"/>
                <a:cs typeface="Calibri" pitchFamily="34" charset="-120"/>
              </a:rPr>
              <a:t>Blocked → fully fixed</a:t>
            </a:r>
            <a:endParaRPr lang="en-US" sz="1100" dirty="0"/>
          </a:p>
        </p:txBody>
      </p:sp>
      <p:sp>
        <p:nvSpPr>
          <p:cNvPr id="26" name="Text 24"/>
          <p:cNvSpPr/>
          <p:nvPr/>
        </p:nvSpPr>
        <p:spPr>
          <a:xfrm>
            <a:off x="6391656" y="3182112"/>
            <a:ext cx="2651760" cy="310896"/>
          </a:xfrm>
          <a:prstGeom prst="rect">
            <a:avLst/>
          </a:prstGeom>
          <a:noFill/>
          <a:ln/>
        </p:spPr>
        <p:txBody>
          <a:bodyPr wrap="square" lIns="0" tIns="0" rIns="0" bIns="0" rtlCol="0" anchor="ctr"/>
          <a:lstStyle/>
          <a:p>
            <a:pPr marL="0" indent="0">
              <a:buNone/>
            </a:pPr>
            <a:r>
              <a:rPr lang="en-US" sz="1150" b="1" dirty="0">
                <a:solidFill>
                  <a:srgbClr val="1C1F26"/>
                </a:solidFill>
                <a:latin typeface="Calibri" pitchFamily="34" charset="0"/>
                <a:ea typeface="Calibri" pitchFamily="34" charset="-122"/>
                <a:cs typeface="Calibri" pitchFamily="34" charset="-120"/>
              </a:rPr>
              <a:t>a2  e-stop audit log</a:t>
            </a:r>
            <a:endParaRPr lang="en-US" sz="1150" dirty="0"/>
          </a:p>
        </p:txBody>
      </p:sp>
      <p:sp>
        <p:nvSpPr>
          <p:cNvPr id="27" name="Text 25"/>
          <p:cNvSpPr/>
          <p:nvPr/>
        </p:nvSpPr>
        <p:spPr>
          <a:xfrm>
            <a:off x="9098280" y="3182112"/>
            <a:ext cx="2240280" cy="310896"/>
          </a:xfrm>
          <a:prstGeom prst="rect">
            <a:avLst/>
          </a:prstGeom>
          <a:noFill/>
          <a:ln/>
        </p:spPr>
        <p:txBody>
          <a:bodyPr wrap="square" lIns="0" tIns="0" rIns="0" bIns="0" rtlCol="0" anchor="ctr"/>
          <a:lstStyle/>
          <a:p>
            <a:pPr marL="0" indent="0" algn="r">
              <a:buNone/>
            </a:pPr>
            <a:r>
              <a:rPr lang="en-US" sz="1100" dirty="0">
                <a:solidFill>
                  <a:srgbClr val="6E7781"/>
                </a:solidFill>
                <a:latin typeface="Calibri" pitchFamily="34" charset="0"/>
                <a:ea typeface="Calibri" pitchFamily="34" charset="-122"/>
                <a:cs typeface="Calibri" pitchFamily="34" charset="-120"/>
              </a:rPr>
              <a:t>Buildable now → improved</a:t>
            </a:r>
            <a:endParaRPr lang="en-US" sz="1100" dirty="0"/>
          </a:p>
        </p:txBody>
      </p:sp>
      <p:sp>
        <p:nvSpPr>
          <p:cNvPr id="28" name="Text 26"/>
          <p:cNvSpPr/>
          <p:nvPr/>
        </p:nvSpPr>
        <p:spPr>
          <a:xfrm>
            <a:off x="6391656" y="3749040"/>
            <a:ext cx="2651760" cy="310896"/>
          </a:xfrm>
          <a:prstGeom prst="rect">
            <a:avLst/>
          </a:prstGeom>
          <a:noFill/>
          <a:ln/>
        </p:spPr>
        <p:txBody>
          <a:bodyPr wrap="square" lIns="0" tIns="0" rIns="0" bIns="0" rtlCol="0" anchor="ctr"/>
          <a:lstStyle/>
          <a:p>
            <a:pPr marL="0" indent="0">
              <a:buNone/>
            </a:pPr>
            <a:r>
              <a:rPr lang="en-US" sz="1150" b="1" dirty="0">
                <a:solidFill>
                  <a:srgbClr val="1C1F26"/>
                </a:solidFill>
                <a:latin typeface="Calibri" pitchFamily="34" charset="0"/>
                <a:ea typeface="Calibri" pitchFamily="34" charset="-122"/>
                <a:cs typeface="Calibri" pitchFamily="34" charset="-120"/>
              </a:rPr>
              <a:t>a3  per-axis stop timing</a:t>
            </a:r>
            <a:endParaRPr lang="en-US" sz="1150" dirty="0"/>
          </a:p>
        </p:txBody>
      </p:sp>
      <p:sp>
        <p:nvSpPr>
          <p:cNvPr id="29" name="Text 27"/>
          <p:cNvSpPr/>
          <p:nvPr/>
        </p:nvSpPr>
        <p:spPr>
          <a:xfrm>
            <a:off x="9098280" y="3749040"/>
            <a:ext cx="2240280" cy="310896"/>
          </a:xfrm>
          <a:prstGeom prst="rect">
            <a:avLst/>
          </a:prstGeom>
          <a:noFill/>
          <a:ln/>
        </p:spPr>
        <p:txBody>
          <a:bodyPr wrap="square" lIns="0" tIns="0" rIns="0" bIns="0" rtlCol="0" anchor="ctr"/>
          <a:lstStyle/>
          <a:p>
            <a:pPr marL="0" indent="0" algn="r">
              <a:buNone/>
            </a:pPr>
            <a:r>
              <a:rPr lang="en-US" sz="1100" dirty="0">
                <a:solidFill>
                  <a:srgbClr val="6E7781"/>
                </a:solidFill>
                <a:latin typeface="Calibri" pitchFamily="34" charset="0"/>
                <a:ea typeface="Calibri" pitchFamily="34" charset="-122"/>
                <a:cs typeface="Calibri" pitchFamily="34" charset="-120"/>
              </a:rPr>
              <a:t>Needs a new event type</a:t>
            </a:r>
            <a:endParaRPr lang="en-US" sz="1100" dirty="0"/>
          </a:p>
        </p:txBody>
      </p:sp>
      <p:sp>
        <p:nvSpPr>
          <p:cNvPr id="30" name="Text 28"/>
          <p:cNvSpPr/>
          <p:nvPr/>
        </p:nvSpPr>
        <p:spPr>
          <a:xfrm>
            <a:off x="6391656" y="4370832"/>
            <a:ext cx="4937760" cy="640080"/>
          </a:xfrm>
          <a:prstGeom prst="rect">
            <a:avLst/>
          </a:prstGeom>
          <a:noFill/>
          <a:ln/>
        </p:spPr>
        <p:txBody>
          <a:bodyPr wrap="square" lIns="0" tIns="0" rIns="0" bIns="0" rtlCol="0" anchor="ctr"/>
          <a:lstStyle/>
          <a:p>
            <a:pPr marL="0" indent="0">
              <a:buNone/>
            </a:pPr>
            <a:r>
              <a:rPr lang="en-US" sz="1150" dirty="0">
                <a:solidFill>
                  <a:srgbClr val="1C1F26"/>
                </a:solidFill>
                <a:latin typeface="Calibri" pitchFamily="34" charset="0"/>
                <a:ea typeface="Calibri" pitchFamily="34" charset="-122"/>
                <a:cs typeface="Calibri" pitchFamily="34" charset="-120"/>
              </a:rPr>
              <a:t>One document, three blockers, three different resolutions — I was wrong to say it fixed all three. It must be agreed before boards land in week 3, because there is no v4.3 before the demo.</a:t>
            </a:r>
            <a:endParaRPr lang="en-US" sz="1150" dirty="0"/>
          </a:p>
        </p:txBody>
      </p:sp>
      <p:sp>
        <p:nvSpPr>
          <p:cNvPr id="31" name="Text 29"/>
          <p:cNvSpPr/>
          <p:nvPr/>
        </p:nvSpPr>
        <p:spPr>
          <a:xfrm>
            <a:off x="640080" y="5321808"/>
            <a:ext cx="10881360" cy="310896"/>
          </a:xfrm>
          <a:prstGeom prst="rect">
            <a:avLst/>
          </a:prstGeom>
          <a:noFill/>
          <a:ln/>
        </p:spPr>
        <p:txBody>
          <a:bodyPr wrap="square" lIns="0" tIns="0" rIns="0" bIns="0" rtlCol="0" anchor="ctr"/>
          <a:lstStyle/>
          <a:p>
            <a:pPr marL="0" indent="0">
              <a:buNone/>
            </a:pPr>
            <a:r>
              <a:rPr lang="en-US" sz="1200" i="1" dirty="0">
                <a:solidFill>
                  <a:srgbClr val="6E7781"/>
                </a:solidFill>
                <a:latin typeface="Calibri" pitchFamily="34" charset="0"/>
                <a:ea typeface="Calibri" pitchFamily="34" charset="-122"/>
                <a:cs typeface="Calibri" pitchFamily="34" charset="-120"/>
              </a:rPr>
              <a:t>Both findings came from running the fixture data rather than reading the briefs.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8F5"/>
        </a:solidFill>
        <a:effectLst/>
      </p:bgPr>
    </p:bg>
    <p:spTree>
      <p:nvGrpSpPr>
        <p:cNvPr id="1" name=""/>
        <p:cNvGrpSpPr/>
        <p:nvPr/>
      </p:nvGrpSpPr>
      <p:grpSpPr>
        <a:xfrm>
          <a:off x="0" y="0"/>
          <a:ext cx="0" cy="0"/>
          <a:chOff x="0" y="0"/>
          <a:chExt cx="0" cy="0"/>
        </a:xfrm>
      </p:grpSpPr>
      <p:sp>
        <p:nvSpPr>
          <p:cNvPr id="2" name="Shape 0"/>
          <p:cNvSpPr/>
          <p:nvPr/>
        </p:nvSpPr>
        <p:spPr>
          <a:xfrm>
            <a:off x="640080" y="384048"/>
            <a:ext cx="384048" cy="384048"/>
          </a:xfrm>
          <a:prstGeom prst="rect">
            <a:avLst/>
          </a:prstGeom>
          <a:solidFill>
            <a:srgbClr val="B8621B"/>
          </a:solidFill>
          <a:ln/>
        </p:spPr>
        <p:txBody>
          <a:bodyPr/>
          <a:lstStyle/>
          <a:p>
            <a:endParaRPr lang="en-US"/>
          </a:p>
        </p:txBody>
      </p:sp>
      <p:sp>
        <p:nvSpPr>
          <p:cNvPr id="3" name="Text 1"/>
          <p:cNvSpPr/>
          <p:nvPr/>
        </p:nvSpPr>
        <p:spPr>
          <a:xfrm>
            <a:off x="640080" y="384048"/>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4" name="Text 2"/>
          <p:cNvSpPr/>
          <p:nvPr/>
        </p:nvSpPr>
        <p:spPr>
          <a:xfrm>
            <a:off x="1207008" y="329184"/>
            <a:ext cx="10314432" cy="530352"/>
          </a:xfrm>
          <a:prstGeom prst="rect">
            <a:avLst/>
          </a:prstGeom>
          <a:noFill/>
          <a:ln/>
        </p:spPr>
        <p:txBody>
          <a:bodyPr wrap="square" lIns="0" tIns="0" rIns="0" bIns="0" rtlCol="0" anchor="ctr"/>
          <a:lstStyle/>
          <a:p>
            <a:pPr marL="0" indent="0">
              <a:buNone/>
            </a:pPr>
            <a:r>
              <a:rPr lang="en-US" sz="3000" b="1" dirty="0">
                <a:solidFill>
                  <a:srgbClr val="1C1F26"/>
                </a:solidFill>
                <a:latin typeface="Cambria" pitchFamily="34" charset="0"/>
                <a:ea typeface="Cambria" pitchFamily="34" charset="-122"/>
                <a:cs typeface="Cambria" pitchFamily="34" charset="-120"/>
              </a:rPr>
              <a:t>What I built, and why not the obvious one</a:t>
            </a:r>
            <a:endParaRPr lang="en-US" sz="3000" dirty="0"/>
          </a:p>
        </p:txBody>
      </p:sp>
      <p:sp>
        <p:nvSpPr>
          <p:cNvPr id="5" name="Text 3"/>
          <p:cNvSpPr/>
          <p:nvPr/>
        </p:nvSpPr>
        <p:spPr>
          <a:xfrm>
            <a:off x="640080" y="969264"/>
            <a:ext cx="10881360" cy="310896"/>
          </a:xfrm>
          <a:prstGeom prst="rect">
            <a:avLst/>
          </a:prstGeom>
          <a:noFill/>
          <a:ln/>
        </p:spPr>
        <p:txBody>
          <a:bodyPr wrap="square" lIns="0" tIns="0" rIns="0" bIns="0" rtlCol="0" anchor="ctr"/>
          <a:lstStyle/>
          <a:p>
            <a:pPr marL="0" indent="0">
              <a:buNone/>
            </a:pPr>
            <a:r>
              <a:rPr lang="en-US" sz="1400" i="1" dirty="0">
                <a:solidFill>
                  <a:srgbClr val="6E7781"/>
                </a:solidFill>
                <a:latin typeface="Calibri" pitchFamily="34" charset="0"/>
                <a:ea typeface="Calibri" pitchFamily="34" charset="-122"/>
                <a:cs typeface="Calibri" pitchFamily="34" charset="-120"/>
              </a:rPr>
              <a:t>The brief asks for one slice. The second settles an architectural disagreement in code.</a:t>
            </a:r>
            <a:endParaRPr lang="en-US" sz="1400" dirty="0"/>
          </a:p>
        </p:txBody>
      </p:sp>
      <p:sp>
        <p:nvSpPr>
          <p:cNvPr id="6" name="Shape 4"/>
          <p:cNvSpPr/>
          <p:nvPr/>
        </p:nvSpPr>
        <p:spPr>
          <a:xfrm>
            <a:off x="640080" y="1417320"/>
            <a:ext cx="5349240" cy="4206240"/>
          </a:xfrm>
          <a:prstGeom prst="rect">
            <a:avLst/>
          </a:prstGeom>
          <a:solidFill>
            <a:srgbClr val="FFFFFF"/>
          </a:solidFill>
          <a:ln w="12700">
            <a:solidFill>
              <a:srgbClr val="D8D2C9"/>
            </a:solidFill>
            <a:prstDash val="solid"/>
          </a:ln>
        </p:spPr>
        <p:txBody>
          <a:bodyPr/>
          <a:lstStyle/>
          <a:p>
            <a:endParaRPr lang="en-US"/>
          </a:p>
        </p:txBody>
      </p:sp>
      <p:sp>
        <p:nvSpPr>
          <p:cNvPr id="7" name="Text 5"/>
          <p:cNvSpPr/>
          <p:nvPr/>
        </p:nvSpPr>
        <p:spPr>
          <a:xfrm>
            <a:off x="859536" y="1591056"/>
            <a:ext cx="4937760" cy="256032"/>
          </a:xfrm>
          <a:prstGeom prst="rect">
            <a:avLst/>
          </a:prstGeom>
          <a:noFill/>
          <a:ln/>
        </p:spPr>
        <p:txBody>
          <a:bodyPr wrap="square" lIns="0" tIns="0" rIns="0" bIns="0" rtlCol="0" anchor="ctr"/>
          <a:lstStyle/>
          <a:p>
            <a:pPr marL="0" indent="0">
              <a:buNone/>
            </a:pPr>
            <a:r>
              <a:rPr lang="en-US" sz="1000" b="1" kern="0" spc="140" dirty="0">
                <a:solidFill>
                  <a:srgbClr val="A32020"/>
                </a:solidFill>
                <a:latin typeface="Calibri" pitchFamily="34" charset="0"/>
                <a:ea typeface="Calibri" pitchFamily="34" charset="-122"/>
                <a:cs typeface="Calibri" pitchFamily="34" charset="-120"/>
              </a:rPr>
              <a:t>SLICE 1 · PYTHON</a:t>
            </a:r>
            <a:endParaRPr lang="en-US" sz="1000" dirty="0"/>
          </a:p>
        </p:txBody>
      </p:sp>
      <p:sp>
        <p:nvSpPr>
          <p:cNvPr id="8" name="Text 6"/>
          <p:cNvSpPr/>
          <p:nvPr/>
        </p:nvSpPr>
        <p:spPr>
          <a:xfrm>
            <a:off x="859536" y="1883664"/>
            <a:ext cx="4937760" cy="384048"/>
          </a:xfrm>
          <a:prstGeom prst="rect">
            <a:avLst/>
          </a:prstGeom>
          <a:noFill/>
          <a:ln/>
        </p:spPr>
        <p:txBody>
          <a:bodyPr wrap="square" lIns="0" tIns="0" rIns="0" bIns="0" rtlCol="0" anchor="ctr"/>
          <a:lstStyle/>
          <a:p>
            <a:pPr marL="0" indent="0">
              <a:buNone/>
            </a:pPr>
            <a:r>
              <a:rPr lang="en-US" sz="1900" b="1" dirty="0">
                <a:solidFill>
                  <a:srgbClr val="1C1F26"/>
                </a:solidFill>
                <a:latin typeface="Cambria" pitchFamily="34" charset="0"/>
                <a:ea typeface="Cambria" pitchFamily="34" charset="-122"/>
                <a:cs typeface="Cambria" pitchFamily="34" charset="-120"/>
              </a:rPr>
              <a:t>E-stop audit and stop-response</a:t>
            </a:r>
            <a:endParaRPr lang="en-US" sz="1900" dirty="0"/>
          </a:p>
        </p:txBody>
      </p:sp>
      <p:sp>
        <p:nvSpPr>
          <p:cNvPr id="9" name="Text 7"/>
          <p:cNvSpPr/>
          <p:nvPr/>
        </p:nvSpPr>
        <p:spPr>
          <a:xfrm>
            <a:off x="859536" y="2286000"/>
            <a:ext cx="4937760" cy="274320"/>
          </a:xfrm>
          <a:prstGeom prst="rect">
            <a:avLst/>
          </a:prstGeom>
          <a:noFill/>
          <a:ln/>
        </p:spPr>
        <p:txBody>
          <a:bodyPr wrap="square" lIns="0" tIns="0" rIns="0" bIns="0" rtlCol="0" anchor="ctr"/>
          <a:lstStyle/>
          <a:p>
            <a:pPr marL="0" indent="0">
              <a:buNone/>
            </a:pPr>
            <a:r>
              <a:rPr lang="en-US" sz="1150" i="1" dirty="0">
                <a:solidFill>
                  <a:srgbClr val="6E7781"/>
                </a:solidFill>
                <a:latin typeface="Calibri" pitchFamily="34" charset="0"/>
                <a:ea typeface="Calibri" pitchFamily="34" charset="-122"/>
                <a:cs typeface="Calibri" pitchFamily="34" charset="-120"/>
              </a:rPr>
              <a:t>Inspection actions a2 and a3</a:t>
            </a:r>
            <a:endParaRPr lang="en-US" sz="1150" dirty="0"/>
          </a:p>
        </p:txBody>
      </p:sp>
      <p:sp>
        <p:nvSpPr>
          <p:cNvPr id="10" name="Shape 8"/>
          <p:cNvSpPr/>
          <p:nvPr/>
        </p:nvSpPr>
        <p:spPr>
          <a:xfrm>
            <a:off x="877824" y="2807208"/>
            <a:ext cx="91440" cy="91440"/>
          </a:xfrm>
          <a:prstGeom prst="rect">
            <a:avLst/>
          </a:prstGeom>
          <a:solidFill>
            <a:srgbClr val="A32020"/>
          </a:solidFill>
          <a:ln/>
        </p:spPr>
        <p:txBody>
          <a:bodyPr/>
          <a:lstStyle/>
          <a:p>
            <a:endParaRPr lang="en-US"/>
          </a:p>
        </p:txBody>
      </p:sp>
      <p:sp>
        <p:nvSpPr>
          <p:cNvPr id="11" name="Text 9"/>
          <p:cNvSpPr/>
          <p:nvPr/>
        </p:nvSpPr>
        <p:spPr>
          <a:xfrm>
            <a:off x="1115568" y="2724912"/>
            <a:ext cx="4663440" cy="548640"/>
          </a:xfrm>
          <a:prstGeom prst="rect">
            <a:avLst/>
          </a:prstGeom>
          <a:noFill/>
          <a:ln/>
        </p:spPr>
        <p:txBody>
          <a:bodyPr wrap="square" lIns="0" tIns="0" rIns="0" bIns="0" rtlCol="0" anchor="ctr"/>
          <a:lstStyle/>
          <a:p>
            <a:pPr marL="0" indent="0">
              <a:buNone/>
            </a:pPr>
            <a:r>
              <a:rPr lang="en-US" sz="1150" dirty="0">
                <a:solidFill>
                  <a:srgbClr val="1C1F26"/>
                </a:solidFill>
                <a:latin typeface="Calibri" pitchFamily="34" charset="0"/>
                <a:ea typeface="Calibri" pitchFamily="34" charset="-122"/>
                <a:cs typeface="Calibri" pitchFamily="34" charset="-120"/>
              </a:rPr>
              <a:t>a2 is the first link in the chain that gates the unsupervised demo.</a:t>
            </a:r>
            <a:endParaRPr lang="en-US" sz="1150" dirty="0"/>
          </a:p>
        </p:txBody>
      </p:sp>
      <p:sp>
        <p:nvSpPr>
          <p:cNvPr id="12" name="Shape 10"/>
          <p:cNvSpPr/>
          <p:nvPr/>
        </p:nvSpPr>
        <p:spPr>
          <a:xfrm>
            <a:off x="877824" y="3410712"/>
            <a:ext cx="91440" cy="91440"/>
          </a:xfrm>
          <a:prstGeom prst="rect">
            <a:avLst/>
          </a:prstGeom>
          <a:solidFill>
            <a:srgbClr val="A32020"/>
          </a:solidFill>
          <a:ln/>
        </p:spPr>
        <p:txBody>
          <a:bodyPr/>
          <a:lstStyle/>
          <a:p>
            <a:endParaRPr lang="en-US"/>
          </a:p>
        </p:txBody>
      </p:sp>
      <p:sp>
        <p:nvSpPr>
          <p:cNvPr id="13" name="Text 11"/>
          <p:cNvSpPr/>
          <p:nvPr/>
        </p:nvSpPr>
        <p:spPr>
          <a:xfrm>
            <a:off x="1115568" y="3328416"/>
            <a:ext cx="4663440" cy="548640"/>
          </a:xfrm>
          <a:prstGeom prst="rect">
            <a:avLst/>
          </a:prstGeom>
          <a:noFill/>
          <a:ln/>
        </p:spPr>
        <p:txBody>
          <a:bodyPr wrap="square" lIns="0" tIns="0" rIns="0" bIns="0" rtlCol="0" anchor="ctr"/>
          <a:lstStyle/>
          <a:p>
            <a:pPr marL="0" indent="0">
              <a:buNone/>
            </a:pPr>
            <a:r>
              <a:rPr lang="en-US" sz="1150" dirty="0">
                <a:solidFill>
                  <a:srgbClr val="1C1F26"/>
                </a:solidFill>
                <a:latin typeface="Calibri" pitchFamily="34" charset="0"/>
                <a:ea typeface="Calibri" pitchFamily="34" charset="-122"/>
                <a:cs typeface="Calibri" pitchFamily="34" charset="-120"/>
              </a:rPr>
              <a:t>a3 had no owner — the hand-over reads "Not agreed".</a:t>
            </a:r>
            <a:endParaRPr lang="en-US" sz="1150" dirty="0"/>
          </a:p>
        </p:txBody>
      </p:sp>
      <p:sp>
        <p:nvSpPr>
          <p:cNvPr id="14" name="Shape 12"/>
          <p:cNvSpPr/>
          <p:nvPr/>
        </p:nvSpPr>
        <p:spPr>
          <a:xfrm>
            <a:off x="877824" y="4014216"/>
            <a:ext cx="91440" cy="91440"/>
          </a:xfrm>
          <a:prstGeom prst="rect">
            <a:avLst/>
          </a:prstGeom>
          <a:solidFill>
            <a:srgbClr val="A32020"/>
          </a:solidFill>
          <a:ln/>
        </p:spPr>
        <p:txBody>
          <a:bodyPr/>
          <a:lstStyle/>
          <a:p>
            <a:endParaRPr lang="en-US"/>
          </a:p>
        </p:txBody>
      </p:sp>
      <p:sp>
        <p:nvSpPr>
          <p:cNvPr id="15" name="Text 13"/>
          <p:cNvSpPr/>
          <p:nvPr/>
        </p:nvSpPr>
        <p:spPr>
          <a:xfrm>
            <a:off x="1115568" y="3931920"/>
            <a:ext cx="4663440" cy="548640"/>
          </a:xfrm>
          <a:prstGeom prst="rect">
            <a:avLst/>
          </a:prstGeom>
          <a:noFill/>
          <a:ln/>
        </p:spPr>
        <p:txBody>
          <a:bodyPr wrap="square" lIns="0" tIns="0" rIns="0" bIns="0" rtlCol="0" anchor="ctr"/>
          <a:lstStyle/>
          <a:p>
            <a:pPr marL="0" indent="0">
              <a:buNone/>
            </a:pPr>
            <a:r>
              <a:rPr lang="en-US" sz="1150" dirty="0">
                <a:solidFill>
                  <a:srgbClr val="1C1F26"/>
                </a:solidFill>
                <a:latin typeface="Calibri" pitchFamily="34" charset="0"/>
                <a:ea typeface="Calibri" pitchFamily="34" charset="-122"/>
                <a:cs typeface="Calibri" pitchFamily="34" charset="-120"/>
              </a:rPr>
              <a:t>Sits across the software/robotics boundary, where a lead should be.</a:t>
            </a:r>
            <a:endParaRPr lang="en-US" sz="1150" dirty="0"/>
          </a:p>
        </p:txBody>
      </p:sp>
      <p:sp>
        <p:nvSpPr>
          <p:cNvPr id="16" name="Text 14"/>
          <p:cNvSpPr/>
          <p:nvPr/>
        </p:nvSpPr>
        <p:spPr>
          <a:xfrm>
            <a:off x="859536" y="4700016"/>
            <a:ext cx="4937760" cy="749808"/>
          </a:xfrm>
          <a:prstGeom prst="rect">
            <a:avLst/>
          </a:prstGeom>
          <a:noFill/>
          <a:ln/>
        </p:spPr>
        <p:txBody>
          <a:bodyPr wrap="square" lIns="0" tIns="0" rIns="0" bIns="0" rtlCol="0" anchor="ctr"/>
          <a:lstStyle/>
          <a:p>
            <a:pPr marL="0" indent="0">
              <a:buNone/>
            </a:pPr>
            <a:r>
              <a:rPr lang="en-US" sz="1050" dirty="0">
                <a:solidFill>
                  <a:srgbClr val="6E7781"/>
                </a:solidFill>
                <a:latin typeface="Calibri" pitchFamily="34" charset="0"/>
                <a:ea typeface="Calibri" pitchFamily="34" charset="-122"/>
                <a:cs typeface="Calibri" pitchFamily="34" charset="-120"/>
              </a:rPr>
              <a:t>Records a ≤1s resolution limit rather than false precision. Per-axis deltas are not derivable: six axes, one event, one timestamp.</a:t>
            </a:r>
            <a:endParaRPr lang="en-US" sz="1050" dirty="0"/>
          </a:p>
        </p:txBody>
      </p:sp>
      <p:sp>
        <p:nvSpPr>
          <p:cNvPr id="17" name="Shape 15"/>
          <p:cNvSpPr/>
          <p:nvPr/>
        </p:nvSpPr>
        <p:spPr>
          <a:xfrm>
            <a:off x="6172200" y="1417320"/>
            <a:ext cx="5349240" cy="4206240"/>
          </a:xfrm>
          <a:prstGeom prst="rect">
            <a:avLst/>
          </a:prstGeom>
          <a:solidFill>
            <a:srgbClr val="FFFFFF"/>
          </a:solidFill>
          <a:ln w="12700">
            <a:solidFill>
              <a:srgbClr val="D8D2C9"/>
            </a:solidFill>
            <a:prstDash val="solid"/>
          </a:ln>
        </p:spPr>
        <p:txBody>
          <a:bodyPr/>
          <a:lstStyle/>
          <a:p>
            <a:endParaRPr lang="en-US"/>
          </a:p>
        </p:txBody>
      </p:sp>
      <p:sp>
        <p:nvSpPr>
          <p:cNvPr id="18" name="Text 16"/>
          <p:cNvSpPr/>
          <p:nvPr/>
        </p:nvSpPr>
        <p:spPr>
          <a:xfrm>
            <a:off x="6391656" y="1591056"/>
            <a:ext cx="4937760" cy="256032"/>
          </a:xfrm>
          <a:prstGeom prst="rect">
            <a:avLst/>
          </a:prstGeom>
          <a:noFill/>
          <a:ln/>
        </p:spPr>
        <p:txBody>
          <a:bodyPr wrap="square" lIns="0" tIns="0" rIns="0" bIns="0" rtlCol="0" anchor="ctr"/>
          <a:lstStyle/>
          <a:p>
            <a:pPr marL="0" indent="0">
              <a:buNone/>
            </a:pPr>
            <a:r>
              <a:rPr lang="en-US" sz="1000" b="1" kern="0" spc="140" dirty="0">
                <a:solidFill>
                  <a:srgbClr val="B8621B"/>
                </a:solidFill>
                <a:latin typeface="Calibri" pitchFamily="34" charset="0"/>
                <a:ea typeface="Calibri" pitchFamily="34" charset="-122"/>
                <a:cs typeface="Calibri" pitchFamily="34" charset="-120"/>
              </a:rPr>
              <a:t>SLICE 2 · TYPESCRIPT</a:t>
            </a:r>
            <a:endParaRPr lang="en-US" sz="1000" dirty="0"/>
          </a:p>
        </p:txBody>
      </p:sp>
      <p:sp>
        <p:nvSpPr>
          <p:cNvPr id="19" name="Text 17"/>
          <p:cNvSpPr/>
          <p:nvPr/>
        </p:nvSpPr>
        <p:spPr>
          <a:xfrm>
            <a:off x="6391656" y="1883664"/>
            <a:ext cx="4937760" cy="384048"/>
          </a:xfrm>
          <a:prstGeom prst="rect">
            <a:avLst/>
          </a:prstGeom>
          <a:noFill/>
          <a:ln/>
        </p:spPr>
        <p:txBody>
          <a:bodyPr wrap="square" lIns="0" tIns="0" rIns="0" bIns="0" rtlCol="0" anchor="ctr"/>
          <a:lstStyle/>
          <a:p>
            <a:pPr marL="0" indent="0">
              <a:buNone/>
            </a:pPr>
            <a:r>
              <a:rPr lang="en-US" sz="1900" b="1" dirty="0">
                <a:solidFill>
                  <a:srgbClr val="1C1F26"/>
                </a:solidFill>
                <a:latin typeface="Cambria" pitchFamily="34" charset="0"/>
                <a:ea typeface="Cambria" pitchFamily="34" charset="-122"/>
                <a:cs typeface="Cambria" pitchFamily="34" charset="-120"/>
              </a:rPr>
              <a:t>Revision impact and cost</a:t>
            </a:r>
            <a:endParaRPr lang="en-US" sz="1900" dirty="0"/>
          </a:p>
        </p:txBody>
      </p:sp>
      <p:sp>
        <p:nvSpPr>
          <p:cNvPr id="20" name="Text 18"/>
          <p:cNvSpPr/>
          <p:nvPr/>
        </p:nvSpPr>
        <p:spPr>
          <a:xfrm>
            <a:off x="6391656" y="2286000"/>
            <a:ext cx="4937760" cy="274320"/>
          </a:xfrm>
          <a:prstGeom prst="rect">
            <a:avLst/>
          </a:prstGeom>
          <a:noFill/>
          <a:ln/>
        </p:spPr>
        <p:txBody>
          <a:bodyPr wrap="square" lIns="0" tIns="0" rIns="0" bIns="0" rtlCol="0" anchor="ctr"/>
          <a:lstStyle/>
          <a:p>
            <a:pPr marL="0" indent="0">
              <a:buNone/>
            </a:pPr>
            <a:r>
              <a:rPr lang="en-US" sz="1150" i="1" dirty="0">
                <a:solidFill>
                  <a:srgbClr val="6E7781"/>
                </a:solidFill>
                <a:latin typeface="Calibri" pitchFamily="34" charset="0"/>
                <a:ea typeface="Calibri" pitchFamily="34" charset="-122"/>
                <a:cs typeface="Calibri" pitchFamily="34" charset="-120"/>
              </a:rPr>
              <a:t>Stories PR-1 and PR-6</a:t>
            </a:r>
            <a:endParaRPr lang="en-US" sz="1150" dirty="0"/>
          </a:p>
        </p:txBody>
      </p:sp>
      <p:sp>
        <p:nvSpPr>
          <p:cNvPr id="21" name="Shape 19"/>
          <p:cNvSpPr/>
          <p:nvPr/>
        </p:nvSpPr>
        <p:spPr>
          <a:xfrm>
            <a:off x="6409944" y="2807208"/>
            <a:ext cx="91440" cy="91440"/>
          </a:xfrm>
          <a:prstGeom prst="rect">
            <a:avLst/>
          </a:prstGeom>
          <a:solidFill>
            <a:srgbClr val="B8621B"/>
          </a:solidFill>
          <a:ln/>
        </p:spPr>
        <p:txBody>
          <a:bodyPr/>
          <a:lstStyle/>
          <a:p>
            <a:endParaRPr lang="en-US"/>
          </a:p>
        </p:txBody>
      </p:sp>
      <p:sp>
        <p:nvSpPr>
          <p:cNvPr id="22" name="Text 20"/>
          <p:cNvSpPr/>
          <p:nvPr/>
        </p:nvSpPr>
        <p:spPr>
          <a:xfrm>
            <a:off x="6647688" y="2724912"/>
            <a:ext cx="4663440" cy="548640"/>
          </a:xfrm>
          <a:prstGeom prst="rect">
            <a:avLst/>
          </a:prstGeom>
          <a:noFill/>
          <a:ln/>
        </p:spPr>
        <p:txBody>
          <a:bodyPr wrap="square" lIns="0" tIns="0" rIns="0" bIns="0" rtlCol="0" anchor="ctr"/>
          <a:lstStyle/>
          <a:p>
            <a:pPr marL="0" indent="0">
              <a:buNone/>
            </a:pPr>
            <a:r>
              <a:rPr lang="en-US" sz="1150" dirty="0">
                <a:solidFill>
                  <a:srgbClr val="1C1F26"/>
                </a:solidFill>
                <a:latin typeface="Calibri" pitchFamily="34" charset="0"/>
                <a:ea typeface="Calibri" pitchFamily="34" charset="-122"/>
                <a:cs typeface="Calibri" pitchFamily="34" charset="-120"/>
              </a:rPr>
              <a:t>The money is in classification, not detection.</a:t>
            </a:r>
            <a:endParaRPr lang="en-US" sz="1150" dirty="0"/>
          </a:p>
        </p:txBody>
      </p:sp>
      <p:sp>
        <p:nvSpPr>
          <p:cNvPr id="23" name="Shape 21"/>
          <p:cNvSpPr/>
          <p:nvPr/>
        </p:nvSpPr>
        <p:spPr>
          <a:xfrm>
            <a:off x="6409944" y="3410712"/>
            <a:ext cx="91440" cy="91440"/>
          </a:xfrm>
          <a:prstGeom prst="rect">
            <a:avLst/>
          </a:prstGeom>
          <a:solidFill>
            <a:srgbClr val="B8621B"/>
          </a:solidFill>
          <a:ln/>
        </p:spPr>
        <p:txBody>
          <a:bodyPr/>
          <a:lstStyle/>
          <a:p>
            <a:endParaRPr lang="en-US"/>
          </a:p>
        </p:txBody>
      </p:sp>
      <p:sp>
        <p:nvSpPr>
          <p:cNvPr id="24" name="Text 22"/>
          <p:cNvSpPr/>
          <p:nvPr/>
        </p:nvSpPr>
        <p:spPr>
          <a:xfrm>
            <a:off x="6647688" y="3328416"/>
            <a:ext cx="4663440" cy="548640"/>
          </a:xfrm>
          <a:prstGeom prst="rect">
            <a:avLst/>
          </a:prstGeom>
          <a:noFill/>
          <a:ln/>
        </p:spPr>
        <p:txBody>
          <a:bodyPr wrap="square" lIns="0" tIns="0" rIns="0" bIns="0" rtlCol="0" anchor="ctr"/>
          <a:lstStyle/>
          <a:p>
            <a:pPr marL="0" indent="0">
              <a:buNone/>
            </a:pPr>
            <a:r>
              <a:rPr lang="en-US" sz="1150" dirty="0">
                <a:solidFill>
                  <a:srgbClr val="1C1F26"/>
                </a:solidFill>
                <a:latin typeface="Calibri" pitchFamily="34" charset="0"/>
                <a:ea typeface="Calibri" pitchFamily="34" charset="-122"/>
                <a:cs typeface="Calibri" pitchFamily="34" charset="-120"/>
              </a:rPr>
              <a:t>A pure function over two whole builds — no schema mutation.</a:t>
            </a:r>
            <a:endParaRPr lang="en-US" sz="1150" dirty="0"/>
          </a:p>
        </p:txBody>
      </p:sp>
      <p:sp>
        <p:nvSpPr>
          <p:cNvPr id="25" name="Shape 23"/>
          <p:cNvSpPr/>
          <p:nvPr/>
        </p:nvSpPr>
        <p:spPr>
          <a:xfrm>
            <a:off x="6409944" y="4014216"/>
            <a:ext cx="91440" cy="91440"/>
          </a:xfrm>
          <a:prstGeom prst="rect">
            <a:avLst/>
          </a:prstGeom>
          <a:solidFill>
            <a:srgbClr val="B8621B"/>
          </a:solidFill>
          <a:ln/>
        </p:spPr>
        <p:txBody>
          <a:bodyPr/>
          <a:lstStyle/>
          <a:p>
            <a:endParaRPr lang="en-US"/>
          </a:p>
        </p:txBody>
      </p:sp>
      <p:sp>
        <p:nvSpPr>
          <p:cNvPr id="26" name="Text 24"/>
          <p:cNvSpPr/>
          <p:nvPr/>
        </p:nvSpPr>
        <p:spPr>
          <a:xfrm>
            <a:off x="6647688" y="3931920"/>
            <a:ext cx="4663440" cy="548640"/>
          </a:xfrm>
          <a:prstGeom prst="rect">
            <a:avLst/>
          </a:prstGeom>
          <a:noFill/>
          <a:ln/>
        </p:spPr>
        <p:txBody>
          <a:bodyPr wrap="square" lIns="0" tIns="0" rIns="0" bIns="0" rtlCol="0" anchor="ctr"/>
          <a:lstStyle/>
          <a:p>
            <a:pPr marL="0" indent="0">
              <a:buNone/>
            </a:pPr>
            <a:r>
              <a:rPr lang="en-US" sz="1150" dirty="0">
                <a:solidFill>
                  <a:srgbClr val="1C1F26"/>
                </a:solidFill>
                <a:latin typeface="Calibri" pitchFamily="34" charset="0"/>
                <a:ea typeface="Calibri" pitchFamily="34" charset="-122"/>
                <a:cs typeface="Calibri" pitchFamily="34" charset="-120"/>
              </a:rPr>
              <a:t>If it works without previousSpec, that argument is over.</a:t>
            </a:r>
            <a:endParaRPr lang="en-US" sz="1150" dirty="0"/>
          </a:p>
        </p:txBody>
      </p:sp>
      <p:sp>
        <p:nvSpPr>
          <p:cNvPr id="27" name="Text 25"/>
          <p:cNvSpPr/>
          <p:nvPr/>
        </p:nvSpPr>
        <p:spPr>
          <a:xfrm>
            <a:off x="6391656" y="4700016"/>
            <a:ext cx="4937760" cy="749808"/>
          </a:xfrm>
          <a:prstGeom prst="rect">
            <a:avLst/>
          </a:prstGeom>
          <a:noFill/>
          <a:ln/>
        </p:spPr>
        <p:txBody>
          <a:bodyPr wrap="square" lIns="0" tIns="0" rIns="0" bIns="0" rtlCol="0" anchor="ctr"/>
          <a:lstStyle/>
          <a:p>
            <a:pPr marL="0" indent="0">
              <a:buNone/>
            </a:pPr>
            <a:r>
              <a:rPr lang="en-US" sz="1050" dirty="0">
                <a:solidFill>
                  <a:srgbClr val="6E7781"/>
                </a:solidFill>
                <a:latin typeface="Calibri" pitchFamily="34" charset="0"/>
                <a:ea typeface="Calibri" pitchFamily="34" charset="-122"/>
                <a:cs typeface="Calibri" pitchFamily="34" charset="-120"/>
              </a:rPr>
              <a:t>Alex planned to add revision and previousSpec to PanelSpec — a schema Jo is deleting — which supports only one step back and forces a rewrite at cutover.</a:t>
            </a:r>
            <a:endParaRPr lang="en-US" sz="1050" dirty="0"/>
          </a:p>
        </p:txBody>
      </p:sp>
      <p:sp>
        <p:nvSpPr>
          <p:cNvPr id="28" name="Text 26"/>
          <p:cNvSpPr/>
          <p:nvPr/>
        </p:nvSpPr>
        <p:spPr>
          <a:xfrm>
            <a:off x="640080" y="5833872"/>
            <a:ext cx="10881360" cy="457200"/>
          </a:xfrm>
          <a:prstGeom prst="rect">
            <a:avLst/>
          </a:prstGeom>
          <a:noFill/>
          <a:ln/>
        </p:spPr>
        <p:txBody>
          <a:bodyPr wrap="square" lIns="0" tIns="0" rIns="0" bIns="0" rtlCol="0" anchor="ctr"/>
          <a:lstStyle/>
          <a:p>
            <a:pPr marL="0" indent="0">
              <a:buNone/>
            </a:pPr>
            <a:r>
              <a:rPr lang="en-US" sz="1150" i="1" dirty="0">
                <a:solidFill>
                  <a:srgbClr val="6E7781"/>
                </a:solidFill>
                <a:latin typeface="Calibri" pitchFamily="34" charset="0"/>
                <a:ea typeface="Calibri" pitchFamily="34" charset="-122"/>
                <a:cs typeface="Calibri" pitchFamily="34" charset="-120"/>
              </a:rPr>
              <a:t>Not built: the telemetry buffer (not buildable on the current schema — the deliverable was the contract), any UI (Sam's work), estimation tooling (ships nothing on 12 Oct).</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8F5"/>
        </a:solidFill>
        <a:effectLst/>
      </p:bgPr>
    </p:bg>
    <p:spTree>
      <p:nvGrpSpPr>
        <p:cNvPr id="1" name=""/>
        <p:cNvGrpSpPr/>
        <p:nvPr/>
      </p:nvGrpSpPr>
      <p:grpSpPr>
        <a:xfrm>
          <a:off x="0" y="0"/>
          <a:ext cx="0" cy="0"/>
          <a:chOff x="0" y="0"/>
          <a:chExt cx="0" cy="0"/>
        </a:xfrm>
      </p:grpSpPr>
      <p:sp>
        <p:nvSpPr>
          <p:cNvPr id="2" name="Shape 0"/>
          <p:cNvSpPr/>
          <p:nvPr/>
        </p:nvSpPr>
        <p:spPr>
          <a:xfrm>
            <a:off x="640080" y="384048"/>
            <a:ext cx="384048" cy="384048"/>
          </a:xfrm>
          <a:prstGeom prst="rect">
            <a:avLst/>
          </a:prstGeom>
          <a:solidFill>
            <a:srgbClr val="B8621B"/>
          </a:solidFill>
          <a:ln/>
        </p:spPr>
        <p:txBody>
          <a:bodyPr/>
          <a:lstStyle/>
          <a:p>
            <a:endParaRPr lang="en-US"/>
          </a:p>
        </p:txBody>
      </p:sp>
      <p:sp>
        <p:nvSpPr>
          <p:cNvPr id="3" name="Text 1"/>
          <p:cNvSpPr/>
          <p:nvPr/>
        </p:nvSpPr>
        <p:spPr>
          <a:xfrm>
            <a:off x="640080" y="384048"/>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4" name="Text 2"/>
          <p:cNvSpPr/>
          <p:nvPr/>
        </p:nvSpPr>
        <p:spPr>
          <a:xfrm>
            <a:off x="1207008" y="329184"/>
            <a:ext cx="10314432" cy="530352"/>
          </a:xfrm>
          <a:prstGeom prst="rect">
            <a:avLst/>
          </a:prstGeom>
          <a:noFill/>
          <a:ln/>
        </p:spPr>
        <p:txBody>
          <a:bodyPr wrap="square" lIns="0" tIns="0" rIns="0" bIns="0" rtlCol="0" anchor="ctr"/>
          <a:lstStyle/>
          <a:p>
            <a:pPr marL="0" indent="0">
              <a:buNone/>
            </a:pPr>
            <a:r>
              <a:rPr lang="en-US" sz="3000" b="1" dirty="0">
                <a:solidFill>
                  <a:srgbClr val="1C1F26"/>
                </a:solidFill>
                <a:latin typeface="Cambria" pitchFamily="34" charset="0"/>
                <a:ea typeface="Cambria" pitchFamily="34" charset="-122"/>
                <a:cs typeface="Cambria" pitchFamily="34" charset="-120"/>
              </a:rPr>
              <a:t>The assumptions that carry weight</a:t>
            </a:r>
            <a:endParaRPr lang="en-US" sz="3000" dirty="0"/>
          </a:p>
        </p:txBody>
      </p:sp>
      <p:sp>
        <p:nvSpPr>
          <p:cNvPr id="5" name="Text 3"/>
          <p:cNvSpPr/>
          <p:nvPr/>
        </p:nvSpPr>
        <p:spPr>
          <a:xfrm>
            <a:off x="640080" y="969264"/>
            <a:ext cx="10881360" cy="310896"/>
          </a:xfrm>
          <a:prstGeom prst="rect">
            <a:avLst/>
          </a:prstGeom>
          <a:noFill/>
          <a:ln/>
        </p:spPr>
        <p:txBody>
          <a:bodyPr wrap="square" lIns="0" tIns="0" rIns="0" bIns="0" rtlCol="0" anchor="ctr"/>
          <a:lstStyle/>
          <a:p>
            <a:pPr marL="0" indent="0">
              <a:buNone/>
            </a:pPr>
            <a:r>
              <a:rPr lang="en-US" sz="1400" i="1" dirty="0">
                <a:solidFill>
                  <a:srgbClr val="6E7781"/>
                </a:solidFill>
                <a:latin typeface="Calibri" pitchFamily="34" charset="0"/>
                <a:ea typeface="Calibri" pitchFamily="34" charset="-122"/>
                <a:cs typeface="Calibri" pitchFamily="34" charset="-120"/>
              </a:rPr>
              <a:t>Each written so it can be proved wrong. Ten in the plan; these four decide the outcome.</a:t>
            </a:r>
            <a:endParaRPr lang="en-US" sz="1400" dirty="0"/>
          </a:p>
        </p:txBody>
      </p:sp>
      <p:sp>
        <p:nvSpPr>
          <p:cNvPr id="6" name="Shape 4"/>
          <p:cNvSpPr/>
          <p:nvPr/>
        </p:nvSpPr>
        <p:spPr>
          <a:xfrm>
            <a:off x="640080" y="1463040"/>
            <a:ext cx="10881360" cy="1060704"/>
          </a:xfrm>
          <a:prstGeom prst="rect">
            <a:avLst/>
          </a:prstGeom>
          <a:solidFill>
            <a:srgbClr val="FFFFFF"/>
          </a:solidFill>
          <a:ln w="12700">
            <a:solidFill>
              <a:srgbClr val="D8D2C9"/>
            </a:solidFill>
            <a:prstDash val="solid"/>
          </a:ln>
        </p:spPr>
        <p:txBody>
          <a:bodyPr/>
          <a:lstStyle/>
          <a:p>
            <a:endParaRPr lang="en-US"/>
          </a:p>
        </p:txBody>
      </p:sp>
      <p:sp>
        <p:nvSpPr>
          <p:cNvPr id="7" name="Text 5"/>
          <p:cNvSpPr/>
          <p:nvPr/>
        </p:nvSpPr>
        <p:spPr>
          <a:xfrm>
            <a:off x="841248" y="1627632"/>
            <a:ext cx="658368" cy="384048"/>
          </a:xfrm>
          <a:prstGeom prst="rect">
            <a:avLst/>
          </a:prstGeom>
          <a:noFill/>
          <a:ln/>
        </p:spPr>
        <p:txBody>
          <a:bodyPr wrap="square" lIns="0" tIns="0" rIns="0" bIns="0" rtlCol="0" anchor="ctr"/>
          <a:lstStyle/>
          <a:p>
            <a:pPr marL="0" indent="0" algn="ctr">
              <a:buNone/>
            </a:pPr>
            <a:r>
              <a:rPr lang="en-US" sz="2000" b="1" dirty="0">
                <a:solidFill>
                  <a:srgbClr val="A32020"/>
                </a:solidFill>
                <a:latin typeface="Cambria" pitchFamily="34" charset="0"/>
                <a:ea typeface="Cambria" pitchFamily="34" charset="-122"/>
                <a:cs typeface="Cambria" pitchFamily="34" charset="-120"/>
              </a:rPr>
              <a:t>A1</a:t>
            </a:r>
            <a:endParaRPr lang="en-US" sz="2000" dirty="0"/>
          </a:p>
        </p:txBody>
      </p:sp>
      <p:sp>
        <p:nvSpPr>
          <p:cNvPr id="8" name="Text 6"/>
          <p:cNvSpPr/>
          <p:nvPr/>
        </p:nvSpPr>
        <p:spPr>
          <a:xfrm>
            <a:off x="1609344" y="1618488"/>
            <a:ext cx="5120640" cy="749808"/>
          </a:xfrm>
          <a:prstGeom prst="rect">
            <a:avLst/>
          </a:prstGeom>
          <a:noFill/>
          <a:ln/>
        </p:spPr>
        <p:txBody>
          <a:bodyPr wrap="square" lIns="0" tIns="0" rIns="0" bIns="0" rtlCol="0" anchor="ctr"/>
          <a:lstStyle/>
          <a:p>
            <a:pPr marL="0" indent="0">
              <a:buNone/>
            </a:pPr>
            <a:r>
              <a:rPr lang="en-US" sz="1250" b="1" dirty="0">
                <a:solidFill>
                  <a:srgbClr val="1C1F26"/>
                </a:solidFill>
                <a:latin typeface="Calibri" pitchFamily="34" charset="0"/>
                <a:ea typeface="Calibri" pitchFamily="34" charset="-122"/>
                <a:cs typeface="Calibri" pitchFamily="34" charset="-120"/>
              </a:rPr>
              <a:t>a3's measurement comes from Chris's rig, not from v4.2 firmware timing</a:t>
            </a:r>
            <a:endParaRPr lang="en-US" sz="1250" dirty="0"/>
          </a:p>
        </p:txBody>
      </p:sp>
      <p:sp>
        <p:nvSpPr>
          <p:cNvPr id="9" name="Text 7"/>
          <p:cNvSpPr/>
          <p:nvPr/>
        </p:nvSpPr>
        <p:spPr>
          <a:xfrm>
            <a:off x="6949440" y="1609344"/>
            <a:ext cx="1097280" cy="219456"/>
          </a:xfrm>
          <a:prstGeom prst="rect">
            <a:avLst/>
          </a:prstGeom>
          <a:noFill/>
          <a:ln/>
        </p:spPr>
        <p:txBody>
          <a:bodyPr wrap="square" lIns="0" tIns="0" rIns="0" bIns="0" rtlCol="0" anchor="ctr"/>
          <a:lstStyle/>
          <a:p>
            <a:pPr marL="0" indent="0">
              <a:buNone/>
            </a:pPr>
            <a:r>
              <a:rPr lang="en-US" sz="850" b="1" kern="0" spc="120" dirty="0">
                <a:solidFill>
                  <a:srgbClr val="6E7781"/>
                </a:solidFill>
                <a:latin typeface="Calibri" pitchFamily="34" charset="0"/>
                <a:ea typeface="Calibri" pitchFamily="34" charset="-122"/>
                <a:cs typeface="Calibri" pitchFamily="34" charset="-120"/>
              </a:rPr>
              <a:t>IF WRONG</a:t>
            </a:r>
            <a:endParaRPr lang="en-US" sz="850" dirty="0"/>
          </a:p>
        </p:txBody>
      </p:sp>
      <p:sp>
        <p:nvSpPr>
          <p:cNvPr id="10" name="Text 8"/>
          <p:cNvSpPr/>
          <p:nvPr/>
        </p:nvSpPr>
        <p:spPr>
          <a:xfrm>
            <a:off x="6949440" y="1828800"/>
            <a:ext cx="4297680" cy="603504"/>
          </a:xfrm>
          <a:prstGeom prst="rect">
            <a:avLst/>
          </a:prstGeom>
          <a:noFill/>
          <a:ln/>
        </p:spPr>
        <p:txBody>
          <a:bodyPr wrap="square" lIns="0" tIns="0" rIns="0" bIns="0" rtlCol="0" anchor="ctr"/>
          <a:lstStyle/>
          <a:p>
            <a:pPr marL="0" indent="0">
              <a:buNone/>
            </a:pPr>
            <a:r>
              <a:rPr lang="en-US" sz="1100" dirty="0">
                <a:solidFill>
                  <a:srgbClr val="6E7781"/>
                </a:solidFill>
                <a:latin typeface="Calibri" pitchFamily="34" charset="0"/>
                <a:ea typeface="Calibri" pitchFamily="34" charset="-122"/>
                <a:cs typeface="Calibri" pitchFamily="34" charset="-120"/>
              </a:rPr>
              <a:t>The chain cannot complete before 12 Oct. Unsupervised is off, full stop.</a:t>
            </a:r>
            <a:endParaRPr lang="en-US" sz="1100" dirty="0"/>
          </a:p>
        </p:txBody>
      </p:sp>
      <p:sp>
        <p:nvSpPr>
          <p:cNvPr id="11" name="Shape 9"/>
          <p:cNvSpPr/>
          <p:nvPr/>
        </p:nvSpPr>
        <p:spPr>
          <a:xfrm>
            <a:off x="640080" y="2651760"/>
            <a:ext cx="10881360" cy="1060704"/>
          </a:xfrm>
          <a:prstGeom prst="rect">
            <a:avLst/>
          </a:prstGeom>
          <a:solidFill>
            <a:srgbClr val="FFFFFF"/>
          </a:solidFill>
          <a:ln w="12700">
            <a:solidFill>
              <a:srgbClr val="D8D2C9"/>
            </a:solidFill>
            <a:prstDash val="solid"/>
          </a:ln>
        </p:spPr>
        <p:txBody>
          <a:bodyPr/>
          <a:lstStyle/>
          <a:p>
            <a:endParaRPr lang="en-US"/>
          </a:p>
        </p:txBody>
      </p:sp>
      <p:sp>
        <p:nvSpPr>
          <p:cNvPr id="12" name="Text 10"/>
          <p:cNvSpPr/>
          <p:nvPr/>
        </p:nvSpPr>
        <p:spPr>
          <a:xfrm>
            <a:off x="841248" y="2816352"/>
            <a:ext cx="658368" cy="384048"/>
          </a:xfrm>
          <a:prstGeom prst="rect">
            <a:avLst/>
          </a:prstGeom>
          <a:noFill/>
          <a:ln/>
        </p:spPr>
        <p:txBody>
          <a:bodyPr wrap="square" lIns="0" tIns="0" rIns="0" bIns="0" rtlCol="0" anchor="ctr"/>
          <a:lstStyle/>
          <a:p>
            <a:pPr marL="0" indent="0" algn="ctr">
              <a:buNone/>
            </a:pPr>
            <a:r>
              <a:rPr lang="en-US" sz="2000" b="1" dirty="0">
                <a:solidFill>
                  <a:srgbClr val="B8621B"/>
                </a:solidFill>
                <a:latin typeface="Cambria" pitchFamily="34" charset="0"/>
                <a:ea typeface="Cambria" pitchFamily="34" charset="-122"/>
                <a:cs typeface="Cambria" pitchFamily="34" charset="-120"/>
              </a:rPr>
              <a:t>A2</a:t>
            </a:r>
            <a:endParaRPr lang="en-US" sz="2000" dirty="0"/>
          </a:p>
        </p:txBody>
      </p:sp>
      <p:sp>
        <p:nvSpPr>
          <p:cNvPr id="13" name="Text 11"/>
          <p:cNvSpPr/>
          <p:nvPr/>
        </p:nvSpPr>
        <p:spPr>
          <a:xfrm>
            <a:off x="1609344" y="2807208"/>
            <a:ext cx="5120640" cy="749808"/>
          </a:xfrm>
          <a:prstGeom prst="rect">
            <a:avLst/>
          </a:prstGeom>
          <a:noFill/>
          <a:ln/>
        </p:spPr>
        <p:txBody>
          <a:bodyPr wrap="square" lIns="0" tIns="0" rIns="0" bIns="0" rtlCol="0" anchor="ctr"/>
          <a:lstStyle/>
          <a:p>
            <a:pPr marL="0" indent="0">
              <a:buNone/>
            </a:pPr>
            <a:r>
              <a:rPr lang="en-US" sz="1250" b="1" dirty="0">
                <a:solidFill>
                  <a:srgbClr val="1C1F26"/>
                </a:solidFill>
                <a:latin typeface="Calibri" pitchFamily="34" charset="0"/>
                <a:ea typeface="Calibri" pitchFamily="34" charset="-122"/>
                <a:cs typeface="Calibri" pitchFamily="34" charset="-120"/>
              </a:rPr>
              <a:t>Deploying v4.2 after the cell re-test would invalidate it</a:t>
            </a:r>
            <a:endParaRPr lang="en-US" sz="1250" dirty="0"/>
          </a:p>
        </p:txBody>
      </p:sp>
      <p:sp>
        <p:nvSpPr>
          <p:cNvPr id="14" name="Text 12"/>
          <p:cNvSpPr/>
          <p:nvPr/>
        </p:nvSpPr>
        <p:spPr>
          <a:xfrm>
            <a:off x="6949440" y="2798064"/>
            <a:ext cx="1097280" cy="219456"/>
          </a:xfrm>
          <a:prstGeom prst="rect">
            <a:avLst/>
          </a:prstGeom>
          <a:noFill/>
          <a:ln/>
        </p:spPr>
        <p:txBody>
          <a:bodyPr wrap="square" lIns="0" tIns="0" rIns="0" bIns="0" rtlCol="0" anchor="ctr"/>
          <a:lstStyle/>
          <a:p>
            <a:pPr marL="0" indent="0">
              <a:buNone/>
            </a:pPr>
            <a:r>
              <a:rPr lang="en-US" sz="850" b="1" kern="0" spc="120" dirty="0">
                <a:solidFill>
                  <a:srgbClr val="6E7781"/>
                </a:solidFill>
                <a:latin typeface="Calibri" pitchFamily="34" charset="0"/>
                <a:ea typeface="Calibri" pitchFamily="34" charset="-122"/>
                <a:cs typeface="Calibri" pitchFamily="34" charset="-120"/>
              </a:rPr>
              <a:t>IF WRONG</a:t>
            </a:r>
            <a:endParaRPr lang="en-US" sz="850" dirty="0"/>
          </a:p>
        </p:txBody>
      </p:sp>
      <p:sp>
        <p:nvSpPr>
          <p:cNvPr id="15" name="Text 13"/>
          <p:cNvSpPr/>
          <p:nvPr/>
        </p:nvSpPr>
        <p:spPr>
          <a:xfrm>
            <a:off x="6949440" y="3017520"/>
            <a:ext cx="4297680" cy="603504"/>
          </a:xfrm>
          <a:prstGeom prst="rect">
            <a:avLst/>
          </a:prstGeom>
          <a:noFill/>
          <a:ln/>
        </p:spPr>
        <p:txBody>
          <a:bodyPr wrap="square" lIns="0" tIns="0" rIns="0" bIns="0" rtlCol="0" anchor="ctr"/>
          <a:lstStyle/>
          <a:p>
            <a:pPr marL="0" indent="0">
              <a:buNone/>
            </a:pPr>
            <a:r>
              <a:rPr lang="en-US" sz="1100" dirty="0">
                <a:solidFill>
                  <a:srgbClr val="6E7781"/>
                </a:solidFill>
                <a:latin typeface="Calibri" pitchFamily="34" charset="0"/>
                <a:ea typeface="Calibri" pitchFamily="34" charset="-122"/>
                <a:cs typeface="Calibri" pitchFamily="34" charset="-120"/>
              </a:rPr>
              <a:t>This is why the firmware splits at all. If the inspector only cares about measured behaviour, the whole ordering problem shrinks.</a:t>
            </a:r>
            <a:endParaRPr lang="en-US" sz="1100" dirty="0"/>
          </a:p>
        </p:txBody>
      </p:sp>
      <p:sp>
        <p:nvSpPr>
          <p:cNvPr id="16" name="Shape 14"/>
          <p:cNvSpPr/>
          <p:nvPr/>
        </p:nvSpPr>
        <p:spPr>
          <a:xfrm>
            <a:off x="640080" y="3840480"/>
            <a:ext cx="10881360" cy="1060704"/>
          </a:xfrm>
          <a:prstGeom prst="rect">
            <a:avLst/>
          </a:prstGeom>
          <a:solidFill>
            <a:srgbClr val="FFFFFF"/>
          </a:solidFill>
          <a:ln w="12700">
            <a:solidFill>
              <a:srgbClr val="D8D2C9"/>
            </a:solidFill>
            <a:prstDash val="solid"/>
          </a:ln>
        </p:spPr>
        <p:txBody>
          <a:bodyPr/>
          <a:lstStyle/>
          <a:p>
            <a:endParaRPr lang="en-US"/>
          </a:p>
        </p:txBody>
      </p:sp>
      <p:sp>
        <p:nvSpPr>
          <p:cNvPr id="17" name="Text 15"/>
          <p:cNvSpPr/>
          <p:nvPr/>
        </p:nvSpPr>
        <p:spPr>
          <a:xfrm>
            <a:off x="841248" y="4005072"/>
            <a:ext cx="658368" cy="384048"/>
          </a:xfrm>
          <a:prstGeom prst="rect">
            <a:avLst/>
          </a:prstGeom>
          <a:noFill/>
          <a:ln/>
        </p:spPr>
        <p:txBody>
          <a:bodyPr wrap="square" lIns="0" tIns="0" rIns="0" bIns="0" rtlCol="0" anchor="ctr"/>
          <a:lstStyle/>
          <a:p>
            <a:pPr marL="0" indent="0" algn="ctr">
              <a:buNone/>
            </a:pPr>
            <a:r>
              <a:rPr lang="en-US" sz="2000" b="1" dirty="0">
                <a:solidFill>
                  <a:srgbClr val="A32020"/>
                </a:solidFill>
                <a:latin typeface="Cambria" pitchFamily="34" charset="0"/>
                <a:ea typeface="Cambria" pitchFamily="34" charset="-122"/>
                <a:cs typeface="Cambria" pitchFamily="34" charset="-120"/>
              </a:rPr>
              <a:t>A4</a:t>
            </a:r>
            <a:endParaRPr lang="en-US" sz="2000" dirty="0"/>
          </a:p>
        </p:txBody>
      </p:sp>
      <p:sp>
        <p:nvSpPr>
          <p:cNvPr id="18" name="Text 16"/>
          <p:cNvSpPr/>
          <p:nvPr/>
        </p:nvSpPr>
        <p:spPr>
          <a:xfrm>
            <a:off x="1609344" y="3995928"/>
            <a:ext cx="5120640" cy="749808"/>
          </a:xfrm>
          <a:prstGeom prst="rect">
            <a:avLst/>
          </a:prstGeom>
          <a:noFill/>
          <a:ln/>
        </p:spPr>
        <p:txBody>
          <a:bodyPr wrap="square" lIns="0" tIns="0" rIns="0" bIns="0" rtlCol="0" anchor="ctr"/>
          <a:lstStyle/>
          <a:p>
            <a:pPr marL="0" indent="0">
              <a:buNone/>
            </a:pPr>
            <a:r>
              <a:rPr lang="en-US" sz="1250" b="1" dirty="0">
                <a:solidFill>
                  <a:srgbClr val="1C1F26"/>
                </a:solidFill>
                <a:latin typeface="Calibri" pitchFamily="34" charset="0"/>
                <a:ea typeface="Calibri" pitchFamily="34" charset="-122"/>
                <a:cs typeface="Calibri" pitchFamily="34" charset="-120"/>
              </a:rPr>
              <a:t>Boards clear supplier testing and arrive in week 3</a:t>
            </a:r>
            <a:endParaRPr lang="en-US" sz="1250" dirty="0"/>
          </a:p>
        </p:txBody>
      </p:sp>
      <p:sp>
        <p:nvSpPr>
          <p:cNvPr id="19" name="Text 17"/>
          <p:cNvSpPr/>
          <p:nvPr/>
        </p:nvSpPr>
        <p:spPr>
          <a:xfrm>
            <a:off x="6949440" y="3986784"/>
            <a:ext cx="1097280" cy="219456"/>
          </a:xfrm>
          <a:prstGeom prst="rect">
            <a:avLst/>
          </a:prstGeom>
          <a:noFill/>
          <a:ln/>
        </p:spPr>
        <p:txBody>
          <a:bodyPr wrap="square" lIns="0" tIns="0" rIns="0" bIns="0" rtlCol="0" anchor="ctr"/>
          <a:lstStyle/>
          <a:p>
            <a:pPr marL="0" indent="0">
              <a:buNone/>
            </a:pPr>
            <a:r>
              <a:rPr lang="en-US" sz="850" b="1" kern="0" spc="120" dirty="0">
                <a:solidFill>
                  <a:srgbClr val="6E7781"/>
                </a:solidFill>
                <a:latin typeface="Calibri" pitchFamily="34" charset="0"/>
                <a:ea typeface="Calibri" pitchFamily="34" charset="-122"/>
                <a:cs typeface="Calibri" pitchFamily="34" charset="-120"/>
              </a:rPr>
              <a:t>IF WRONG</a:t>
            </a:r>
            <a:endParaRPr lang="en-US" sz="850" dirty="0"/>
          </a:p>
        </p:txBody>
      </p:sp>
      <p:sp>
        <p:nvSpPr>
          <p:cNvPr id="20" name="Text 18"/>
          <p:cNvSpPr/>
          <p:nvPr/>
        </p:nvSpPr>
        <p:spPr>
          <a:xfrm>
            <a:off x="6949440" y="4206240"/>
            <a:ext cx="4297680" cy="603504"/>
          </a:xfrm>
          <a:prstGeom prst="rect">
            <a:avLst/>
          </a:prstGeom>
          <a:noFill/>
          <a:ln/>
        </p:spPr>
        <p:txBody>
          <a:bodyPr wrap="square" lIns="0" tIns="0" rIns="0" bIns="0" rtlCol="0" anchor="ctr"/>
          <a:lstStyle/>
          <a:p>
            <a:pPr marL="0" indent="0">
              <a:buNone/>
            </a:pPr>
            <a:r>
              <a:rPr lang="en-US" sz="1100" dirty="0">
                <a:solidFill>
                  <a:srgbClr val="6E7781"/>
                </a:solidFill>
                <a:latin typeface="Calibri" pitchFamily="34" charset="0"/>
                <a:ea typeface="Calibri" pitchFamily="34" charset="-122"/>
                <a:cs typeface="Calibri" pitchFamily="34" charset="-120"/>
              </a:rPr>
              <a:t>Firmware slips 1:1. Plan A has one day of float, so a week's slip forces Plan B.</a:t>
            </a:r>
            <a:endParaRPr lang="en-US" sz="1100" dirty="0"/>
          </a:p>
        </p:txBody>
      </p:sp>
      <p:sp>
        <p:nvSpPr>
          <p:cNvPr id="21" name="Shape 19"/>
          <p:cNvSpPr/>
          <p:nvPr/>
        </p:nvSpPr>
        <p:spPr>
          <a:xfrm>
            <a:off x="640080" y="5029200"/>
            <a:ext cx="10881360" cy="1060704"/>
          </a:xfrm>
          <a:prstGeom prst="rect">
            <a:avLst/>
          </a:prstGeom>
          <a:solidFill>
            <a:srgbClr val="FFFFFF"/>
          </a:solidFill>
          <a:ln w="12700">
            <a:solidFill>
              <a:srgbClr val="D8D2C9"/>
            </a:solidFill>
            <a:prstDash val="solid"/>
          </a:ln>
        </p:spPr>
        <p:txBody>
          <a:bodyPr/>
          <a:lstStyle/>
          <a:p>
            <a:endParaRPr lang="en-US"/>
          </a:p>
        </p:txBody>
      </p:sp>
      <p:sp>
        <p:nvSpPr>
          <p:cNvPr id="22" name="Text 20"/>
          <p:cNvSpPr/>
          <p:nvPr/>
        </p:nvSpPr>
        <p:spPr>
          <a:xfrm>
            <a:off x="841248" y="5193792"/>
            <a:ext cx="658368" cy="384048"/>
          </a:xfrm>
          <a:prstGeom prst="rect">
            <a:avLst/>
          </a:prstGeom>
          <a:noFill/>
          <a:ln/>
        </p:spPr>
        <p:txBody>
          <a:bodyPr wrap="square" lIns="0" tIns="0" rIns="0" bIns="0" rtlCol="0" anchor="ctr"/>
          <a:lstStyle/>
          <a:p>
            <a:pPr marL="0" indent="0" algn="ctr">
              <a:buNone/>
            </a:pPr>
            <a:r>
              <a:rPr lang="en-US" sz="2000" b="1" dirty="0">
                <a:solidFill>
                  <a:srgbClr val="B8621B"/>
                </a:solidFill>
                <a:latin typeface="Cambria" pitchFamily="34" charset="0"/>
                <a:ea typeface="Cambria" pitchFamily="34" charset="-122"/>
                <a:cs typeface="Cambria" pitchFamily="34" charset="-120"/>
              </a:rPr>
              <a:t>A10</a:t>
            </a:r>
            <a:endParaRPr lang="en-US" sz="2000" dirty="0"/>
          </a:p>
        </p:txBody>
      </p:sp>
      <p:sp>
        <p:nvSpPr>
          <p:cNvPr id="23" name="Text 21"/>
          <p:cNvSpPr/>
          <p:nvPr/>
        </p:nvSpPr>
        <p:spPr>
          <a:xfrm>
            <a:off x="1609344" y="5184648"/>
            <a:ext cx="5120640" cy="749808"/>
          </a:xfrm>
          <a:prstGeom prst="rect">
            <a:avLst/>
          </a:prstGeom>
          <a:noFill/>
          <a:ln/>
        </p:spPr>
        <p:txBody>
          <a:bodyPr wrap="square" lIns="0" tIns="0" rIns="0" bIns="0" rtlCol="0" anchor="ctr"/>
          <a:lstStyle/>
          <a:p>
            <a:pPr marL="0" indent="0">
              <a:buNone/>
            </a:pPr>
            <a:r>
              <a:rPr lang="en-US" sz="1250" b="1" dirty="0">
                <a:solidFill>
                  <a:srgbClr val="1C1F26"/>
                </a:solidFill>
                <a:latin typeface="Calibri" pitchFamily="34" charset="0"/>
                <a:ea typeface="Calibri" pitchFamily="34" charset="-122"/>
                <a:cs typeface="Calibri" pitchFamily="34" charset="-120"/>
              </a:rPr>
              <a:t>Sam's two surfaces are about six weeks combined</a:t>
            </a:r>
            <a:endParaRPr lang="en-US" sz="1250" dirty="0"/>
          </a:p>
        </p:txBody>
      </p:sp>
      <p:sp>
        <p:nvSpPr>
          <p:cNvPr id="24" name="Text 22"/>
          <p:cNvSpPr/>
          <p:nvPr/>
        </p:nvSpPr>
        <p:spPr>
          <a:xfrm>
            <a:off x="6949440" y="5175504"/>
            <a:ext cx="1097280" cy="219456"/>
          </a:xfrm>
          <a:prstGeom prst="rect">
            <a:avLst/>
          </a:prstGeom>
          <a:noFill/>
          <a:ln/>
        </p:spPr>
        <p:txBody>
          <a:bodyPr wrap="square" lIns="0" tIns="0" rIns="0" bIns="0" rtlCol="0" anchor="ctr"/>
          <a:lstStyle/>
          <a:p>
            <a:pPr marL="0" indent="0">
              <a:buNone/>
            </a:pPr>
            <a:r>
              <a:rPr lang="en-US" sz="850" b="1" kern="0" spc="120" dirty="0">
                <a:solidFill>
                  <a:srgbClr val="6E7781"/>
                </a:solidFill>
                <a:latin typeface="Calibri" pitchFamily="34" charset="0"/>
                <a:ea typeface="Calibri" pitchFamily="34" charset="-122"/>
                <a:cs typeface="Calibri" pitchFamily="34" charset="-120"/>
              </a:rPr>
              <a:t>IF WRONG</a:t>
            </a:r>
            <a:endParaRPr lang="en-US" sz="850" dirty="0"/>
          </a:p>
        </p:txBody>
      </p:sp>
      <p:sp>
        <p:nvSpPr>
          <p:cNvPr id="25" name="Text 23"/>
          <p:cNvSpPr/>
          <p:nvPr/>
        </p:nvSpPr>
        <p:spPr>
          <a:xfrm>
            <a:off x="6949440" y="5394960"/>
            <a:ext cx="4297680" cy="603504"/>
          </a:xfrm>
          <a:prstGeom prst="rect">
            <a:avLst/>
          </a:prstGeom>
          <a:noFill/>
          <a:ln/>
        </p:spPr>
        <p:txBody>
          <a:bodyPr wrap="square" lIns="0" tIns="0" rIns="0" bIns="0" rtlCol="0" anchor="ctr"/>
          <a:lstStyle/>
          <a:p>
            <a:pPr marL="0" indent="0">
              <a:buNone/>
            </a:pPr>
            <a:r>
              <a:rPr lang="en-US" sz="1100" dirty="0">
                <a:solidFill>
                  <a:srgbClr val="6E7781"/>
                </a:solidFill>
                <a:latin typeface="Calibri" pitchFamily="34" charset="0"/>
                <a:ea typeface="Calibri" pitchFamily="34" charset="-122"/>
                <a:cs typeface="Calibri" pitchFamily="34" charset="-120"/>
              </a:rPr>
              <a:t>My number, not his — inferred from comparable backlog items. Largest single unknown in the capacity table.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8F5"/>
        </a:solidFill>
        <a:effectLst/>
      </p:bgPr>
    </p:bg>
    <p:spTree>
      <p:nvGrpSpPr>
        <p:cNvPr id="1" name=""/>
        <p:cNvGrpSpPr/>
        <p:nvPr/>
      </p:nvGrpSpPr>
      <p:grpSpPr>
        <a:xfrm>
          <a:off x="0" y="0"/>
          <a:ext cx="0" cy="0"/>
          <a:chOff x="0" y="0"/>
          <a:chExt cx="0" cy="0"/>
        </a:xfrm>
      </p:grpSpPr>
      <p:sp>
        <p:nvSpPr>
          <p:cNvPr id="2" name="Shape 0"/>
          <p:cNvSpPr/>
          <p:nvPr/>
        </p:nvSpPr>
        <p:spPr>
          <a:xfrm>
            <a:off x="640080" y="384048"/>
            <a:ext cx="384048" cy="384048"/>
          </a:xfrm>
          <a:prstGeom prst="rect">
            <a:avLst/>
          </a:prstGeom>
          <a:solidFill>
            <a:srgbClr val="B8621B"/>
          </a:solidFill>
          <a:ln/>
        </p:spPr>
        <p:txBody>
          <a:bodyPr/>
          <a:lstStyle/>
          <a:p>
            <a:endParaRPr lang="en-US"/>
          </a:p>
        </p:txBody>
      </p:sp>
      <p:sp>
        <p:nvSpPr>
          <p:cNvPr id="3" name="Text 1"/>
          <p:cNvSpPr/>
          <p:nvPr/>
        </p:nvSpPr>
        <p:spPr>
          <a:xfrm>
            <a:off x="640080" y="384048"/>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7</a:t>
            </a:r>
            <a:endParaRPr lang="en-US" sz="1500" dirty="0"/>
          </a:p>
        </p:txBody>
      </p:sp>
      <p:sp>
        <p:nvSpPr>
          <p:cNvPr id="4" name="Text 2"/>
          <p:cNvSpPr/>
          <p:nvPr/>
        </p:nvSpPr>
        <p:spPr>
          <a:xfrm>
            <a:off x="1207008" y="329184"/>
            <a:ext cx="10314432" cy="530352"/>
          </a:xfrm>
          <a:prstGeom prst="rect">
            <a:avLst/>
          </a:prstGeom>
          <a:noFill/>
          <a:ln/>
        </p:spPr>
        <p:txBody>
          <a:bodyPr wrap="square" lIns="0" tIns="0" rIns="0" bIns="0" rtlCol="0" anchor="ctr"/>
          <a:lstStyle/>
          <a:p>
            <a:pPr marL="0" indent="0">
              <a:buNone/>
            </a:pPr>
            <a:r>
              <a:rPr lang="en-US" sz="3000" b="1" dirty="0">
                <a:solidFill>
                  <a:srgbClr val="1C1F26"/>
                </a:solidFill>
                <a:latin typeface="Cambria" pitchFamily="34" charset="0"/>
                <a:ea typeface="Cambria" pitchFamily="34" charset="-122"/>
                <a:cs typeface="Cambria" pitchFamily="34" charset="-120"/>
              </a:rPr>
              <a:t>Day one</a:t>
            </a:r>
            <a:endParaRPr lang="en-US" sz="3000" dirty="0"/>
          </a:p>
        </p:txBody>
      </p:sp>
      <p:sp>
        <p:nvSpPr>
          <p:cNvPr id="5" name="Text 3"/>
          <p:cNvSpPr/>
          <p:nvPr/>
        </p:nvSpPr>
        <p:spPr>
          <a:xfrm>
            <a:off x="640080" y="969264"/>
            <a:ext cx="10881360" cy="310896"/>
          </a:xfrm>
          <a:prstGeom prst="rect">
            <a:avLst/>
          </a:prstGeom>
          <a:noFill/>
          <a:ln/>
        </p:spPr>
        <p:txBody>
          <a:bodyPr wrap="square" lIns="0" tIns="0" rIns="0" bIns="0" rtlCol="0" anchor="ctr"/>
          <a:lstStyle/>
          <a:p>
            <a:pPr marL="0" indent="0">
              <a:buNone/>
            </a:pPr>
            <a:r>
              <a:rPr lang="en-US" sz="1400" i="1" dirty="0">
                <a:solidFill>
                  <a:srgbClr val="6E7781"/>
                </a:solidFill>
                <a:latin typeface="Calibri" pitchFamily="34" charset="0"/>
                <a:ea typeface="Calibri" pitchFamily="34" charset="-122"/>
                <a:cs typeface="Calibri" pitchFamily="34" charset="-120"/>
              </a:rPr>
              <a:t>What happens in week one, with owners and dates. Nothing here waits on a decision.</a:t>
            </a:r>
            <a:endParaRPr lang="en-US" sz="1400" dirty="0"/>
          </a:p>
        </p:txBody>
      </p:sp>
      <p:sp>
        <p:nvSpPr>
          <p:cNvPr id="6" name="Shape 4"/>
          <p:cNvSpPr/>
          <p:nvPr/>
        </p:nvSpPr>
        <p:spPr>
          <a:xfrm>
            <a:off x="640080" y="1444752"/>
            <a:ext cx="10881360" cy="676656"/>
          </a:xfrm>
          <a:prstGeom prst="rect">
            <a:avLst/>
          </a:prstGeom>
          <a:solidFill>
            <a:srgbClr val="FFFFFF"/>
          </a:solidFill>
          <a:ln w="12700">
            <a:solidFill>
              <a:srgbClr val="D8D2C9"/>
            </a:solidFill>
            <a:prstDash val="solid"/>
          </a:ln>
        </p:spPr>
        <p:txBody>
          <a:bodyPr/>
          <a:lstStyle/>
          <a:p>
            <a:endParaRPr lang="en-US"/>
          </a:p>
        </p:txBody>
      </p:sp>
      <p:sp>
        <p:nvSpPr>
          <p:cNvPr id="7" name="Shape 5"/>
          <p:cNvSpPr/>
          <p:nvPr/>
        </p:nvSpPr>
        <p:spPr>
          <a:xfrm>
            <a:off x="841248" y="1719072"/>
            <a:ext cx="128016" cy="128016"/>
          </a:xfrm>
          <a:prstGeom prst="rect">
            <a:avLst/>
          </a:prstGeom>
          <a:solidFill>
            <a:srgbClr val="A32020"/>
          </a:solidFill>
          <a:ln/>
        </p:spPr>
        <p:txBody>
          <a:bodyPr/>
          <a:lstStyle/>
          <a:p>
            <a:endParaRPr lang="en-US"/>
          </a:p>
        </p:txBody>
      </p:sp>
      <p:sp>
        <p:nvSpPr>
          <p:cNvPr id="8" name="Text 6"/>
          <p:cNvSpPr/>
          <p:nvPr/>
        </p:nvSpPr>
        <p:spPr>
          <a:xfrm>
            <a:off x="1097280" y="1499616"/>
            <a:ext cx="4206240" cy="292608"/>
          </a:xfrm>
          <a:prstGeom prst="rect">
            <a:avLst/>
          </a:prstGeom>
          <a:noFill/>
          <a:ln/>
        </p:spPr>
        <p:txBody>
          <a:bodyPr wrap="square" lIns="0" tIns="0" rIns="0" bIns="0" rtlCol="0" anchor="ctr"/>
          <a:lstStyle/>
          <a:p>
            <a:pPr marL="0" indent="0">
              <a:buNone/>
            </a:pPr>
            <a:r>
              <a:rPr lang="en-US" sz="1250" b="1" dirty="0">
                <a:solidFill>
                  <a:srgbClr val="1C1F26"/>
                </a:solidFill>
                <a:latin typeface="Calibri" pitchFamily="34" charset="0"/>
                <a:ea typeface="Calibri" pitchFamily="34" charset="-122"/>
                <a:cs typeface="Calibri" pitchFamily="34" charset="-120"/>
              </a:rPr>
              <a:t>Q-A + Q-B to Chris</a:t>
            </a:r>
            <a:endParaRPr lang="en-US" sz="1250" dirty="0"/>
          </a:p>
        </p:txBody>
      </p:sp>
      <p:sp>
        <p:nvSpPr>
          <p:cNvPr id="9" name="Text 7"/>
          <p:cNvSpPr/>
          <p:nvPr/>
        </p:nvSpPr>
        <p:spPr>
          <a:xfrm>
            <a:off x="1097280" y="1792224"/>
            <a:ext cx="7315200" cy="274320"/>
          </a:xfrm>
          <a:prstGeom prst="rect">
            <a:avLst/>
          </a:prstGeom>
          <a:noFill/>
          <a:ln/>
        </p:spPr>
        <p:txBody>
          <a:bodyPr wrap="square" lIns="0" tIns="0" rIns="0" bIns="0" rtlCol="0" anchor="ctr"/>
          <a:lstStyle/>
          <a:p>
            <a:pPr marL="0" indent="0">
              <a:buNone/>
            </a:pPr>
            <a:r>
              <a:rPr lang="en-US" sz="1050" dirty="0">
                <a:solidFill>
                  <a:srgbClr val="6E7781"/>
                </a:solidFill>
                <a:latin typeface="Calibri" pitchFamily="34" charset="0"/>
                <a:ea typeface="Calibri" pitchFamily="34" charset="-122"/>
                <a:cs typeface="Calibri" pitchFamily="34" charset="-120"/>
              </a:rPr>
              <a:t>Selects Plan A or Plan B before anyone builds against either.</a:t>
            </a:r>
            <a:endParaRPr lang="en-US" sz="1050" dirty="0"/>
          </a:p>
        </p:txBody>
      </p:sp>
      <p:sp>
        <p:nvSpPr>
          <p:cNvPr id="10" name="Text 8"/>
          <p:cNvSpPr/>
          <p:nvPr/>
        </p:nvSpPr>
        <p:spPr>
          <a:xfrm>
            <a:off x="8595360" y="1444752"/>
            <a:ext cx="1737360" cy="676656"/>
          </a:xfrm>
          <a:prstGeom prst="rect">
            <a:avLst/>
          </a:prstGeom>
          <a:noFill/>
          <a:ln/>
        </p:spPr>
        <p:txBody>
          <a:bodyPr wrap="square" lIns="0" tIns="0" rIns="0" bIns="0" rtlCol="0" anchor="ctr"/>
          <a:lstStyle/>
          <a:p>
            <a:pPr marL="0" indent="0" algn="r">
              <a:buNone/>
            </a:pPr>
            <a:r>
              <a:rPr lang="en-US" sz="1100" dirty="0">
                <a:solidFill>
                  <a:srgbClr val="6E7781"/>
                </a:solidFill>
                <a:latin typeface="Calibri" pitchFamily="34" charset="0"/>
                <a:ea typeface="Calibri" pitchFamily="34" charset="-122"/>
                <a:cs typeface="Calibri" pitchFamily="34" charset="-120"/>
              </a:rPr>
              <a:t>Chris</a:t>
            </a:r>
            <a:endParaRPr lang="en-US" sz="1100" dirty="0"/>
          </a:p>
        </p:txBody>
      </p:sp>
      <p:sp>
        <p:nvSpPr>
          <p:cNvPr id="11" name="Text 9"/>
          <p:cNvSpPr/>
          <p:nvPr/>
        </p:nvSpPr>
        <p:spPr>
          <a:xfrm>
            <a:off x="10424160" y="1444752"/>
            <a:ext cx="1005840" cy="676656"/>
          </a:xfrm>
          <a:prstGeom prst="rect">
            <a:avLst/>
          </a:prstGeom>
          <a:noFill/>
          <a:ln/>
        </p:spPr>
        <p:txBody>
          <a:bodyPr wrap="square" lIns="0" tIns="0" rIns="0" bIns="0" rtlCol="0" anchor="ctr"/>
          <a:lstStyle/>
          <a:p>
            <a:pPr marL="0" indent="0" algn="r">
              <a:buNone/>
            </a:pPr>
            <a:r>
              <a:rPr lang="en-US" sz="1100" b="1" dirty="0">
                <a:solidFill>
                  <a:srgbClr val="A32020"/>
                </a:solidFill>
                <a:latin typeface="Calibri" pitchFamily="34" charset="0"/>
                <a:ea typeface="Calibri" pitchFamily="34" charset="-122"/>
                <a:cs typeface="Calibri" pitchFamily="34" charset="-120"/>
              </a:rPr>
              <a:t>Fri wk 1</a:t>
            </a:r>
            <a:endParaRPr lang="en-US" sz="1100" dirty="0"/>
          </a:p>
        </p:txBody>
      </p:sp>
      <p:sp>
        <p:nvSpPr>
          <p:cNvPr id="12" name="Shape 10"/>
          <p:cNvSpPr/>
          <p:nvPr/>
        </p:nvSpPr>
        <p:spPr>
          <a:xfrm>
            <a:off x="640080" y="2231136"/>
            <a:ext cx="10881360" cy="676656"/>
          </a:xfrm>
          <a:prstGeom prst="rect">
            <a:avLst/>
          </a:prstGeom>
          <a:solidFill>
            <a:srgbClr val="FFFFFF"/>
          </a:solidFill>
          <a:ln w="12700">
            <a:solidFill>
              <a:srgbClr val="D8D2C9"/>
            </a:solidFill>
            <a:prstDash val="solid"/>
          </a:ln>
        </p:spPr>
        <p:txBody>
          <a:bodyPr/>
          <a:lstStyle/>
          <a:p>
            <a:endParaRPr lang="en-US"/>
          </a:p>
        </p:txBody>
      </p:sp>
      <p:sp>
        <p:nvSpPr>
          <p:cNvPr id="13" name="Shape 11"/>
          <p:cNvSpPr/>
          <p:nvPr/>
        </p:nvSpPr>
        <p:spPr>
          <a:xfrm>
            <a:off x="841248" y="2505456"/>
            <a:ext cx="128016" cy="128016"/>
          </a:xfrm>
          <a:prstGeom prst="rect">
            <a:avLst/>
          </a:prstGeom>
          <a:solidFill>
            <a:srgbClr val="A32020"/>
          </a:solidFill>
          <a:ln/>
        </p:spPr>
        <p:txBody>
          <a:bodyPr/>
          <a:lstStyle/>
          <a:p>
            <a:endParaRPr lang="en-US"/>
          </a:p>
        </p:txBody>
      </p:sp>
      <p:sp>
        <p:nvSpPr>
          <p:cNvPr id="14" name="Text 12"/>
          <p:cNvSpPr/>
          <p:nvPr/>
        </p:nvSpPr>
        <p:spPr>
          <a:xfrm>
            <a:off x="1097280" y="2286000"/>
            <a:ext cx="4206240" cy="292608"/>
          </a:xfrm>
          <a:prstGeom prst="rect">
            <a:avLst/>
          </a:prstGeom>
          <a:noFill/>
          <a:ln/>
        </p:spPr>
        <p:txBody>
          <a:bodyPr wrap="square" lIns="0" tIns="0" rIns="0" bIns="0" rtlCol="0" anchor="ctr"/>
          <a:lstStyle/>
          <a:p>
            <a:pPr marL="0" indent="0">
              <a:buNone/>
            </a:pPr>
            <a:r>
              <a:rPr lang="en-US" sz="1250" b="1" dirty="0">
                <a:solidFill>
                  <a:srgbClr val="1C1F26"/>
                </a:solidFill>
                <a:latin typeface="Calibri" pitchFamily="34" charset="0"/>
                <a:ea typeface="Calibri" pitchFamily="34" charset="-122"/>
                <a:cs typeface="Calibri" pitchFamily="34" charset="-120"/>
              </a:rPr>
              <a:t>Circulate the v4.2 event schema contract</a:t>
            </a:r>
            <a:endParaRPr lang="en-US" sz="1250" dirty="0"/>
          </a:p>
        </p:txBody>
      </p:sp>
      <p:sp>
        <p:nvSpPr>
          <p:cNvPr id="15" name="Text 13"/>
          <p:cNvSpPr/>
          <p:nvPr/>
        </p:nvSpPr>
        <p:spPr>
          <a:xfrm>
            <a:off x="1097280" y="2578608"/>
            <a:ext cx="7315200" cy="274320"/>
          </a:xfrm>
          <a:prstGeom prst="rect">
            <a:avLst/>
          </a:prstGeom>
          <a:noFill/>
          <a:ln/>
        </p:spPr>
        <p:txBody>
          <a:bodyPr wrap="square" lIns="0" tIns="0" rIns="0" bIns="0" rtlCol="0" anchor="ctr"/>
          <a:lstStyle/>
          <a:p>
            <a:pPr marL="0" indent="0">
              <a:buNone/>
            </a:pPr>
            <a:r>
              <a:rPr lang="en-US" sz="1050" dirty="0">
                <a:solidFill>
                  <a:srgbClr val="6E7781"/>
                </a:solidFill>
                <a:latin typeface="Calibri" pitchFamily="34" charset="0"/>
                <a:ea typeface="Calibri" pitchFamily="34" charset="-122"/>
                <a:cs typeface="Calibri" pitchFamily="34" charset="-120"/>
              </a:rPr>
              <a:t>Must be agreed before boards land. There is no v4.3.</a:t>
            </a:r>
            <a:endParaRPr lang="en-US" sz="1050" dirty="0"/>
          </a:p>
        </p:txBody>
      </p:sp>
      <p:sp>
        <p:nvSpPr>
          <p:cNvPr id="16" name="Text 14"/>
          <p:cNvSpPr/>
          <p:nvPr/>
        </p:nvSpPr>
        <p:spPr>
          <a:xfrm>
            <a:off x="8595360" y="2231136"/>
            <a:ext cx="1737360" cy="676656"/>
          </a:xfrm>
          <a:prstGeom prst="rect">
            <a:avLst/>
          </a:prstGeom>
          <a:noFill/>
          <a:ln/>
        </p:spPr>
        <p:txBody>
          <a:bodyPr wrap="square" lIns="0" tIns="0" rIns="0" bIns="0" rtlCol="0" anchor="ctr"/>
          <a:lstStyle/>
          <a:p>
            <a:pPr marL="0" indent="0" algn="r">
              <a:buNone/>
            </a:pPr>
            <a:r>
              <a:rPr lang="en-US" sz="1100" dirty="0">
                <a:solidFill>
                  <a:srgbClr val="6E7781"/>
                </a:solidFill>
                <a:latin typeface="Calibri" pitchFamily="34" charset="0"/>
                <a:ea typeface="Calibri" pitchFamily="34" charset="-122"/>
                <a:cs typeface="Calibri" pitchFamily="34" charset="-120"/>
              </a:rPr>
              <a:t>Lead → Chris</a:t>
            </a:r>
            <a:endParaRPr lang="en-US" sz="1100" dirty="0"/>
          </a:p>
        </p:txBody>
      </p:sp>
      <p:sp>
        <p:nvSpPr>
          <p:cNvPr id="17" name="Text 15"/>
          <p:cNvSpPr/>
          <p:nvPr/>
        </p:nvSpPr>
        <p:spPr>
          <a:xfrm>
            <a:off x="10424160" y="2231136"/>
            <a:ext cx="1005840" cy="676656"/>
          </a:xfrm>
          <a:prstGeom prst="rect">
            <a:avLst/>
          </a:prstGeom>
          <a:noFill/>
          <a:ln/>
        </p:spPr>
        <p:txBody>
          <a:bodyPr wrap="square" lIns="0" tIns="0" rIns="0" bIns="0" rtlCol="0" anchor="ctr"/>
          <a:lstStyle/>
          <a:p>
            <a:pPr marL="0" indent="0" algn="r">
              <a:buNone/>
            </a:pPr>
            <a:r>
              <a:rPr lang="en-US" sz="1100" b="1" dirty="0">
                <a:solidFill>
                  <a:srgbClr val="A32020"/>
                </a:solidFill>
                <a:latin typeface="Calibri" pitchFamily="34" charset="0"/>
                <a:ea typeface="Calibri" pitchFamily="34" charset="-122"/>
                <a:cs typeface="Calibri" pitchFamily="34" charset="-120"/>
              </a:rPr>
              <a:t>Fri wk 1</a:t>
            </a:r>
            <a:endParaRPr lang="en-US" sz="1100" dirty="0"/>
          </a:p>
        </p:txBody>
      </p:sp>
      <p:sp>
        <p:nvSpPr>
          <p:cNvPr id="18" name="Shape 16"/>
          <p:cNvSpPr/>
          <p:nvPr/>
        </p:nvSpPr>
        <p:spPr>
          <a:xfrm>
            <a:off x="640080" y="3017520"/>
            <a:ext cx="10881360" cy="676656"/>
          </a:xfrm>
          <a:prstGeom prst="rect">
            <a:avLst/>
          </a:prstGeom>
          <a:solidFill>
            <a:srgbClr val="FFFFFF"/>
          </a:solidFill>
          <a:ln w="12700">
            <a:solidFill>
              <a:srgbClr val="D8D2C9"/>
            </a:solidFill>
            <a:prstDash val="solid"/>
          </a:ln>
        </p:spPr>
        <p:txBody>
          <a:bodyPr/>
          <a:lstStyle/>
          <a:p>
            <a:endParaRPr lang="en-US"/>
          </a:p>
        </p:txBody>
      </p:sp>
      <p:sp>
        <p:nvSpPr>
          <p:cNvPr id="19" name="Shape 17"/>
          <p:cNvSpPr/>
          <p:nvPr/>
        </p:nvSpPr>
        <p:spPr>
          <a:xfrm>
            <a:off x="841248" y="3291840"/>
            <a:ext cx="128016" cy="128016"/>
          </a:xfrm>
          <a:prstGeom prst="rect">
            <a:avLst/>
          </a:prstGeom>
          <a:solidFill>
            <a:srgbClr val="B8621B"/>
          </a:solidFill>
          <a:ln/>
        </p:spPr>
        <p:txBody>
          <a:bodyPr/>
          <a:lstStyle/>
          <a:p>
            <a:endParaRPr lang="en-US"/>
          </a:p>
        </p:txBody>
      </p:sp>
      <p:sp>
        <p:nvSpPr>
          <p:cNvPr id="20" name="Text 18"/>
          <p:cNvSpPr/>
          <p:nvPr/>
        </p:nvSpPr>
        <p:spPr>
          <a:xfrm>
            <a:off x="1097280" y="3072384"/>
            <a:ext cx="4206240" cy="292608"/>
          </a:xfrm>
          <a:prstGeom prst="rect">
            <a:avLst/>
          </a:prstGeom>
          <a:noFill/>
          <a:ln/>
        </p:spPr>
        <p:txBody>
          <a:bodyPr wrap="square" lIns="0" tIns="0" rIns="0" bIns="0" rtlCol="0" anchor="ctr"/>
          <a:lstStyle/>
          <a:p>
            <a:pPr marL="0" indent="0">
              <a:buNone/>
            </a:pPr>
            <a:r>
              <a:rPr lang="en-US" sz="1250" b="1" dirty="0">
                <a:solidFill>
                  <a:srgbClr val="1C1F26"/>
                </a:solidFill>
                <a:latin typeface="Calibri" pitchFamily="34" charset="0"/>
                <a:ea typeface="Calibri" pitchFamily="34" charset="-122"/>
                <a:cs typeface="Calibri" pitchFamily="34" charset="-120"/>
              </a:rPr>
              <a:t>Start a2 — build slice 1</a:t>
            </a:r>
            <a:endParaRPr lang="en-US" sz="1250" dirty="0"/>
          </a:p>
        </p:txBody>
      </p:sp>
      <p:sp>
        <p:nvSpPr>
          <p:cNvPr id="21" name="Text 19"/>
          <p:cNvSpPr/>
          <p:nvPr/>
        </p:nvSpPr>
        <p:spPr>
          <a:xfrm>
            <a:off x="1097280" y="3364992"/>
            <a:ext cx="7315200" cy="274320"/>
          </a:xfrm>
          <a:prstGeom prst="rect">
            <a:avLst/>
          </a:prstGeom>
          <a:noFill/>
          <a:ln/>
        </p:spPr>
        <p:txBody>
          <a:bodyPr wrap="square" lIns="0" tIns="0" rIns="0" bIns="0" rtlCol="0" anchor="ctr"/>
          <a:lstStyle/>
          <a:p>
            <a:pPr marL="0" indent="0">
              <a:buNone/>
            </a:pPr>
            <a:r>
              <a:rPr lang="en-US" sz="1050" dirty="0">
                <a:solidFill>
                  <a:srgbClr val="6E7781"/>
                </a:solidFill>
                <a:latin typeface="Calibri" pitchFamily="34" charset="0"/>
                <a:ea typeface="Calibri" pitchFamily="34" charset="-122"/>
                <a:cs typeface="Calibri" pitchFamily="34" charset="-120"/>
              </a:rPr>
              <a:t>First link in the chain. Also de-risks scheduling rig time.</a:t>
            </a:r>
            <a:endParaRPr lang="en-US" sz="1050" dirty="0"/>
          </a:p>
        </p:txBody>
      </p:sp>
      <p:sp>
        <p:nvSpPr>
          <p:cNvPr id="22" name="Text 20"/>
          <p:cNvSpPr/>
          <p:nvPr/>
        </p:nvSpPr>
        <p:spPr>
          <a:xfrm>
            <a:off x="8595360" y="3017520"/>
            <a:ext cx="1737360" cy="676656"/>
          </a:xfrm>
          <a:prstGeom prst="rect">
            <a:avLst/>
          </a:prstGeom>
          <a:noFill/>
          <a:ln/>
        </p:spPr>
        <p:txBody>
          <a:bodyPr wrap="square" lIns="0" tIns="0" rIns="0" bIns="0" rtlCol="0" anchor="ctr"/>
          <a:lstStyle/>
          <a:p>
            <a:pPr marL="0" indent="0" algn="r">
              <a:buNone/>
            </a:pPr>
            <a:r>
              <a:rPr lang="en-US" sz="1100" dirty="0">
                <a:solidFill>
                  <a:srgbClr val="6E7781"/>
                </a:solidFill>
                <a:latin typeface="Calibri" pitchFamily="34" charset="0"/>
                <a:ea typeface="Calibri" pitchFamily="34" charset="-122"/>
                <a:cs typeface="Calibri" pitchFamily="34" charset="-120"/>
              </a:rPr>
              <a:t>Lead</a:t>
            </a:r>
            <a:endParaRPr lang="en-US" sz="1100" dirty="0"/>
          </a:p>
        </p:txBody>
      </p:sp>
      <p:sp>
        <p:nvSpPr>
          <p:cNvPr id="23" name="Text 21"/>
          <p:cNvSpPr/>
          <p:nvPr/>
        </p:nvSpPr>
        <p:spPr>
          <a:xfrm>
            <a:off x="10424160" y="3017520"/>
            <a:ext cx="1005840" cy="676656"/>
          </a:xfrm>
          <a:prstGeom prst="rect">
            <a:avLst/>
          </a:prstGeom>
          <a:noFill/>
          <a:ln/>
        </p:spPr>
        <p:txBody>
          <a:bodyPr wrap="square" lIns="0" tIns="0" rIns="0" bIns="0" rtlCol="0" anchor="ctr"/>
          <a:lstStyle/>
          <a:p>
            <a:pPr marL="0" indent="0" algn="r">
              <a:buNone/>
            </a:pPr>
            <a:r>
              <a:rPr lang="en-US" sz="1100" b="1" dirty="0">
                <a:solidFill>
                  <a:srgbClr val="1C1F26"/>
                </a:solidFill>
                <a:latin typeface="Calibri" pitchFamily="34" charset="0"/>
                <a:ea typeface="Calibri" pitchFamily="34" charset="-122"/>
                <a:cs typeface="Calibri" pitchFamily="34" charset="-120"/>
              </a:rPr>
              <a:t>Day 1</a:t>
            </a:r>
            <a:endParaRPr lang="en-US" sz="1100" dirty="0"/>
          </a:p>
        </p:txBody>
      </p:sp>
      <p:sp>
        <p:nvSpPr>
          <p:cNvPr id="24" name="Shape 22"/>
          <p:cNvSpPr/>
          <p:nvPr/>
        </p:nvSpPr>
        <p:spPr>
          <a:xfrm>
            <a:off x="640080" y="3803904"/>
            <a:ext cx="10881360" cy="676656"/>
          </a:xfrm>
          <a:prstGeom prst="rect">
            <a:avLst/>
          </a:prstGeom>
          <a:solidFill>
            <a:srgbClr val="FFFFFF"/>
          </a:solidFill>
          <a:ln w="12700">
            <a:solidFill>
              <a:srgbClr val="D8D2C9"/>
            </a:solidFill>
            <a:prstDash val="solid"/>
          </a:ln>
        </p:spPr>
        <p:txBody>
          <a:bodyPr/>
          <a:lstStyle/>
          <a:p>
            <a:endParaRPr lang="en-US"/>
          </a:p>
        </p:txBody>
      </p:sp>
      <p:sp>
        <p:nvSpPr>
          <p:cNvPr id="25" name="Shape 23"/>
          <p:cNvSpPr/>
          <p:nvPr/>
        </p:nvSpPr>
        <p:spPr>
          <a:xfrm>
            <a:off x="841248" y="4078224"/>
            <a:ext cx="128016" cy="128016"/>
          </a:xfrm>
          <a:prstGeom prst="rect">
            <a:avLst/>
          </a:prstGeom>
          <a:solidFill>
            <a:srgbClr val="B8621B"/>
          </a:solidFill>
          <a:ln/>
        </p:spPr>
        <p:txBody>
          <a:bodyPr/>
          <a:lstStyle/>
          <a:p>
            <a:endParaRPr lang="en-US"/>
          </a:p>
        </p:txBody>
      </p:sp>
      <p:sp>
        <p:nvSpPr>
          <p:cNvPr id="26" name="Text 24"/>
          <p:cNvSpPr/>
          <p:nvPr/>
        </p:nvSpPr>
        <p:spPr>
          <a:xfrm>
            <a:off x="1097280" y="3858768"/>
            <a:ext cx="4206240" cy="292608"/>
          </a:xfrm>
          <a:prstGeom prst="rect">
            <a:avLst/>
          </a:prstGeom>
          <a:noFill/>
          <a:ln/>
        </p:spPr>
        <p:txBody>
          <a:bodyPr wrap="square" lIns="0" tIns="0" rIns="0" bIns="0" rtlCol="0" anchor="ctr"/>
          <a:lstStyle/>
          <a:p>
            <a:pPr marL="0" indent="0">
              <a:buNone/>
            </a:pPr>
            <a:r>
              <a:rPr lang="en-US" sz="1250" b="1" dirty="0">
                <a:solidFill>
                  <a:srgbClr val="1C1F26"/>
                </a:solidFill>
                <a:latin typeface="Calibri" pitchFamily="34" charset="0"/>
                <a:ea typeface="Calibri" pitchFamily="34" charset="-122"/>
                <a:cs typeface="Calibri" pitchFamily="34" charset="-120"/>
              </a:rPr>
              <a:t>Book the inspector provisionally</a:t>
            </a:r>
            <a:endParaRPr lang="en-US" sz="1250" dirty="0"/>
          </a:p>
        </p:txBody>
      </p:sp>
      <p:sp>
        <p:nvSpPr>
          <p:cNvPr id="27" name="Text 25"/>
          <p:cNvSpPr/>
          <p:nvPr/>
        </p:nvSpPr>
        <p:spPr>
          <a:xfrm>
            <a:off x="1097280" y="4151376"/>
            <a:ext cx="7315200" cy="274320"/>
          </a:xfrm>
          <a:prstGeom prst="rect">
            <a:avLst/>
          </a:prstGeom>
          <a:noFill/>
          <a:ln/>
        </p:spPr>
        <p:txBody>
          <a:bodyPr wrap="square" lIns="0" tIns="0" rIns="0" bIns="0" rtlCol="0" anchor="ctr"/>
          <a:lstStyle/>
          <a:p>
            <a:pPr marL="0" indent="0">
              <a:buNone/>
            </a:pPr>
            <a:r>
              <a:rPr lang="en-US" sz="1050" dirty="0">
                <a:solidFill>
                  <a:srgbClr val="6E7781"/>
                </a:solidFill>
                <a:latin typeface="Calibri" pitchFamily="34" charset="0"/>
                <a:ea typeface="Calibri" pitchFamily="34" charset="-122"/>
                <a:cs typeface="Calibri" pitchFamily="34" charset="-120"/>
              </a:rPr>
              <a:t>Ten working days is the lead time from submission, not from asking.</a:t>
            </a:r>
            <a:endParaRPr lang="en-US" sz="1050" dirty="0"/>
          </a:p>
        </p:txBody>
      </p:sp>
      <p:sp>
        <p:nvSpPr>
          <p:cNvPr id="28" name="Text 26"/>
          <p:cNvSpPr/>
          <p:nvPr/>
        </p:nvSpPr>
        <p:spPr>
          <a:xfrm>
            <a:off x="8595360" y="3803904"/>
            <a:ext cx="1737360" cy="676656"/>
          </a:xfrm>
          <a:prstGeom prst="rect">
            <a:avLst/>
          </a:prstGeom>
          <a:noFill/>
          <a:ln/>
        </p:spPr>
        <p:txBody>
          <a:bodyPr wrap="square" lIns="0" tIns="0" rIns="0" bIns="0" rtlCol="0" anchor="ctr"/>
          <a:lstStyle/>
          <a:p>
            <a:pPr marL="0" indent="0" algn="r">
              <a:buNone/>
            </a:pPr>
            <a:r>
              <a:rPr lang="en-US" sz="1100" dirty="0">
                <a:solidFill>
                  <a:srgbClr val="6E7781"/>
                </a:solidFill>
                <a:latin typeface="Calibri" pitchFamily="34" charset="0"/>
                <a:ea typeface="Calibri" pitchFamily="34" charset="-122"/>
                <a:cs typeface="Calibri" pitchFamily="34" charset="-120"/>
              </a:rPr>
              <a:t>Lead</a:t>
            </a:r>
            <a:endParaRPr lang="en-US" sz="1100" dirty="0"/>
          </a:p>
        </p:txBody>
      </p:sp>
      <p:sp>
        <p:nvSpPr>
          <p:cNvPr id="29" name="Text 27"/>
          <p:cNvSpPr/>
          <p:nvPr/>
        </p:nvSpPr>
        <p:spPr>
          <a:xfrm>
            <a:off x="10424160" y="3803904"/>
            <a:ext cx="1005840" cy="676656"/>
          </a:xfrm>
          <a:prstGeom prst="rect">
            <a:avLst/>
          </a:prstGeom>
          <a:noFill/>
          <a:ln/>
        </p:spPr>
        <p:txBody>
          <a:bodyPr wrap="square" lIns="0" tIns="0" rIns="0" bIns="0" rtlCol="0" anchor="ctr"/>
          <a:lstStyle/>
          <a:p>
            <a:pPr marL="0" indent="0" algn="r">
              <a:buNone/>
            </a:pPr>
            <a:r>
              <a:rPr lang="en-US" sz="1100" b="1" dirty="0">
                <a:solidFill>
                  <a:srgbClr val="1C1F26"/>
                </a:solidFill>
                <a:latin typeface="Calibri" pitchFamily="34" charset="0"/>
                <a:ea typeface="Calibri" pitchFamily="34" charset="-122"/>
                <a:cs typeface="Calibri" pitchFamily="34" charset="-120"/>
              </a:rPr>
              <a:t>Day 1</a:t>
            </a:r>
            <a:endParaRPr lang="en-US" sz="1100" dirty="0"/>
          </a:p>
        </p:txBody>
      </p:sp>
      <p:sp>
        <p:nvSpPr>
          <p:cNvPr id="30" name="Shape 28"/>
          <p:cNvSpPr/>
          <p:nvPr/>
        </p:nvSpPr>
        <p:spPr>
          <a:xfrm>
            <a:off x="640080" y="4590288"/>
            <a:ext cx="10881360" cy="676656"/>
          </a:xfrm>
          <a:prstGeom prst="rect">
            <a:avLst/>
          </a:prstGeom>
          <a:solidFill>
            <a:srgbClr val="FFFFFF"/>
          </a:solidFill>
          <a:ln w="12700">
            <a:solidFill>
              <a:srgbClr val="D8D2C9"/>
            </a:solidFill>
            <a:prstDash val="solid"/>
          </a:ln>
        </p:spPr>
        <p:txBody>
          <a:bodyPr/>
          <a:lstStyle/>
          <a:p>
            <a:endParaRPr lang="en-US"/>
          </a:p>
        </p:txBody>
      </p:sp>
      <p:sp>
        <p:nvSpPr>
          <p:cNvPr id="31" name="Shape 29"/>
          <p:cNvSpPr/>
          <p:nvPr/>
        </p:nvSpPr>
        <p:spPr>
          <a:xfrm>
            <a:off x="841248" y="4864608"/>
            <a:ext cx="128016" cy="128016"/>
          </a:xfrm>
          <a:prstGeom prst="rect">
            <a:avLst/>
          </a:prstGeom>
          <a:solidFill>
            <a:srgbClr val="B8621B"/>
          </a:solidFill>
          <a:ln/>
        </p:spPr>
        <p:txBody>
          <a:bodyPr/>
          <a:lstStyle/>
          <a:p>
            <a:endParaRPr lang="en-US"/>
          </a:p>
        </p:txBody>
      </p:sp>
      <p:sp>
        <p:nvSpPr>
          <p:cNvPr id="32" name="Text 30"/>
          <p:cNvSpPr/>
          <p:nvPr/>
        </p:nvSpPr>
        <p:spPr>
          <a:xfrm>
            <a:off x="1097280" y="4645152"/>
            <a:ext cx="4206240" cy="292608"/>
          </a:xfrm>
          <a:prstGeom prst="rect">
            <a:avLst/>
          </a:prstGeom>
          <a:noFill/>
          <a:ln/>
        </p:spPr>
        <p:txBody>
          <a:bodyPr wrap="square" lIns="0" tIns="0" rIns="0" bIns="0" rtlCol="0" anchor="ctr"/>
          <a:lstStyle/>
          <a:p>
            <a:pPr marL="0" indent="0">
              <a:buNone/>
            </a:pPr>
            <a:r>
              <a:rPr lang="en-US" sz="1250" b="1" dirty="0">
                <a:solidFill>
                  <a:srgbClr val="1C1F26"/>
                </a:solidFill>
                <a:latin typeface="Calibri" pitchFamily="34" charset="0"/>
                <a:ea typeface="Calibri" pitchFamily="34" charset="-122"/>
                <a:cs typeface="Calibri" pitchFamily="34" charset="-120"/>
              </a:rPr>
              <a:t>Get Sam's breakdown + refreshed mocks</a:t>
            </a:r>
            <a:endParaRPr lang="en-US" sz="1250" dirty="0"/>
          </a:p>
        </p:txBody>
      </p:sp>
      <p:sp>
        <p:nvSpPr>
          <p:cNvPr id="33" name="Text 31"/>
          <p:cNvSpPr/>
          <p:nvPr/>
        </p:nvSpPr>
        <p:spPr>
          <a:xfrm>
            <a:off x="1097280" y="4937760"/>
            <a:ext cx="7315200" cy="274320"/>
          </a:xfrm>
          <a:prstGeom prst="rect">
            <a:avLst/>
          </a:prstGeom>
          <a:noFill/>
          <a:ln/>
        </p:spPr>
        <p:txBody>
          <a:bodyPr wrap="square" lIns="0" tIns="0" rIns="0" bIns="0" rtlCol="0" anchor="ctr"/>
          <a:lstStyle/>
          <a:p>
            <a:pPr marL="0" indent="0">
              <a:buNone/>
            </a:pPr>
            <a:r>
              <a:rPr lang="en-US" sz="1050" dirty="0">
                <a:solidFill>
                  <a:srgbClr val="6E7781"/>
                </a:solidFill>
                <a:latin typeface="Calibri" pitchFamily="34" charset="0"/>
                <a:ea typeface="Calibri" pitchFamily="34" charset="-122"/>
                <a:cs typeface="Calibri" pitchFamily="34" charset="-120"/>
              </a:rPr>
              <a:t>Two of three user-facing surfaces are currently unplanned work.</a:t>
            </a:r>
            <a:endParaRPr lang="en-US" sz="1050" dirty="0"/>
          </a:p>
        </p:txBody>
      </p:sp>
      <p:sp>
        <p:nvSpPr>
          <p:cNvPr id="34" name="Text 32"/>
          <p:cNvSpPr/>
          <p:nvPr/>
        </p:nvSpPr>
        <p:spPr>
          <a:xfrm>
            <a:off x="8595360" y="4590288"/>
            <a:ext cx="1737360" cy="676656"/>
          </a:xfrm>
          <a:prstGeom prst="rect">
            <a:avLst/>
          </a:prstGeom>
          <a:noFill/>
          <a:ln/>
        </p:spPr>
        <p:txBody>
          <a:bodyPr wrap="square" lIns="0" tIns="0" rIns="0" bIns="0" rtlCol="0" anchor="ctr"/>
          <a:lstStyle/>
          <a:p>
            <a:pPr marL="0" indent="0" algn="r">
              <a:buNone/>
            </a:pPr>
            <a:r>
              <a:rPr lang="en-US" sz="1100" dirty="0">
                <a:solidFill>
                  <a:srgbClr val="6E7781"/>
                </a:solidFill>
                <a:latin typeface="Calibri" pitchFamily="34" charset="0"/>
                <a:ea typeface="Calibri" pitchFamily="34" charset="-122"/>
                <a:cs typeface="Calibri" pitchFamily="34" charset="-120"/>
              </a:rPr>
              <a:t>Sam, Robin</a:t>
            </a:r>
            <a:endParaRPr lang="en-US" sz="1100" dirty="0"/>
          </a:p>
        </p:txBody>
      </p:sp>
      <p:sp>
        <p:nvSpPr>
          <p:cNvPr id="35" name="Text 33"/>
          <p:cNvSpPr/>
          <p:nvPr/>
        </p:nvSpPr>
        <p:spPr>
          <a:xfrm>
            <a:off x="10424160" y="4590288"/>
            <a:ext cx="1005840" cy="676656"/>
          </a:xfrm>
          <a:prstGeom prst="rect">
            <a:avLst/>
          </a:prstGeom>
          <a:noFill/>
          <a:ln/>
        </p:spPr>
        <p:txBody>
          <a:bodyPr wrap="square" lIns="0" tIns="0" rIns="0" bIns="0" rtlCol="0" anchor="ctr"/>
          <a:lstStyle/>
          <a:p>
            <a:pPr marL="0" indent="0" algn="r">
              <a:buNone/>
            </a:pPr>
            <a:r>
              <a:rPr lang="en-US" sz="1100" b="1" dirty="0">
                <a:solidFill>
                  <a:srgbClr val="1C1F26"/>
                </a:solidFill>
                <a:latin typeface="Calibri" pitchFamily="34" charset="0"/>
                <a:ea typeface="Calibri" pitchFamily="34" charset="-122"/>
                <a:cs typeface="Calibri" pitchFamily="34" charset="-120"/>
              </a:rPr>
              <a:t>Fri wk 1</a:t>
            </a:r>
            <a:endParaRPr lang="en-US" sz="1100" dirty="0"/>
          </a:p>
        </p:txBody>
      </p:sp>
      <p:sp>
        <p:nvSpPr>
          <p:cNvPr id="36" name="Shape 34"/>
          <p:cNvSpPr/>
          <p:nvPr/>
        </p:nvSpPr>
        <p:spPr>
          <a:xfrm>
            <a:off x="640080" y="5376672"/>
            <a:ext cx="10881360" cy="676656"/>
          </a:xfrm>
          <a:prstGeom prst="rect">
            <a:avLst/>
          </a:prstGeom>
          <a:solidFill>
            <a:srgbClr val="FFFFFF"/>
          </a:solidFill>
          <a:ln w="12700">
            <a:solidFill>
              <a:srgbClr val="D8D2C9"/>
            </a:solidFill>
            <a:prstDash val="solid"/>
          </a:ln>
        </p:spPr>
        <p:txBody>
          <a:bodyPr/>
          <a:lstStyle/>
          <a:p>
            <a:endParaRPr lang="en-US"/>
          </a:p>
        </p:txBody>
      </p:sp>
      <p:sp>
        <p:nvSpPr>
          <p:cNvPr id="37" name="Shape 35"/>
          <p:cNvSpPr/>
          <p:nvPr/>
        </p:nvSpPr>
        <p:spPr>
          <a:xfrm>
            <a:off x="841248" y="5650992"/>
            <a:ext cx="128016" cy="128016"/>
          </a:xfrm>
          <a:prstGeom prst="rect">
            <a:avLst/>
          </a:prstGeom>
          <a:solidFill>
            <a:srgbClr val="B8621B"/>
          </a:solidFill>
          <a:ln/>
        </p:spPr>
        <p:txBody>
          <a:bodyPr/>
          <a:lstStyle/>
          <a:p>
            <a:endParaRPr lang="en-US"/>
          </a:p>
        </p:txBody>
      </p:sp>
      <p:sp>
        <p:nvSpPr>
          <p:cNvPr id="38" name="Text 36"/>
          <p:cNvSpPr/>
          <p:nvPr/>
        </p:nvSpPr>
        <p:spPr>
          <a:xfrm>
            <a:off x="1097280" y="5431536"/>
            <a:ext cx="4206240" cy="292608"/>
          </a:xfrm>
          <a:prstGeom prst="rect">
            <a:avLst/>
          </a:prstGeom>
          <a:noFill/>
          <a:ln/>
        </p:spPr>
        <p:txBody>
          <a:bodyPr wrap="square" lIns="0" tIns="0" rIns="0" bIns="0" rtlCol="0" anchor="ctr"/>
          <a:lstStyle/>
          <a:p>
            <a:pPr marL="0" indent="0">
              <a:buNone/>
            </a:pPr>
            <a:r>
              <a:rPr lang="en-US" sz="1250" b="1" dirty="0">
                <a:solidFill>
                  <a:srgbClr val="1C1F26"/>
                </a:solidFill>
                <a:latin typeface="Calibri" pitchFamily="34" charset="0"/>
                <a:ea typeface="Calibri" pitchFamily="34" charset="-122"/>
                <a:cs typeface="Calibri" pitchFamily="34" charset="-120"/>
              </a:rPr>
              <a:t>Freeze PanelSpec; publish BuildModel types</a:t>
            </a:r>
            <a:endParaRPr lang="en-US" sz="1250" dirty="0"/>
          </a:p>
        </p:txBody>
      </p:sp>
      <p:sp>
        <p:nvSpPr>
          <p:cNvPr id="39" name="Text 37"/>
          <p:cNvSpPr/>
          <p:nvPr/>
        </p:nvSpPr>
        <p:spPr>
          <a:xfrm>
            <a:off x="1097280" y="5724144"/>
            <a:ext cx="7315200" cy="274320"/>
          </a:xfrm>
          <a:prstGeom prst="rect">
            <a:avLst/>
          </a:prstGeom>
          <a:noFill/>
          <a:ln/>
        </p:spPr>
        <p:txBody>
          <a:bodyPr wrap="square" lIns="0" tIns="0" rIns="0" bIns="0" rtlCol="0" anchor="ctr"/>
          <a:lstStyle/>
          <a:p>
            <a:pPr marL="0" indent="0">
              <a:buNone/>
            </a:pPr>
            <a:r>
              <a:rPr lang="en-US" sz="1050" dirty="0">
                <a:solidFill>
                  <a:srgbClr val="6E7781"/>
                </a:solidFill>
                <a:latin typeface="Calibri" pitchFamily="34" charset="0"/>
                <a:ea typeface="Calibri" pitchFamily="34" charset="-122"/>
                <a:cs typeface="Calibri" pitchFamily="34" charset="-120"/>
              </a:rPr>
              <a:t>Stops the migration surface growing today. Costs nothing.</a:t>
            </a:r>
            <a:endParaRPr lang="en-US" sz="1050" dirty="0"/>
          </a:p>
        </p:txBody>
      </p:sp>
      <p:sp>
        <p:nvSpPr>
          <p:cNvPr id="40" name="Text 38"/>
          <p:cNvSpPr/>
          <p:nvPr/>
        </p:nvSpPr>
        <p:spPr>
          <a:xfrm>
            <a:off x="8595360" y="5376672"/>
            <a:ext cx="1737360" cy="676656"/>
          </a:xfrm>
          <a:prstGeom prst="rect">
            <a:avLst/>
          </a:prstGeom>
          <a:noFill/>
          <a:ln/>
        </p:spPr>
        <p:txBody>
          <a:bodyPr wrap="square" lIns="0" tIns="0" rIns="0" bIns="0" rtlCol="0" anchor="ctr"/>
          <a:lstStyle/>
          <a:p>
            <a:pPr marL="0" indent="0" algn="r">
              <a:buNone/>
            </a:pPr>
            <a:r>
              <a:rPr lang="en-US" sz="1100" dirty="0">
                <a:solidFill>
                  <a:srgbClr val="6E7781"/>
                </a:solidFill>
                <a:latin typeface="Calibri" pitchFamily="34" charset="0"/>
                <a:ea typeface="Calibri" pitchFamily="34" charset="-122"/>
                <a:cs typeface="Calibri" pitchFamily="34" charset="-120"/>
              </a:rPr>
              <a:t>Jo, Alex</a:t>
            </a:r>
            <a:endParaRPr lang="en-US" sz="1100" dirty="0"/>
          </a:p>
        </p:txBody>
      </p:sp>
      <p:sp>
        <p:nvSpPr>
          <p:cNvPr id="41" name="Text 39"/>
          <p:cNvSpPr/>
          <p:nvPr/>
        </p:nvSpPr>
        <p:spPr>
          <a:xfrm>
            <a:off x="10424160" y="5376672"/>
            <a:ext cx="1005840" cy="676656"/>
          </a:xfrm>
          <a:prstGeom prst="rect">
            <a:avLst/>
          </a:prstGeom>
          <a:noFill/>
          <a:ln/>
        </p:spPr>
        <p:txBody>
          <a:bodyPr wrap="square" lIns="0" tIns="0" rIns="0" bIns="0" rtlCol="0" anchor="ctr"/>
          <a:lstStyle/>
          <a:p>
            <a:pPr marL="0" indent="0" algn="r">
              <a:buNone/>
            </a:pPr>
            <a:r>
              <a:rPr lang="en-US" sz="1100" b="1" dirty="0">
                <a:solidFill>
                  <a:srgbClr val="1C1F26"/>
                </a:solidFill>
                <a:latin typeface="Calibri" pitchFamily="34" charset="0"/>
                <a:ea typeface="Calibri" pitchFamily="34" charset="-122"/>
                <a:cs typeface="Calibri" pitchFamily="34" charset="-120"/>
              </a:rPr>
              <a:t>Wk 1</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C1F26"/>
        </a:solidFill>
        <a:effectLst/>
      </p:bgPr>
    </p:bg>
    <p:spTree>
      <p:nvGrpSpPr>
        <p:cNvPr id="1" name=""/>
        <p:cNvGrpSpPr/>
        <p:nvPr/>
      </p:nvGrpSpPr>
      <p:grpSpPr>
        <a:xfrm>
          <a:off x="0" y="0"/>
          <a:ext cx="0" cy="0"/>
          <a:chOff x="0" y="0"/>
          <a:chExt cx="0" cy="0"/>
        </a:xfrm>
      </p:grpSpPr>
      <p:sp>
        <p:nvSpPr>
          <p:cNvPr id="2" name="Shape 0"/>
          <p:cNvSpPr/>
          <p:nvPr/>
        </p:nvSpPr>
        <p:spPr>
          <a:xfrm>
            <a:off x="640080" y="384048"/>
            <a:ext cx="384048" cy="384048"/>
          </a:xfrm>
          <a:prstGeom prst="rect">
            <a:avLst/>
          </a:prstGeom>
          <a:solidFill>
            <a:srgbClr val="B8621B"/>
          </a:solidFill>
          <a:ln/>
        </p:spPr>
        <p:txBody>
          <a:bodyPr/>
          <a:lstStyle/>
          <a:p>
            <a:endParaRPr lang="en-US"/>
          </a:p>
        </p:txBody>
      </p:sp>
      <p:sp>
        <p:nvSpPr>
          <p:cNvPr id="3" name="Text 1"/>
          <p:cNvSpPr/>
          <p:nvPr/>
        </p:nvSpPr>
        <p:spPr>
          <a:xfrm>
            <a:off x="640080" y="384048"/>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8</a:t>
            </a:r>
            <a:endParaRPr lang="en-US" sz="1500" dirty="0"/>
          </a:p>
        </p:txBody>
      </p:sp>
      <p:sp>
        <p:nvSpPr>
          <p:cNvPr id="4" name="Text 2"/>
          <p:cNvSpPr/>
          <p:nvPr/>
        </p:nvSpPr>
        <p:spPr>
          <a:xfrm>
            <a:off x="1207008" y="329184"/>
            <a:ext cx="10314432" cy="530352"/>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Where I am least sure</a:t>
            </a:r>
            <a:endParaRPr lang="en-US" sz="3000" dirty="0"/>
          </a:p>
        </p:txBody>
      </p:sp>
      <p:sp>
        <p:nvSpPr>
          <p:cNvPr id="5" name="Text 3"/>
          <p:cNvSpPr/>
          <p:nvPr/>
        </p:nvSpPr>
        <p:spPr>
          <a:xfrm>
            <a:off x="640080" y="969264"/>
            <a:ext cx="10881360" cy="310896"/>
          </a:xfrm>
          <a:prstGeom prst="rect">
            <a:avLst/>
          </a:prstGeom>
          <a:noFill/>
          <a:ln/>
        </p:spPr>
        <p:txBody>
          <a:bodyPr wrap="square" lIns="0" tIns="0" rIns="0" bIns="0" rtlCol="0" anchor="ctr"/>
          <a:lstStyle/>
          <a:p>
            <a:pPr marL="0" indent="0">
              <a:buNone/>
            </a:pPr>
            <a:r>
              <a:rPr lang="en-US" sz="1400" i="1" dirty="0">
                <a:solidFill>
                  <a:srgbClr val="A8B0BC"/>
                </a:solidFill>
                <a:latin typeface="Calibri" pitchFamily="34" charset="0"/>
                <a:ea typeface="Calibri" pitchFamily="34" charset="-122"/>
                <a:cs typeface="Calibri" pitchFamily="34" charset="-120"/>
              </a:rPr>
              <a:t>Named before you name them. In order of exposure.</a:t>
            </a:r>
            <a:endParaRPr lang="en-US" sz="1400" dirty="0"/>
          </a:p>
        </p:txBody>
      </p:sp>
      <p:sp>
        <p:nvSpPr>
          <p:cNvPr id="6" name="Shape 4"/>
          <p:cNvSpPr/>
          <p:nvPr/>
        </p:nvSpPr>
        <p:spPr>
          <a:xfrm>
            <a:off x="640080" y="1545336"/>
            <a:ext cx="118872" cy="118872"/>
          </a:xfrm>
          <a:prstGeom prst="rect">
            <a:avLst/>
          </a:prstGeom>
          <a:solidFill>
            <a:srgbClr val="B8621B"/>
          </a:solidFill>
          <a:ln/>
        </p:spPr>
        <p:txBody>
          <a:bodyPr/>
          <a:lstStyle/>
          <a:p>
            <a:endParaRPr lang="en-US"/>
          </a:p>
        </p:txBody>
      </p:sp>
      <p:sp>
        <p:nvSpPr>
          <p:cNvPr id="7" name="Text 5"/>
          <p:cNvSpPr/>
          <p:nvPr/>
        </p:nvSpPr>
        <p:spPr>
          <a:xfrm>
            <a:off x="932688" y="1444752"/>
            <a:ext cx="10515600" cy="292608"/>
          </a:xfrm>
          <a:prstGeom prst="rect">
            <a:avLst/>
          </a:prstGeom>
          <a:noFill/>
          <a:ln/>
        </p:spPr>
        <p:txBody>
          <a:bodyPr wrap="square" lIns="0" tIns="0" rIns="0" bIns="0"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The firmware split is my invention</a:t>
            </a:r>
            <a:endParaRPr lang="en-US" sz="1350" dirty="0"/>
          </a:p>
        </p:txBody>
      </p:sp>
      <p:sp>
        <p:nvSpPr>
          <p:cNvPr id="8" name="Text 6"/>
          <p:cNvSpPr/>
          <p:nvPr/>
        </p:nvSpPr>
        <p:spPr>
          <a:xfrm>
            <a:off x="932688" y="1755648"/>
            <a:ext cx="10424160" cy="603504"/>
          </a:xfrm>
          <a:prstGeom prst="rect">
            <a:avLst/>
          </a:prstGeom>
          <a:noFill/>
          <a:ln/>
        </p:spPr>
        <p:txBody>
          <a:bodyPr wrap="square" lIns="0" tIns="0" rIns="0" bIns="0" rtlCol="0" anchor="ctr"/>
          <a:lstStyle/>
          <a:p>
            <a:pPr marL="0" indent="0">
              <a:buNone/>
            </a:pPr>
            <a:r>
              <a:rPr lang="en-US" sz="1100" dirty="0">
                <a:solidFill>
                  <a:srgbClr val="9AA3B0"/>
                </a:solidFill>
                <a:latin typeface="Calibri" pitchFamily="34" charset="0"/>
                <a:ea typeface="Calibri" pitchFamily="34" charset="-122"/>
                <a:cs typeface="Calibri" pitchFamily="34" charset="-120"/>
              </a:rPr>
              <a:t>I proposed v4.2a/v4.2b from a principle — never change the safety configuration after the re-test, only add observability. I do not know embedded release practice. A robotics lead may say firmware does not decompose that way, or that two builds cost more validation than they save. The principle is sound; the mechanism may not be.</a:t>
            </a:r>
            <a:endParaRPr lang="en-US" sz="1100" dirty="0"/>
          </a:p>
        </p:txBody>
      </p:sp>
      <p:sp>
        <p:nvSpPr>
          <p:cNvPr id="9" name="Shape 7"/>
          <p:cNvSpPr/>
          <p:nvPr/>
        </p:nvSpPr>
        <p:spPr>
          <a:xfrm>
            <a:off x="640080" y="2514600"/>
            <a:ext cx="118872" cy="118872"/>
          </a:xfrm>
          <a:prstGeom prst="rect">
            <a:avLst/>
          </a:prstGeom>
          <a:solidFill>
            <a:srgbClr val="B8621B"/>
          </a:solidFill>
          <a:ln/>
        </p:spPr>
        <p:txBody>
          <a:bodyPr/>
          <a:lstStyle/>
          <a:p>
            <a:endParaRPr lang="en-US"/>
          </a:p>
        </p:txBody>
      </p:sp>
      <p:sp>
        <p:nvSpPr>
          <p:cNvPr id="10" name="Text 8"/>
          <p:cNvSpPr/>
          <p:nvPr/>
        </p:nvSpPr>
        <p:spPr>
          <a:xfrm>
            <a:off x="932688" y="2414016"/>
            <a:ext cx="10515600" cy="292608"/>
          </a:xfrm>
          <a:prstGeom prst="rect">
            <a:avLst/>
          </a:prstGeom>
          <a:noFill/>
          <a:ln/>
        </p:spPr>
        <p:txBody>
          <a:bodyPr wrap="square" lIns="0" tIns="0" rIns="0" bIns="0"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Sam's estimates are mine, not his</a:t>
            </a:r>
            <a:endParaRPr lang="en-US" sz="1350" dirty="0"/>
          </a:p>
        </p:txBody>
      </p:sp>
      <p:sp>
        <p:nvSpPr>
          <p:cNvPr id="11" name="Text 9"/>
          <p:cNvSpPr/>
          <p:nvPr/>
        </p:nvSpPr>
        <p:spPr>
          <a:xfrm>
            <a:off x="932688" y="2724912"/>
            <a:ext cx="10424160" cy="402336"/>
          </a:xfrm>
          <a:prstGeom prst="rect">
            <a:avLst/>
          </a:prstGeom>
          <a:noFill/>
          <a:ln/>
        </p:spPr>
        <p:txBody>
          <a:bodyPr wrap="square" lIns="0" tIns="0" rIns="0" bIns="0" rtlCol="0" anchor="ctr"/>
          <a:lstStyle/>
          <a:p>
            <a:pPr marL="0" indent="0">
              <a:buNone/>
            </a:pPr>
            <a:r>
              <a:rPr lang="en-US" sz="1100" dirty="0">
                <a:solidFill>
                  <a:srgbClr val="9AA3B0"/>
                </a:solidFill>
                <a:latin typeface="Calibri" pitchFamily="34" charset="0"/>
                <a:ea typeface="Calibri" pitchFamily="34" charset="-122"/>
                <a:cs typeface="Calibri" pitchFamily="34" charset="-120"/>
              </a:rPr>
              <a:t>Inferred from comparable backlog workstreams. It is the largest number in the capacity table and I invented it.</a:t>
            </a:r>
            <a:endParaRPr lang="en-US" sz="1100" dirty="0"/>
          </a:p>
        </p:txBody>
      </p:sp>
      <p:sp>
        <p:nvSpPr>
          <p:cNvPr id="12" name="Shape 10"/>
          <p:cNvSpPr/>
          <p:nvPr/>
        </p:nvSpPr>
        <p:spPr>
          <a:xfrm>
            <a:off x="640080" y="3483864"/>
            <a:ext cx="118872" cy="118872"/>
          </a:xfrm>
          <a:prstGeom prst="rect">
            <a:avLst/>
          </a:prstGeom>
          <a:solidFill>
            <a:srgbClr val="B8621B"/>
          </a:solidFill>
          <a:ln/>
        </p:spPr>
        <p:txBody>
          <a:bodyPr/>
          <a:lstStyle/>
          <a:p>
            <a:endParaRPr lang="en-US"/>
          </a:p>
        </p:txBody>
      </p:sp>
      <p:sp>
        <p:nvSpPr>
          <p:cNvPr id="13" name="Text 11"/>
          <p:cNvSpPr/>
          <p:nvPr/>
        </p:nvSpPr>
        <p:spPr>
          <a:xfrm>
            <a:off x="932688" y="3383280"/>
            <a:ext cx="10515600" cy="292608"/>
          </a:xfrm>
          <a:prstGeom prst="rect">
            <a:avLst/>
          </a:prstGeom>
          <a:noFill/>
          <a:ln/>
        </p:spPr>
        <p:txBody>
          <a:bodyPr wrap="square" lIns="0" tIns="0" rIns="0" bIns="0"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Alex's 1.55× multiplier rests on four data points</a:t>
            </a:r>
            <a:endParaRPr lang="en-US" sz="1350" dirty="0"/>
          </a:p>
        </p:txBody>
      </p:sp>
      <p:sp>
        <p:nvSpPr>
          <p:cNvPr id="14" name="Text 12"/>
          <p:cNvSpPr/>
          <p:nvPr/>
        </p:nvSpPr>
        <p:spPr>
          <a:xfrm>
            <a:off x="932688" y="3694176"/>
            <a:ext cx="10424160" cy="402336"/>
          </a:xfrm>
          <a:prstGeom prst="rect">
            <a:avLst/>
          </a:prstGeom>
          <a:noFill/>
          <a:ln/>
        </p:spPr>
        <p:txBody>
          <a:bodyPr wrap="square" lIns="0" tIns="0" rIns="0" bIns="0" rtlCol="0" anchor="ctr"/>
          <a:lstStyle/>
          <a:p>
            <a:pPr marL="0" indent="0">
              <a:buNone/>
            </a:pPr>
            <a:r>
              <a:rPr lang="en-US" sz="1100" dirty="0">
                <a:solidFill>
                  <a:srgbClr val="9AA3B0"/>
                </a:solidFill>
                <a:latin typeface="Calibri" pitchFamily="34" charset="0"/>
                <a:ea typeface="Calibri" pitchFamily="34" charset="-122"/>
                <a:cs typeface="Calibri" pitchFamily="34" charset="-120"/>
              </a:rPr>
              <a:t>And I used it to justify cutting his work.</a:t>
            </a:r>
            <a:endParaRPr lang="en-US" sz="1100" dirty="0"/>
          </a:p>
        </p:txBody>
      </p:sp>
      <p:sp>
        <p:nvSpPr>
          <p:cNvPr id="15" name="Shape 13"/>
          <p:cNvSpPr/>
          <p:nvPr/>
        </p:nvSpPr>
        <p:spPr>
          <a:xfrm>
            <a:off x="640080" y="4453128"/>
            <a:ext cx="118872" cy="118872"/>
          </a:xfrm>
          <a:prstGeom prst="rect">
            <a:avLst/>
          </a:prstGeom>
          <a:solidFill>
            <a:srgbClr val="B8621B"/>
          </a:solidFill>
          <a:ln/>
        </p:spPr>
        <p:txBody>
          <a:bodyPr/>
          <a:lstStyle/>
          <a:p>
            <a:endParaRPr lang="en-US"/>
          </a:p>
        </p:txBody>
      </p:sp>
      <p:sp>
        <p:nvSpPr>
          <p:cNvPr id="16" name="Text 14"/>
          <p:cNvSpPr/>
          <p:nvPr/>
        </p:nvSpPr>
        <p:spPr>
          <a:xfrm>
            <a:off x="932688" y="4352544"/>
            <a:ext cx="10515600" cy="292608"/>
          </a:xfrm>
          <a:prstGeom prst="rect">
            <a:avLst/>
          </a:prstGeom>
          <a:noFill/>
          <a:ln/>
        </p:spPr>
        <p:txBody>
          <a:bodyPr wrap="square" lIns="0" tIns="0" rIns="0" bIns="0"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"Bench validation halves because the scope halves"</a:t>
            </a:r>
            <a:endParaRPr lang="en-US" sz="1350" dirty="0"/>
          </a:p>
        </p:txBody>
      </p:sp>
      <p:sp>
        <p:nvSpPr>
          <p:cNvPr id="17" name="Text 15"/>
          <p:cNvSpPr/>
          <p:nvPr/>
        </p:nvSpPr>
        <p:spPr>
          <a:xfrm>
            <a:off x="932688" y="4663440"/>
            <a:ext cx="10424160" cy="402336"/>
          </a:xfrm>
          <a:prstGeom prst="rect">
            <a:avLst/>
          </a:prstGeom>
          <a:noFill/>
          <a:ln/>
        </p:spPr>
        <p:txBody>
          <a:bodyPr wrap="square" lIns="0" tIns="0" rIns="0" bIns="0" rtlCol="0" anchor="ctr"/>
          <a:lstStyle/>
          <a:p>
            <a:pPr marL="0" indent="0">
              <a:buNone/>
            </a:pPr>
            <a:r>
              <a:rPr lang="en-US" sz="1100" dirty="0">
                <a:solidFill>
                  <a:srgbClr val="9AA3B0"/>
                </a:solidFill>
                <a:latin typeface="Calibri" pitchFamily="34" charset="0"/>
                <a:ea typeface="Calibri" pitchFamily="34" charset="-122"/>
                <a:cs typeface="Calibri" pitchFamily="34" charset="-120"/>
              </a:rPr>
              <a:t>An assumption about someone else's job. Plan A dies without it.</a:t>
            </a:r>
            <a:endParaRPr lang="en-US" sz="1100" dirty="0"/>
          </a:p>
        </p:txBody>
      </p:sp>
      <p:sp>
        <p:nvSpPr>
          <p:cNvPr id="18" name="Shape 16"/>
          <p:cNvSpPr/>
          <p:nvPr/>
        </p:nvSpPr>
        <p:spPr>
          <a:xfrm>
            <a:off x="640080" y="5422392"/>
            <a:ext cx="118872" cy="118872"/>
          </a:xfrm>
          <a:prstGeom prst="rect">
            <a:avLst/>
          </a:prstGeom>
          <a:solidFill>
            <a:srgbClr val="B8621B"/>
          </a:solidFill>
          <a:ln/>
        </p:spPr>
        <p:txBody>
          <a:bodyPr/>
          <a:lstStyle/>
          <a:p>
            <a:endParaRPr lang="en-US"/>
          </a:p>
        </p:txBody>
      </p:sp>
      <p:sp>
        <p:nvSpPr>
          <p:cNvPr id="19" name="Text 17"/>
          <p:cNvSpPr/>
          <p:nvPr/>
        </p:nvSpPr>
        <p:spPr>
          <a:xfrm>
            <a:off x="932688" y="5321808"/>
            <a:ext cx="10515600" cy="292608"/>
          </a:xfrm>
          <a:prstGeom prst="rect">
            <a:avLst/>
          </a:prstGeom>
          <a:noFill/>
          <a:ln/>
        </p:spPr>
        <p:txBody>
          <a:bodyPr wrap="square" lIns="0" tIns="0" rIns="0" bIns="0"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Slice 2 tests the diff core, not the integration</a:t>
            </a:r>
            <a:endParaRPr lang="en-US" sz="1350" dirty="0"/>
          </a:p>
        </p:txBody>
      </p:sp>
      <p:sp>
        <p:nvSpPr>
          <p:cNvPr id="20" name="Text 18"/>
          <p:cNvSpPr/>
          <p:nvPr/>
        </p:nvSpPr>
        <p:spPr>
          <a:xfrm>
            <a:off x="932688" y="5632704"/>
            <a:ext cx="10424160" cy="402336"/>
          </a:xfrm>
          <a:prstGeom prst="rect">
            <a:avLst/>
          </a:prstGeom>
          <a:noFill/>
          <a:ln/>
        </p:spPr>
        <p:txBody>
          <a:bodyPr wrap="square" lIns="0" tIns="0" rIns="0" bIns="0" rtlCol="0" anchor="ctr"/>
          <a:lstStyle/>
          <a:p>
            <a:pPr marL="0" indent="0">
              <a:buNone/>
            </a:pPr>
            <a:r>
              <a:rPr lang="en-US" sz="1100" dirty="0">
                <a:solidFill>
                  <a:srgbClr val="9AA3B0"/>
                </a:solidFill>
                <a:latin typeface="Calibri" pitchFamily="34" charset="0"/>
                <a:ea typeface="Calibri" pitchFamily="34" charset="-122"/>
                <a:cs typeface="Calibri" pitchFamily="34" charset="-120"/>
              </a:rPr>
              <a:t>So it disproves previousSpec, but it does not prove Alex's four weeks is wrong.</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C1F26"/>
        </a:solidFill>
        <a:effectLst/>
      </p:bgPr>
    </p:bg>
    <p:spTree>
      <p:nvGrpSpPr>
        <p:cNvPr id="1" name=""/>
        <p:cNvGrpSpPr/>
        <p:nvPr/>
      </p:nvGrpSpPr>
      <p:grpSpPr>
        <a:xfrm>
          <a:off x="0" y="0"/>
          <a:ext cx="0" cy="0"/>
          <a:chOff x="0" y="0"/>
          <a:chExt cx="0" cy="0"/>
        </a:xfrm>
      </p:grpSpPr>
      <p:sp>
        <p:nvSpPr>
          <p:cNvPr id="2" name="Shape 0"/>
          <p:cNvSpPr/>
          <p:nvPr/>
        </p:nvSpPr>
        <p:spPr>
          <a:xfrm>
            <a:off x="640080" y="384048"/>
            <a:ext cx="384048" cy="384048"/>
          </a:xfrm>
          <a:prstGeom prst="rect">
            <a:avLst/>
          </a:prstGeom>
          <a:solidFill>
            <a:srgbClr val="B8621B"/>
          </a:solidFill>
          <a:ln/>
        </p:spPr>
        <p:txBody>
          <a:bodyPr/>
          <a:lstStyle/>
          <a:p>
            <a:endParaRPr lang="en-US"/>
          </a:p>
        </p:txBody>
      </p:sp>
      <p:sp>
        <p:nvSpPr>
          <p:cNvPr id="3" name="Text 1"/>
          <p:cNvSpPr/>
          <p:nvPr/>
        </p:nvSpPr>
        <p:spPr>
          <a:xfrm>
            <a:off x="640080" y="384048"/>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9</a:t>
            </a:r>
            <a:endParaRPr lang="en-US" sz="1500" dirty="0"/>
          </a:p>
        </p:txBody>
      </p:sp>
      <p:sp>
        <p:nvSpPr>
          <p:cNvPr id="4" name="Text 2"/>
          <p:cNvSpPr/>
          <p:nvPr/>
        </p:nvSpPr>
        <p:spPr>
          <a:xfrm>
            <a:off x="1207008" y="329184"/>
            <a:ext cx="10314432" cy="530352"/>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Where to push me</a:t>
            </a:r>
            <a:endParaRPr lang="en-US" sz="3000" dirty="0"/>
          </a:p>
        </p:txBody>
      </p:sp>
      <p:sp>
        <p:nvSpPr>
          <p:cNvPr id="5" name="Text 3"/>
          <p:cNvSpPr/>
          <p:nvPr/>
        </p:nvSpPr>
        <p:spPr>
          <a:xfrm>
            <a:off x="640080" y="969264"/>
            <a:ext cx="10881360" cy="310896"/>
          </a:xfrm>
          <a:prstGeom prst="rect">
            <a:avLst/>
          </a:prstGeom>
          <a:noFill/>
          <a:ln/>
        </p:spPr>
        <p:txBody>
          <a:bodyPr wrap="square" lIns="0" tIns="0" rIns="0" bIns="0" rtlCol="0" anchor="ctr"/>
          <a:lstStyle/>
          <a:p>
            <a:pPr marL="0" indent="0">
              <a:buNone/>
            </a:pPr>
            <a:r>
              <a:rPr lang="en-US" sz="1400" i="1" dirty="0">
                <a:solidFill>
                  <a:srgbClr val="A8B0BC"/>
                </a:solidFill>
                <a:latin typeface="Calibri" pitchFamily="34" charset="0"/>
                <a:ea typeface="Calibri" pitchFamily="34" charset="-122"/>
                <a:cs typeface="Calibri" pitchFamily="34" charset="-120"/>
              </a:rPr>
              <a:t>The calls I would most like to be argued out of.</a:t>
            </a:r>
            <a:endParaRPr lang="en-US" sz="1400" dirty="0"/>
          </a:p>
        </p:txBody>
      </p:sp>
      <p:sp>
        <p:nvSpPr>
          <p:cNvPr id="6" name="Text 4"/>
          <p:cNvSpPr/>
          <p:nvPr/>
        </p:nvSpPr>
        <p:spPr>
          <a:xfrm>
            <a:off x="640080" y="1444752"/>
            <a:ext cx="10515600" cy="310896"/>
          </a:xfrm>
          <a:prstGeom prst="rect">
            <a:avLst/>
          </a:prstGeom>
          <a:noFill/>
          <a:ln/>
        </p:spPr>
        <p:txBody>
          <a:bodyPr wrap="square" lIns="0" tIns="0" rIns="0" bIns="0" rtlCol="0" anchor="ctr"/>
          <a:lstStyle/>
          <a:p>
            <a:pPr marL="0" indent="0">
              <a:buNone/>
            </a:pPr>
            <a:r>
              <a:rPr lang="en-US" sz="1500" b="1" dirty="0">
                <a:solidFill>
                  <a:srgbClr val="B8621B"/>
                </a:solidFill>
                <a:latin typeface="Cambria" pitchFamily="34" charset="0"/>
                <a:ea typeface="Cambria" pitchFamily="34" charset="-122"/>
                <a:cs typeface="Cambria" pitchFamily="34" charset="-120"/>
              </a:rPr>
              <a:t>Am I right to overrule Jo on the cutover?</a:t>
            </a:r>
            <a:endParaRPr lang="en-US" sz="1500" dirty="0"/>
          </a:p>
        </p:txBody>
      </p:sp>
      <p:sp>
        <p:nvSpPr>
          <p:cNvPr id="7" name="Text 5"/>
          <p:cNvSpPr/>
          <p:nvPr/>
        </p:nvSpPr>
        <p:spPr>
          <a:xfrm>
            <a:off x="640080" y="1773936"/>
            <a:ext cx="10424160" cy="457200"/>
          </a:xfrm>
          <a:prstGeom prst="rect">
            <a:avLst/>
          </a:prstGeom>
          <a:noFill/>
          <a:ln/>
        </p:spPr>
        <p:txBody>
          <a:bodyPr wrap="square" lIns="0" tIns="0" rIns="0" bIns="0" rtlCol="0" anchor="ctr"/>
          <a:lstStyle/>
          <a:p>
            <a:pPr marL="0" indent="0">
              <a:buNone/>
            </a:pPr>
            <a:r>
              <a:rPr lang="en-US" sz="1150" dirty="0">
                <a:solidFill>
                  <a:srgbClr val="9AA3B0"/>
                </a:solidFill>
                <a:latin typeface="Calibri" pitchFamily="34" charset="0"/>
                <a:ea typeface="Calibri" pitchFamily="34" charset="-122"/>
                <a:cs typeface="Calibri" pitchFamily="34" charset="-120"/>
              </a:rPr>
              <a:t>Jo's "half-migrated is worse than either end" is correct in principle. I am betting the calendar beats the principle for eight weeks.</a:t>
            </a:r>
            <a:endParaRPr lang="en-US" sz="1150" dirty="0"/>
          </a:p>
        </p:txBody>
      </p:sp>
      <p:sp>
        <p:nvSpPr>
          <p:cNvPr id="8" name="Text 6"/>
          <p:cNvSpPr/>
          <p:nvPr/>
        </p:nvSpPr>
        <p:spPr>
          <a:xfrm>
            <a:off x="640080" y="2414016"/>
            <a:ext cx="10515600" cy="310896"/>
          </a:xfrm>
          <a:prstGeom prst="rect">
            <a:avLst/>
          </a:prstGeom>
          <a:noFill/>
          <a:ln/>
        </p:spPr>
        <p:txBody>
          <a:bodyPr wrap="square" lIns="0" tIns="0" rIns="0" bIns="0" rtlCol="0" anchor="ctr"/>
          <a:lstStyle/>
          <a:p>
            <a:pPr marL="0" indent="0">
              <a:buNone/>
            </a:pPr>
            <a:r>
              <a:rPr lang="en-US" sz="1500" b="1" dirty="0">
                <a:solidFill>
                  <a:srgbClr val="B8621B"/>
                </a:solidFill>
                <a:latin typeface="Cambria" pitchFamily="34" charset="0"/>
                <a:ea typeface="Cambria" pitchFamily="34" charset="-122"/>
                <a:cs typeface="Cambria" pitchFamily="34" charset="-120"/>
              </a:rPr>
              <a:t>Is PR-6 scope creep dressed as insight?</a:t>
            </a:r>
            <a:endParaRPr lang="en-US" sz="1500" dirty="0"/>
          </a:p>
        </p:txBody>
      </p:sp>
      <p:sp>
        <p:nvSpPr>
          <p:cNvPr id="9" name="Text 7"/>
          <p:cNvSpPr/>
          <p:nvPr/>
        </p:nvSpPr>
        <p:spPr>
          <a:xfrm>
            <a:off x="640080" y="2743200"/>
            <a:ext cx="10424160" cy="457200"/>
          </a:xfrm>
          <a:prstGeom prst="rect">
            <a:avLst/>
          </a:prstGeom>
          <a:noFill/>
          <a:ln/>
        </p:spPr>
        <p:txBody>
          <a:bodyPr wrap="square" lIns="0" tIns="0" rIns="0" bIns="0" rtlCol="0" anchor="ctr"/>
          <a:lstStyle/>
          <a:p>
            <a:pPr marL="0" indent="0">
              <a:buNone/>
            </a:pPr>
            <a:r>
              <a:rPr lang="en-US" sz="1150" dirty="0">
                <a:solidFill>
                  <a:srgbClr val="9AA3B0"/>
                </a:solidFill>
                <a:latin typeface="Calibri" pitchFamily="34" charset="0"/>
                <a:ea typeface="Calibri" pitchFamily="34" charset="-122"/>
                <a:cs typeface="Calibri" pitchFamily="34" charset="-120"/>
              </a:rPr>
              <a:t>I added a Must story in week one, having never met the production manager. Robin may have good reasons the cost model is harder than £180 a panel.</a:t>
            </a:r>
            <a:endParaRPr lang="en-US" sz="1150" dirty="0"/>
          </a:p>
        </p:txBody>
      </p:sp>
      <p:sp>
        <p:nvSpPr>
          <p:cNvPr id="10" name="Text 8"/>
          <p:cNvSpPr/>
          <p:nvPr/>
        </p:nvSpPr>
        <p:spPr>
          <a:xfrm>
            <a:off x="640080" y="3383280"/>
            <a:ext cx="10515600" cy="310896"/>
          </a:xfrm>
          <a:prstGeom prst="rect">
            <a:avLst/>
          </a:prstGeom>
          <a:noFill/>
          <a:ln/>
        </p:spPr>
        <p:txBody>
          <a:bodyPr wrap="square" lIns="0" tIns="0" rIns="0" bIns="0" rtlCol="0" anchor="ctr"/>
          <a:lstStyle/>
          <a:p>
            <a:pPr marL="0" indent="0">
              <a:buNone/>
            </a:pPr>
            <a:r>
              <a:rPr lang="en-US" sz="1500" b="1" dirty="0">
                <a:solidFill>
                  <a:srgbClr val="B8621B"/>
                </a:solidFill>
                <a:latin typeface="Cambria" pitchFamily="34" charset="0"/>
                <a:ea typeface="Cambria" pitchFamily="34" charset="-122"/>
                <a:cs typeface="Cambria" pitchFamily="34" charset="-120"/>
              </a:rPr>
              <a:t>Should a2 really start on day one?</a:t>
            </a:r>
            <a:endParaRPr lang="en-US" sz="1500" dirty="0"/>
          </a:p>
        </p:txBody>
      </p:sp>
      <p:sp>
        <p:nvSpPr>
          <p:cNvPr id="11" name="Text 9"/>
          <p:cNvSpPr/>
          <p:nvPr/>
        </p:nvSpPr>
        <p:spPr>
          <a:xfrm>
            <a:off x="640080" y="3712464"/>
            <a:ext cx="10424160" cy="457200"/>
          </a:xfrm>
          <a:prstGeom prst="rect">
            <a:avLst/>
          </a:prstGeom>
          <a:noFill/>
          <a:ln/>
        </p:spPr>
        <p:txBody>
          <a:bodyPr wrap="square" lIns="0" tIns="0" rIns="0" bIns="0" rtlCol="0" anchor="ctr"/>
          <a:lstStyle/>
          <a:p>
            <a:pPr marL="0" indent="0">
              <a:buNone/>
            </a:pPr>
            <a:r>
              <a:rPr lang="en-US" sz="1150" dirty="0">
                <a:solidFill>
                  <a:srgbClr val="9AA3B0"/>
                </a:solidFill>
                <a:latin typeface="Calibri" pitchFamily="34" charset="0"/>
                <a:ea typeface="Calibri" pitchFamily="34" charset="-122"/>
                <a:cs typeface="Calibri" pitchFamily="34" charset="-120"/>
              </a:rPr>
              <a:t>Once the firmware chain is admitted, a2 has nine days of float. Starting it immediately may be conservatism I have justified after the fact.</a:t>
            </a:r>
            <a:endParaRPr lang="en-US" sz="1150" dirty="0"/>
          </a:p>
        </p:txBody>
      </p:sp>
      <p:sp>
        <p:nvSpPr>
          <p:cNvPr id="12" name="Text 10"/>
          <p:cNvSpPr/>
          <p:nvPr/>
        </p:nvSpPr>
        <p:spPr>
          <a:xfrm>
            <a:off x="640080" y="4352544"/>
            <a:ext cx="10515600" cy="310896"/>
          </a:xfrm>
          <a:prstGeom prst="rect">
            <a:avLst/>
          </a:prstGeom>
          <a:noFill/>
          <a:ln/>
        </p:spPr>
        <p:txBody>
          <a:bodyPr wrap="square" lIns="0" tIns="0" rIns="0" bIns="0" rtlCol="0" anchor="ctr"/>
          <a:lstStyle/>
          <a:p>
            <a:pPr marL="0" indent="0">
              <a:buNone/>
            </a:pPr>
            <a:r>
              <a:rPr lang="en-US" sz="1500" b="1" dirty="0">
                <a:solidFill>
                  <a:srgbClr val="B8621B"/>
                </a:solidFill>
                <a:latin typeface="Cambria" pitchFamily="34" charset="0"/>
                <a:ea typeface="Cambria" pitchFamily="34" charset="-122"/>
                <a:cs typeface="Cambria" pitchFamily="34" charset="-120"/>
              </a:rPr>
              <a:t>Is two slices one too many?</a:t>
            </a:r>
            <a:endParaRPr lang="en-US" sz="1500" dirty="0"/>
          </a:p>
        </p:txBody>
      </p:sp>
      <p:sp>
        <p:nvSpPr>
          <p:cNvPr id="13" name="Text 11"/>
          <p:cNvSpPr/>
          <p:nvPr/>
        </p:nvSpPr>
        <p:spPr>
          <a:xfrm>
            <a:off x="640080" y="4681728"/>
            <a:ext cx="10424160" cy="457200"/>
          </a:xfrm>
          <a:prstGeom prst="rect">
            <a:avLst/>
          </a:prstGeom>
          <a:noFill/>
          <a:ln/>
        </p:spPr>
        <p:txBody>
          <a:bodyPr wrap="square" lIns="0" tIns="0" rIns="0" bIns="0" rtlCol="0" anchor="ctr"/>
          <a:lstStyle/>
          <a:p>
            <a:pPr marL="0" indent="0">
              <a:buNone/>
            </a:pPr>
            <a:r>
              <a:rPr lang="en-US" sz="1150" dirty="0">
                <a:solidFill>
                  <a:srgbClr val="9AA3B0"/>
                </a:solidFill>
                <a:latin typeface="Calibri" pitchFamily="34" charset="0"/>
                <a:ea typeface="Calibri" pitchFamily="34" charset="-122"/>
                <a:cs typeface="Calibri" pitchFamily="34" charset="-120"/>
              </a:rPr>
              <a:t>The brief said pick one, and keep it small. I built two and wrote nine documents.</a:t>
            </a:r>
            <a:endParaRPr lang="en-US" sz="1150" dirty="0"/>
          </a:p>
        </p:txBody>
      </p:sp>
      <p:sp>
        <p:nvSpPr>
          <p:cNvPr id="14" name="Text 12"/>
          <p:cNvSpPr/>
          <p:nvPr/>
        </p:nvSpPr>
        <p:spPr>
          <a:xfrm>
            <a:off x="640080" y="5321808"/>
            <a:ext cx="10515600" cy="310896"/>
          </a:xfrm>
          <a:prstGeom prst="rect">
            <a:avLst/>
          </a:prstGeom>
          <a:noFill/>
          <a:ln/>
        </p:spPr>
        <p:txBody>
          <a:bodyPr wrap="square" lIns="0" tIns="0" rIns="0" bIns="0" rtlCol="0" anchor="ctr"/>
          <a:lstStyle/>
          <a:p>
            <a:pPr marL="0" indent="0">
              <a:buNone/>
            </a:pPr>
            <a:r>
              <a:rPr lang="en-US" sz="1500" b="1" dirty="0">
                <a:solidFill>
                  <a:srgbClr val="B8621B"/>
                </a:solidFill>
                <a:latin typeface="Cambria" pitchFamily="34" charset="0"/>
                <a:ea typeface="Cambria" pitchFamily="34" charset="-122"/>
                <a:cs typeface="Cambria" pitchFamily="34" charset="-120"/>
              </a:rPr>
              <a:t>Have I over-trusted a 29-event sample?</a:t>
            </a:r>
            <a:endParaRPr lang="en-US" sz="1500" dirty="0"/>
          </a:p>
        </p:txBody>
      </p:sp>
      <p:sp>
        <p:nvSpPr>
          <p:cNvPr id="15" name="Text 13"/>
          <p:cNvSpPr/>
          <p:nvPr/>
        </p:nvSpPr>
        <p:spPr>
          <a:xfrm>
            <a:off x="640080" y="5650992"/>
            <a:ext cx="10424160" cy="457200"/>
          </a:xfrm>
          <a:prstGeom prst="rect">
            <a:avLst/>
          </a:prstGeom>
          <a:noFill/>
          <a:ln/>
        </p:spPr>
        <p:txBody>
          <a:bodyPr wrap="square" lIns="0" tIns="0" rIns="0" bIns="0" rtlCol="0" anchor="ctr"/>
          <a:lstStyle/>
          <a:p>
            <a:pPr marL="0" indent="0">
              <a:buNone/>
            </a:pPr>
            <a:r>
              <a:rPr lang="en-US" sz="1150" dirty="0">
                <a:solidFill>
                  <a:srgbClr val="9AA3B0"/>
                </a:solidFill>
                <a:latin typeface="Calibri" pitchFamily="34" charset="0"/>
                <a:ea typeface="Calibri" pitchFamily="34" charset="-122"/>
                <a:cs typeface="Calibri" pitchFamily="34" charset="-120"/>
              </a:rPr>
              <a:t>Several decisions rest on one truncated stream from March, which Chris warned has a different cadence.</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C1F26"/>
        </a:solidFill>
        <a:effectLst/>
      </p:bgPr>
    </p:bg>
    <p:spTree>
      <p:nvGrpSpPr>
        <p:cNvPr id="1" name=""/>
        <p:cNvGrpSpPr/>
        <p:nvPr/>
      </p:nvGrpSpPr>
      <p:grpSpPr>
        <a:xfrm>
          <a:off x="0" y="0"/>
          <a:ext cx="0" cy="0"/>
          <a:chOff x="0" y="0"/>
          <a:chExt cx="0" cy="0"/>
        </a:xfrm>
      </p:grpSpPr>
      <p:sp>
        <p:nvSpPr>
          <p:cNvPr id="2" name="Text 0"/>
          <p:cNvSpPr/>
          <p:nvPr/>
        </p:nvSpPr>
        <p:spPr>
          <a:xfrm>
            <a:off x="640080" y="713232"/>
            <a:ext cx="10881360" cy="310896"/>
          </a:xfrm>
          <a:prstGeom prst="rect">
            <a:avLst/>
          </a:prstGeom>
          <a:noFill/>
          <a:ln/>
        </p:spPr>
        <p:txBody>
          <a:bodyPr wrap="square" lIns="0" tIns="0" rIns="0" bIns="0" rtlCol="0" anchor="ctr"/>
          <a:lstStyle/>
          <a:p>
            <a:pPr marL="0" indent="0">
              <a:buNone/>
            </a:pPr>
            <a:r>
              <a:rPr lang="en-US" sz="1200" b="1" kern="0" spc="300" dirty="0">
                <a:solidFill>
                  <a:srgbClr val="B8621B"/>
                </a:solidFill>
                <a:latin typeface="Calibri" pitchFamily="34" charset="0"/>
                <a:ea typeface="Calibri" pitchFamily="34" charset="-122"/>
                <a:cs typeface="Calibri" pitchFamily="34" charset="-120"/>
              </a:rPr>
              <a:t>REFERENCE</a:t>
            </a:r>
            <a:endParaRPr lang="en-US" sz="1200" dirty="0"/>
          </a:p>
        </p:txBody>
      </p:sp>
      <p:sp>
        <p:nvSpPr>
          <p:cNvPr id="3" name="Text 1"/>
          <p:cNvSpPr/>
          <p:nvPr/>
        </p:nvSpPr>
        <p:spPr>
          <a:xfrm>
            <a:off x="640080" y="1097280"/>
            <a:ext cx="10881360" cy="749808"/>
          </a:xfrm>
          <a:prstGeom prst="rect">
            <a:avLst/>
          </a:prstGeom>
          <a:noFill/>
          <a:ln/>
        </p:spPr>
        <p:txBody>
          <a:bodyPr wrap="square" lIns="0" tIns="0" rIns="0" bIns="0" rtlCol="0" anchor="ctr"/>
          <a:lstStyle/>
          <a:p>
            <a:pPr marL="0" indent="0">
              <a:buNone/>
            </a:pPr>
            <a:r>
              <a:rPr lang="en-US" sz="4200" b="1" dirty="0">
                <a:solidFill>
                  <a:srgbClr val="FFFFFF"/>
                </a:solidFill>
                <a:latin typeface="Cambria" pitchFamily="34" charset="0"/>
                <a:ea typeface="Cambria" pitchFamily="34" charset="-122"/>
                <a:cs typeface="Cambria" pitchFamily="34" charset="-120"/>
              </a:rPr>
              <a:t>Appendices</a:t>
            </a:r>
            <a:endParaRPr lang="en-US" sz="4200" dirty="0"/>
          </a:p>
        </p:txBody>
      </p:sp>
      <p:sp>
        <p:nvSpPr>
          <p:cNvPr id="5" name="Text 3"/>
          <p:cNvSpPr/>
          <p:nvPr/>
        </p:nvSpPr>
        <p:spPr>
          <a:xfrm>
            <a:off x="640080" y="2779776"/>
            <a:ext cx="475488" cy="384048"/>
          </a:xfrm>
          <a:prstGeom prst="rect">
            <a:avLst/>
          </a:prstGeom>
          <a:noFill/>
          <a:ln/>
        </p:spPr>
        <p:txBody>
          <a:bodyPr wrap="square" lIns="0" tIns="0" rIns="0" bIns="0" rtlCol="0" anchor="ctr"/>
          <a:lstStyle/>
          <a:p>
            <a:pPr marL="0" indent="0">
              <a:buNone/>
            </a:pPr>
            <a:r>
              <a:rPr lang="en-US" sz="2200" b="1" dirty="0">
                <a:solidFill>
                  <a:srgbClr val="B8621B"/>
                </a:solidFill>
                <a:latin typeface="Cambria" pitchFamily="34" charset="0"/>
                <a:ea typeface="Cambria" pitchFamily="34" charset="-122"/>
                <a:cs typeface="Cambria" pitchFamily="34" charset="-120"/>
              </a:rPr>
              <a:t>A</a:t>
            </a:r>
            <a:endParaRPr lang="en-US" sz="2200" dirty="0"/>
          </a:p>
        </p:txBody>
      </p:sp>
      <p:sp>
        <p:nvSpPr>
          <p:cNvPr id="6" name="Text 4"/>
          <p:cNvSpPr/>
          <p:nvPr/>
        </p:nvSpPr>
        <p:spPr>
          <a:xfrm>
            <a:off x="1261872" y="2798064"/>
            <a:ext cx="768096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Capacity arithmetic</a:t>
            </a:r>
            <a:endParaRPr lang="en-US" sz="1400" dirty="0"/>
          </a:p>
        </p:txBody>
      </p:sp>
      <p:sp>
        <p:nvSpPr>
          <p:cNvPr id="7" name="Text 5"/>
          <p:cNvSpPr/>
          <p:nvPr/>
        </p:nvSpPr>
        <p:spPr>
          <a:xfrm>
            <a:off x="1261872" y="3081528"/>
            <a:ext cx="8595360" cy="274320"/>
          </a:xfrm>
          <a:prstGeom prst="rect">
            <a:avLst/>
          </a:prstGeom>
          <a:noFill/>
          <a:ln/>
        </p:spPr>
        <p:txBody>
          <a:bodyPr wrap="square" lIns="0" tIns="0" rIns="0" bIns="0" rtlCol="0" anchor="ctr"/>
          <a:lstStyle/>
          <a:p>
            <a:pPr marL="0" indent="0">
              <a:buNone/>
            </a:pPr>
            <a:r>
              <a:rPr lang="en-US" sz="1100" dirty="0">
                <a:solidFill>
                  <a:srgbClr val="8892A0"/>
                </a:solidFill>
                <a:latin typeface="Calibri" pitchFamily="34" charset="0"/>
                <a:ea typeface="Calibri" pitchFamily="34" charset="-122"/>
                <a:cs typeface="Calibri" pitchFamily="34" charset="-120"/>
              </a:rPr>
              <a:t>Where 35.6 person-weeks against 23.9 comes from, person by person.</a:t>
            </a:r>
            <a:endParaRPr lang="en-US" sz="1100" dirty="0"/>
          </a:p>
        </p:txBody>
      </p:sp>
      <p:sp>
        <p:nvSpPr>
          <p:cNvPr id="8" name="Text 6"/>
          <p:cNvSpPr/>
          <p:nvPr/>
        </p:nvSpPr>
        <p:spPr>
          <a:xfrm>
            <a:off x="9692640" y="2798064"/>
            <a:ext cx="1828800" cy="274320"/>
          </a:xfrm>
          <a:prstGeom prst="rect">
            <a:avLst/>
          </a:prstGeom>
          <a:noFill/>
          <a:ln/>
        </p:spPr>
        <p:txBody>
          <a:bodyPr wrap="square" lIns="0" tIns="0" rIns="0" bIns="0" rtlCol="0" anchor="ctr"/>
          <a:lstStyle/>
          <a:p>
            <a:pPr marL="0" indent="0" algn="r">
              <a:buNone/>
            </a:pPr>
            <a:r>
              <a:rPr lang="en-US" sz="1100" dirty="0">
                <a:solidFill>
                  <a:srgbClr val="6E7781"/>
                </a:solidFill>
                <a:latin typeface="Calibri" pitchFamily="34" charset="0"/>
                <a:ea typeface="Calibri" pitchFamily="34" charset="-122"/>
                <a:cs typeface="Calibri" pitchFamily="34" charset="-120"/>
              </a:rPr>
              <a:t>slide 13</a:t>
            </a:r>
            <a:endParaRPr lang="en-US" sz="1100" dirty="0"/>
          </a:p>
        </p:txBody>
      </p:sp>
      <p:sp>
        <p:nvSpPr>
          <p:cNvPr id="9" name="Text 7"/>
          <p:cNvSpPr/>
          <p:nvPr/>
        </p:nvSpPr>
        <p:spPr>
          <a:xfrm>
            <a:off x="640080" y="3529584"/>
            <a:ext cx="475488" cy="384048"/>
          </a:xfrm>
          <a:prstGeom prst="rect">
            <a:avLst/>
          </a:prstGeom>
          <a:noFill/>
          <a:ln/>
        </p:spPr>
        <p:txBody>
          <a:bodyPr wrap="square" lIns="0" tIns="0" rIns="0" bIns="0" rtlCol="0" anchor="ctr"/>
          <a:lstStyle/>
          <a:p>
            <a:pPr marL="0" indent="0">
              <a:buNone/>
            </a:pPr>
            <a:r>
              <a:rPr lang="en-US" sz="2200" b="1" dirty="0">
                <a:solidFill>
                  <a:srgbClr val="B8621B"/>
                </a:solidFill>
                <a:latin typeface="Cambria" pitchFamily="34" charset="0"/>
                <a:ea typeface="Cambria" pitchFamily="34" charset="-122"/>
                <a:cs typeface="Cambria" pitchFamily="34" charset="-120"/>
              </a:rPr>
              <a:t>B</a:t>
            </a:r>
            <a:endParaRPr lang="en-US" sz="2200" dirty="0"/>
          </a:p>
        </p:txBody>
      </p:sp>
      <p:sp>
        <p:nvSpPr>
          <p:cNvPr id="10" name="Text 8"/>
          <p:cNvSpPr/>
          <p:nvPr/>
        </p:nvSpPr>
        <p:spPr>
          <a:xfrm>
            <a:off x="1261872" y="3547872"/>
            <a:ext cx="768096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What r3 → r4 actually contains</a:t>
            </a:r>
            <a:endParaRPr lang="en-US" sz="1400" dirty="0"/>
          </a:p>
        </p:txBody>
      </p:sp>
      <p:sp>
        <p:nvSpPr>
          <p:cNvPr id="11" name="Text 9"/>
          <p:cNvSpPr/>
          <p:nvPr/>
        </p:nvSpPr>
        <p:spPr>
          <a:xfrm>
            <a:off x="1261872" y="3831336"/>
            <a:ext cx="8595360" cy="274320"/>
          </a:xfrm>
          <a:prstGeom prst="rect">
            <a:avLst/>
          </a:prstGeom>
          <a:noFill/>
          <a:ln/>
        </p:spPr>
        <p:txBody>
          <a:bodyPr wrap="square" lIns="0" tIns="0" rIns="0" bIns="0" rtlCol="0" anchor="ctr"/>
          <a:lstStyle/>
          <a:p>
            <a:pPr marL="0" indent="0">
              <a:buNone/>
            </a:pPr>
            <a:r>
              <a:rPr lang="en-US" sz="1100" dirty="0">
                <a:solidFill>
                  <a:srgbClr val="8892A0"/>
                </a:solidFill>
                <a:latin typeface="Calibri" pitchFamily="34" charset="0"/>
                <a:ea typeface="Calibri" pitchFamily="34" charset="-122"/>
                <a:cs typeface="Calibri" pitchFamily="34" charset="-120"/>
              </a:rPr>
              <a:t>The seven changed panels, their status, and what each one costs.</a:t>
            </a:r>
            <a:endParaRPr lang="en-US" sz="1100" dirty="0"/>
          </a:p>
        </p:txBody>
      </p:sp>
      <p:sp>
        <p:nvSpPr>
          <p:cNvPr id="12" name="Text 10"/>
          <p:cNvSpPr/>
          <p:nvPr/>
        </p:nvSpPr>
        <p:spPr>
          <a:xfrm>
            <a:off x="9692640" y="3547872"/>
            <a:ext cx="1828800" cy="274320"/>
          </a:xfrm>
          <a:prstGeom prst="rect">
            <a:avLst/>
          </a:prstGeom>
          <a:noFill/>
          <a:ln/>
        </p:spPr>
        <p:txBody>
          <a:bodyPr wrap="square" lIns="0" tIns="0" rIns="0" bIns="0" rtlCol="0" anchor="ctr"/>
          <a:lstStyle/>
          <a:p>
            <a:pPr marL="0" indent="0" algn="r">
              <a:buNone/>
            </a:pPr>
            <a:r>
              <a:rPr lang="en-US" sz="1100" dirty="0">
                <a:solidFill>
                  <a:srgbClr val="6E7781"/>
                </a:solidFill>
                <a:latin typeface="Calibri" pitchFamily="34" charset="0"/>
                <a:ea typeface="Calibri" pitchFamily="34" charset="-122"/>
                <a:cs typeface="Calibri" pitchFamily="34" charset="-120"/>
              </a:rPr>
              <a:t>slide 14</a:t>
            </a:r>
            <a:endParaRPr lang="en-US" sz="1100" dirty="0"/>
          </a:p>
        </p:txBody>
      </p:sp>
      <p:sp>
        <p:nvSpPr>
          <p:cNvPr id="13" name="Text 11"/>
          <p:cNvSpPr/>
          <p:nvPr/>
        </p:nvSpPr>
        <p:spPr>
          <a:xfrm>
            <a:off x="640080" y="4279392"/>
            <a:ext cx="475488" cy="384048"/>
          </a:xfrm>
          <a:prstGeom prst="rect">
            <a:avLst/>
          </a:prstGeom>
          <a:noFill/>
          <a:ln/>
        </p:spPr>
        <p:txBody>
          <a:bodyPr wrap="square" lIns="0" tIns="0" rIns="0" bIns="0" rtlCol="0" anchor="ctr"/>
          <a:lstStyle/>
          <a:p>
            <a:pPr marL="0" indent="0">
              <a:buNone/>
            </a:pPr>
            <a:r>
              <a:rPr lang="en-US" sz="2200" b="1" dirty="0">
                <a:solidFill>
                  <a:srgbClr val="B8621B"/>
                </a:solidFill>
                <a:latin typeface="Cambria" pitchFamily="34" charset="0"/>
                <a:ea typeface="Cambria" pitchFamily="34" charset="-122"/>
                <a:cs typeface="Cambria" pitchFamily="34" charset="-120"/>
              </a:rPr>
              <a:t>C</a:t>
            </a:r>
            <a:endParaRPr lang="en-US" sz="2200" dirty="0"/>
          </a:p>
        </p:txBody>
      </p:sp>
      <p:sp>
        <p:nvSpPr>
          <p:cNvPr id="14" name="Text 12"/>
          <p:cNvSpPr/>
          <p:nvPr/>
        </p:nvSpPr>
        <p:spPr>
          <a:xfrm>
            <a:off x="1261872" y="4297680"/>
            <a:ext cx="768096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Estimation calibration</a:t>
            </a:r>
            <a:endParaRPr lang="en-US" sz="1400" dirty="0"/>
          </a:p>
        </p:txBody>
      </p:sp>
      <p:sp>
        <p:nvSpPr>
          <p:cNvPr id="15" name="Text 13"/>
          <p:cNvSpPr/>
          <p:nvPr/>
        </p:nvSpPr>
        <p:spPr>
          <a:xfrm>
            <a:off x="1261872" y="4581144"/>
            <a:ext cx="8595360" cy="274320"/>
          </a:xfrm>
          <a:prstGeom prst="rect">
            <a:avLst/>
          </a:prstGeom>
          <a:noFill/>
          <a:ln/>
        </p:spPr>
        <p:txBody>
          <a:bodyPr wrap="square" lIns="0" tIns="0" rIns="0" bIns="0" rtlCol="0" anchor="ctr"/>
          <a:lstStyle/>
          <a:p>
            <a:pPr marL="0" indent="0">
              <a:buNone/>
            </a:pPr>
            <a:r>
              <a:rPr lang="en-US" sz="1100" dirty="0">
                <a:solidFill>
                  <a:srgbClr val="8892A0"/>
                </a:solidFill>
                <a:latin typeface="Calibri" pitchFamily="34" charset="0"/>
                <a:ea typeface="Calibri" pitchFamily="34" charset="-122"/>
                <a:cs typeface="Calibri" pitchFamily="34" charset="-120"/>
              </a:rPr>
              <a:t>Per-discipline multipliers, and why bimodal uncertainty is not wide uncertainty.</a:t>
            </a:r>
            <a:endParaRPr lang="en-US" sz="1100" dirty="0"/>
          </a:p>
        </p:txBody>
      </p:sp>
      <p:sp>
        <p:nvSpPr>
          <p:cNvPr id="16" name="Text 14"/>
          <p:cNvSpPr/>
          <p:nvPr/>
        </p:nvSpPr>
        <p:spPr>
          <a:xfrm>
            <a:off x="9692640" y="4297680"/>
            <a:ext cx="1828800" cy="274320"/>
          </a:xfrm>
          <a:prstGeom prst="rect">
            <a:avLst/>
          </a:prstGeom>
          <a:noFill/>
          <a:ln/>
        </p:spPr>
        <p:txBody>
          <a:bodyPr wrap="square" lIns="0" tIns="0" rIns="0" bIns="0" rtlCol="0" anchor="ctr"/>
          <a:lstStyle/>
          <a:p>
            <a:pPr marL="0" indent="0" algn="r">
              <a:buNone/>
            </a:pPr>
            <a:r>
              <a:rPr lang="en-US" sz="1100" dirty="0">
                <a:solidFill>
                  <a:srgbClr val="6E7781"/>
                </a:solidFill>
                <a:latin typeface="Calibri" pitchFamily="34" charset="0"/>
                <a:ea typeface="Calibri" pitchFamily="34" charset="-122"/>
                <a:cs typeface="Calibri" pitchFamily="34" charset="-120"/>
              </a:rPr>
              <a:t>slide 15</a:t>
            </a:r>
            <a:endParaRPr lang="en-US" sz="1100" dirty="0"/>
          </a:p>
        </p:txBody>
      </p:sp>
      <p:sp>
        <p:nvSpPr>
          <p:cNvPr id="17" name="Text 15"/>
          <p:cNvSpPr/>
          <p:nvPr/>
        </p:nvSpPr>
        <p:spPr>
          <a:xfrm>
            <a:off x="640080" y="5029200"/>
            <a:ext cx="475488" cy="384048"/>
          </a:xfrm>
          <a:prstGeom prst="rect">
            <a:avLst/>
          </a:prstGeom>
          <a:noFill/>
          <a:ln/>
        </p:spPr>
        <p:txBody>
          <a:bodyPr wrap="square" lIns="0" tIns="0" rIns="0" bIns="0" rtlCol="0" anchor="ctr"/>
          <a:lstStyle/>
          <a:p>
            <a:pPr marL="0" indent="0">
              <a:buNone/>
            </a:pPr>
            <a:r>
              <a:rPr lang="en-US" sz="2200" b="1" dirty="0">
                <a:solidFill>
                  <a:srgbClr val="B8621B"/>
                </a:solidFill>
                <a:latin typeface="Cambria" pitchFamily="34" charset="0"/>
                <a:ea typeface="Cambria" pitchFamily="34" charset="-122"/>
                <a:cs typeface="Cambria" pitchFamily="34" charset="-120"/>
              </a:rPr>
              <a:t>D</a:t>
            </a:r>
            <a:endParaRPr lang="en-US" sz="2200" dirty="0"/>
          </a:p>
        </p:txBody>
      </p:sp>
      <p:sp>
        <p:nvSpPr>
          <p:cNvPr id="18" name="Text 16"/>
          <p:cNvSpPr/>
          <p:nvPr/>
        </p:nvSpPr>
        <p:spPr>
          <a:xfrm>
            <a:off x="1261872" y="5047488"/>
            <a:ext cx="768096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Robotics resource pass</a:t>
            </a:r>
            <a:endParaRPr lang="en-US" sz="1400" dirty="0"/>
          </a:p>
        </p:txBody>
      </p:sp>
      <p:sp>
        <p:nvSpPr>
          <p:cNvPr id="19" name="Text 17"/>
          <p:cNvSpPr/>
          <p:nvPr/>
        </p:nvSpPr>
        <p:spPr>
          <a:xfrm>
            <a:off x="1261872" y="5330952"/>
            <a:ext cx="8595360" cy="274320"/>
          </a:xfrm>
          <a:prstGeom prst="rect">
            <a:avLst/>
          </a:prstGeom>
          <a:noFill/>
          <a:ln/>
        </p:spPr>
        <p:txBody>
          <a:bodyPr wrap="square" lIns="0" tIns="0" rIns="0" bIns="0" rtlCol="0" anchor="ctr"/>
          <a:lstStyle/>
          <a:p>
            <a:pPr marL="0" indent="0">
              <a:buNone/>
            </a:pPr>
            <a:r>
              <a:rPr lang="en-US" sz="1100" dirty="0">
                <a:solidFill>
                  <a:srgbClr val="8892A0"/>
                </a:solidFill>
                <a:latin typeface="Calibri" pitchFamily="34" charset="0"/>
                <a:ea typeface="Calibri" pitchFamily="34" charset="-122"/>
                <a:cs typeface="Calibri" pitchFamily="34" charset="-120"/>
              </a:rPr>
              <a:t>Five findings from laying the work out by resource instead of by person.</a:t>
            </a:r>
            <a:endParaRPr lang="en-US" sz="1100" dirty="0"/>
          </a:p>
        </p:txBody>
      </p:sp>
      <p:sp>
        <p:nvSpPr>
          <p:cNvPr id="20" name="Text 18"/>
          <p:cNvSpPr/>
          <p:nvPr/>
        </p:nvSpPr>
        <p:spPr>
          <a:xfrm>
            <a:off x="9692640" y="5047488"/>
            <a:ext cx="1828800" cy="274320"/>
          </a:xfrm>
          <a:prstGeom prst="rect">
            <a:avLst/>
          </a:prstGeom>
          <a:noFill/>
          <a:ln/>
        </p:spPr>
        <p:txBody>
          <a:bodyPr wrap="square" lIns="0" tIns="0" rIns="0" bIns="0" rtlCol="0" anchor="ctr"/>
          <a:lstStyle/>
          <a:p>
            <a:pPr marL="0" indent="0" algn="r">
              <a:buNone/>
            </a:pPr>
            <a:r>
              <a:rPr lang="en-US" sz="1100" dirty="0">
                <a:solidFill>
                  <a:srgbClr val="6E7781"/>
                </a:solidFill>
                <a:latin typeface="Calibri" pitchFamily="34" charset="0"/>
                <a:ea typeface="Calibri" pitchFamily="34" charset="-122"/>
                <a:cs typeface="Calibri" pitchFamily="34" charset="-120"/>
              </a:rPr>
              <a:t>slide 16</a:t>
            </a:r>
            <a:endParaRPr lang="en-US" sz="1100" dirty="0"/>
          </a:p>
        </p:txBody>
      </p:sp>
      <p:sp>
        <p:nvSpPr>
          <p:cNvPr id="21" name="Text 19"/>
          <p:cNvSpPr/>
          <p:nvPr/>
        </p:nvSpPr>
        <p:spPr>
          <a:xfrm>
            <a:off x="640080" y="5779008"/>
            <a:ext cx="475488" cy="384048"/>
          </a:xfrm>
          <a:prstGeom prst="rect">
            <a:avLst/>
          </a:prstGeom>
          <a:noFill/>
          <a:ln/>
        </p:spPr>
        <p:txBody>
          <a:bodyPr wrap="square" lIns="0" tIns="0" rIns="0" bIns="0" rtlCol="0" anchor="ctr"/>
          <a:lstStyle/>
          <a:p>
            <a:pPr marL="0" indent="0">
              <a:buNone/>
            </a:pPr>
            <a:r>
              <a:rPr lang="en-US" sz="2200" b="1" dirty="0">
                <a:solidFill>
                  <a:srgbClr val="B8621B"/>
                </a:solidFill>
                <a:latin typeface="Cambria" pitchFamily="34" charset="0"/>
                <a:ea typeface="Cambria" pitchFamily="34" charset="-122"/>
                <a:cs typeface="Cambria" pitchFamily="34" charset="-120"/>
              </a:rPr>
              <a:t>E</a:t>
            </a:r>
            <a:endParaRPr lang="en-US" sz="2200" dirty="0"/>
          </a:p>
        </p:txBody>
      </p:sp>
      <p:sp>
        <p:nvSpPr>
          <p:cNvPr id="22" name="Text 20"/>
          <p:cNvSpPr/>
          <p:nvPr/>
        </p:nvSpPr>
        <p:spPr>
          <a:xfrm>
            <a:off x="1261872" y="5797296"/>
            <a:ext cx="768096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What is wrong with the event stream</a:t>
            </a:r>
            <a:endParaRPr lang="en-US" sz="1400" dirty="0"/>
          </a:p>
        </p:txBody>
      </p:sp>
      <p:sp>
        <p:nvSpPr>
          <p:cNvPr id="23" name="Text 21"/>
          <p:cNvSpPr/>
          <p:nvPr/>
        </p:nvSpPr>
        <p:spPr>
          <a:xfrm>
            <a:off x="1261872" y="6080760"/>
            <a:ext cx="8595360" cy="274320"/>
          </a:xfrm>
          <a:prstGeom prst="rect">
            <a:avLst/>
          </a:prstGeom>
          <a:noFill/>
          <a:ln/>
        </p:spPr>
        <p:txBody>
          <a:bodyPr wrap="square" lIns="0" tIns="0" rIns="0" bIns="0" rtlCol="0" anchor="ctr"/>
          <a:lstStyle/>
          <a:p>
            <a:pPr marL="0" indent="0">
              <a:buNone/>
            </a:pPr>
            <a:r>
              <a:rPr lang="en-US" sz="1100" dirty="0">
                <a:solidFill>
                  <a:srgbClr val="8892A0"/>
                </a:solidFill>
                <a:latin typeface="Calibri" pitchFamily="34" charset="0"/>
                <a:ea typeface="Calibri" pitchFamily="34" charset="-122"/>
                <a:cs typeface="Calibri" pitchFamily="34" charset="-120"/>
              </a:rPr>
              <a:t>The five defects behind the firmware schema contract.</a:t>
            </a:r>
            <a:endParaRPr lang="en-US" sz="1100" dirty="0"/>
          </a:p>
        </p:txBody>
      </p:sp>
      <p:sp>
        <p:nvSpPr>
          <p:cNvPr id="24" name="Text 22"/>
          <p:cNvSpPr/>
          <p:nvPr/>
        </p:nvSpPr>
        <p:spPr>
          <a:xfrm>
            <a:off x="9692640" y="5797296"/>
            <a:ext cx="1828800" cy="274320"/>
          </a:xfrm>
          <a:prstGeom prst="rect">
            <a:avLst/>
          </a:prstGeom>
          <a:noFill/>
          <a:ln/>
        </p:spPr>
        <p:txBody>
          <a:bodyPr wrap="square" lIns="0" tIns="0" rIns="0" bIns="0" rtlCol="0" anchor="ctr"/>
          <a:lstStyle/>
          <a:p>
            <a:pPr marL="0" indent="0" algn="r">
              <a:buNone/>
            </a:pPr>
            <a:r>
              <a:rPr lang="en-US" sz="1100" dirty="0">
                <a:solidFill>
                  <a:srgbClr val="6E7781"/>
                </a:solidFill>
                <a:latin typeface="Calibri" pitchFamily="34" charset="0"/>
                <a:ea typeface="Calibri" pitchFamily="34" charset="-122"/>
                <a:cs typeface="Calibri" pitchFamily="34" charset="-120"/>
              </a:rPr>
              <a:t>slide 17</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8F5"/>
        </a:solidFill>
        <a:effectLst/>
      </p:bgPr>
    </p:bg>
    <p:spTree>
      <p:nvGrpSpPr>
        <p:cNvPr id="1" name=""/>
        <p:cNvGrpSpPr/>
        <p:nvPr/>
      </p:nvGrpSpPr>
      <p:grpSpPr>
        <a:xfrm>
          <a:off x="0" y="0"/>
          <a:ext cx="0" cy="0"/>
          <a:chOff x="0" y="0"/>
          <a:chExt cx="0" cy="0"/>
        </a:xfrm>
      </p:grpSpPr>
      <p:sp>
        <p:nvSpPr>
          <p:cNvPr id="2" name="Shape 0"/>
          <p:cNvSpPr/>
          <p:nvPr/>
        </p:nvSpPr>
        <p:spPr>
          <a:xfrm>
            <a:off x="640080" y="384048"/>
            <a:ext cx="384048" cy="384048"/>
          </a:xfrm>
          <a:prstGeom prst="rect">
            <a:avLst/>
          </a:prstGeom>
          <a:solidFill>
            <a:srgbClr val="1C1F26"/>
          </a:solidFill>
          <a:ln/>
        </p:spPr>
        <p:txBody>
          <a:bodyPr/>
          <a:lstStyle/>
          <a:p>
            <a:endParaRPr lang="en-US"/>
          </a:p>
        </p:txBody>
      </p:sp>
      <p:sp>
        <p:nvSpPr>
          <p:cNvPr id="3" name="Text 1"/>
          <p:cNvSpPr/>
          <p:nvPr/>
        </p:nvSpPr>
        <p:spPr>
          <a:xfrm>
            <a:off x="640080" y="38404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A</a:t>
            </a:r>
            <a:endParaRPr lang="en-US" sz="1400" dirty="0"/>
          </a:p>
        </p:txBody>
      </p:sp>
      <p:sp>
        <p:nvSpPr>
          <p:cNvPr id="4" name="Text 2"/>
          <p:cNvSpPr/>
          <p:nvPr/>
        </p:nvSpPr>
        <p:spPr>
          <a:xfrm>
            <a:off x="1207008" y="329184"/>
            <a:ext cx="10314432" cy="493776"/>
          </a:xfrm>
          <a:prstGeom prst="rect">
            <a:avLst/>
          </a:prstGeom>
          <a:noFill/>
          <a:ln/>
        </p:spPr>
        <p:txBody>
          <a:bodyPr wrap="square" lIns="0" tIns="0" rIns="0" bIns="0" rtlCol="0" anchor="ctr"/>
          <a:lstStyle/>
          <a:p>
            <a:pPr marL="0" indent="0">
              <a:buNone/>
            </a:pPr>
            <a:r>
              <a:rPr lang="en-US" sz="2600" b="1" dirty="0">
                <a:solidFill>
                  <a:srgbClr val="1C1F26"/>
                </a:solidFill>
                <a:latin typeface="Cambria" pitchFamily="34" charset="0"/>
                <a:ea typeface="Cambria" pitchFamily="34" charset="-122"/>
                <a:cs typeface="Cambria" pitchFamily="34" charset="-120"/>
              </a:rPr>
              <a:t>Capacity arithmetic</a:t>
            </a:r>
            <a:endParaRPr lang="en-US" sz="2600" dirty="0"/>
          </a:p>
        </p:txBody>
      </p:sp>
      <p:sp>
        <p:nvSpPr>
          <p:cNvPr id="5" name="Text 3"/>
          <p:cNvSpPr/>
          <p:nvPr/>
        </p:nvSpPr>
        <p:spPr>
          <a:xfrm>
            <a:off x="640080" y="914400"/>
            <a:ext cx="10881360" cy="292608"/>
          </a:xfrm>
          <a:prstGeom prst="rect">
            <a:avLst/>
          </a:prstGeom>
          <a:noFill/>
          <a:ln/>
        </p:spPr>
        <p:txBody>
          <a:bodyPr wrap="square" lIns="0" tIns="0" rIns="0" bIns="0" rtlCol="0" anchor="ctr"/>
          <a:lstStyle/>
          <a:p>
            <a:pPr marL="0" indent="0">
              <a:buNone/>
            </a:pPr>
            <a:r>
              <a:rPr lang="en-US" sz="1300" i="1" dirty="0">
                <a:solidFill>
                  <a:srgbClr val="6E7781"/>
                </a:solidFill>
                <a:latin typeface="Calibri" pitchFamily="34" charset="0"/>
                <a:ea typeface="Calibri" pitchFamily="34" charset="-122"/>
                <a:cs typeface="Calibri" pitchFamily="34" charset="-120"/>
              </a:rPr>
              <a:t>Nominal 24 person-weeks. Actual 23.9 after the calendar, against 35.6 of demand.</a:t>
            </a:r>
            <a:endParaRPr lang="en-US" sz="1300" dirty="0"/>
          </a:p>
        </p:txBody>
      </p:sp>
      <p:sp>
        <p:nvSpPr>
          <p:cNvPr id="6" name="Text 4"/>
          <p:cNvSpPr/>
          <p:nvPr/>
        </p:nvSpPr>
        <p:spPr>
          <a:xfrm>
            <a:off x="640080" y="1371600"/>
            <a:ext cx="4023360" cy="310896"/>
          </a:xfrm>
          <a:prstGeom prst="rect">
            <a:avLst/>
          </a:prstGeom>
          <a:noFill/>
          <a:ln/>
        </p:spPr>
        <p:txBody>
          <a:bodyPr wrap="square" lIns="0" tIns="0" rIns="0" bIns="0" rtlCol="0" anchor="ctr"/>
          <a:lstStyle/>
          <a:p>
            <a:pPr marL="0" indent="0" algn="l">
              <a:buNone/>
            </a:pPr>
            <a:r>
              <a:rPr lang="en-US" sz="1050" b="1" kern="0" spc="100" dirty="0">
                <a:solidFill>
                  <a:srgbClr val="6E7781"/>
                </a:solidFill>
                <a:latin typeface="Calibri" pitchFamily="34" charset="0"/>
                <a:ea typeface="Calibri" pitchFamily="34" charset="-122"/>
                <a:cs typeface="Calibri" pitchFamily="34" charset="-120"/>
              </a:rPr>
              <a:t>Person</a:t>
            </a:r>
            <a:endParaRPr lang="en-US" sz="1050" dirty="0"/>
          </a:p>
        </p:txBody>
      </p:sp>
      <p:sp>
        <p:nvSpPr>
          <p:cNvPr id="7" name="Text 5"/>
          <p:cNvSpPr/>
          <p:nvPr/>
        </p:nvSpPr>
        <p:spPr>
          <a:xfrm>
            <a:off x="4663440" y="1371600"/>
            <a:ext cx="1371600" cy="310896"/>
          </a:xfrm>
          <a:prstGeom prst="rect">
            <a:avLst/>
          </a:prstGeom>
          <a:noFill/>
          <a:ln/>
        </p:spPr>
        <p:txBody>
          <a:bodyPr wrap="square" lIns="0" tIns="0" rIns="0" bIns="0" rtlCol="0" anchor="ctr"/>
          <a:lstStyle/>
          <a:p>
            <a:pPr marL="0" indent="0" algn="l">
              <a:buNone/>
            </a:pPr>
            <a:r>
              <a:rPr lang="en-US" sz="1050" b="1" kern="0" spc="100" dirty="0">
                <a:solidFill>
                  <a:srgbClr val="6E7781"/>
                </a:solidFill>
                <a:latin typeface="Calibri" pitchFamily="34" charset="0"/>
                <a:ea typeface="Calibri" pitchFamily="34" charset="-122"/>
                <a:cs typeface="Calibri" pitchFamily="34" charset="-120"/>
              </a:rPr>
              <a:t>Nominal</a:t>
            </a:r>
            <a:endParaRPr lang="en-US" sz="1050" dirty="0"/>
          </a:p>
        </p:txBody>
      </p:sp>
      <p:sp>
        <p:nvSpPr>
          <p:cNvPr id="8" name="Text 6"/>
          <p:cNvSpPr/>
          <p:nvPr/>
        </p:nvSpPr>
        <p:spPr>
          <a:xfrm>
            <a:off x="6035040" y="1371600"/>
            <a:ext cx="1371600" cy="310896"/>
          </a:xfrm>
          <a:prstGeom prst="rect">
            <a:avLst/>
          </a:prstGeom>
          <a:noFill/>
          <a:ln/>
        </p:spPr>
        <p:txBody>
          <a:bodyPr wrap="square" lIns="0" tIns="0" rIns="0" bIns="0" rtlCol="0" anchor="ctr"/>
          <a:lstStyle/>
          <a:p>
            <a:pPr marL="0" indent="0" algn="r">
              <a:buNone/>
            </a:pPr>
            <a:r>
              <a:rPr lang="en-US" sz="1050" b="1" kern="0" spc="100" dirty="0">
                <a:solidFill>
                  <a:srgbClr val="6E7781"/>
                </a:solidFill>
                <a:latin typeface="Calibri" pitchFamily="34" charset="0"/>
                <a:ea typeface="Calibri" pitchFamily="34" charset="-122"/>
                <a:cs typeface="Calibri" pitchFamily="34" charset="-120"/>
              </a:rPr>
              <a:t>Bank hol</a:t>
            </a:r>
            <a:endParaRPr lang="en-US" sz="1050" dirty="0"/>
          </a:p>
        </p:txBody>
      </p:sp>
      <p:sp>
        <p:nvSpPr>
          <p:cNvPr id="9" name="Text 7"/>
          <p:cNvSpPr/>
          <p:nvPr/>
        </p:nvSpPr>
        <p:spPr>
          <a:xfrm>
            <a:off x="7406640" y="1371600"/>
            <a:ext cx="1371600" cy="310896"/>
          </a:xfrm>
          <a:prstGeom prst="rect">
            <a:avLst/>
          </a:prstGeom>
          <a:noFill/>
          <a:ln/>
        </p:spPr>
        <p:txBody>
          <a:bodyPr wrap="square" lIns="0" tIns="0" rIns="0" bIns="0" rtlCol="0" anchor="ctr"/>
          <a:lstStyle/>
          <a:p>
            <a:pPr marL="0" indent="0" algn="r">
              <a:buNone/>
            </a:pPr>
            <a:r>
              <a:rPr lang="en-US" sz="1050" b="1" kern="0" spc="100" dirty="0">
                <a:solidFill>
                  <a:srgbClr val="6E7781"/>
                </a:solidFill>
                <a:latin typeface="Calibri" pitchFamily="34" charset="0"/>
                <a:ea typeface="Calibri" pitchFamily="34" charset="-122"/>
                <a:cs typeface="Calibri" pitchFamily="34" charset="-120"/>
              </a:rPr>
              <a:t>Offsite</a:t>
            </a:r>
            <a:endParaRPr lang="en-US" sz="1050" dirty="0"/>
          </a:p>
        </p:txBody>
      </p:sp>
      <p:sp>
        <p:nvSpPr>
          <p:cNvPr id="10" name="Text 8"/>
          <p:cNvSpPr/>
          <p:nvPr/>
        </p:nvSpPr>
        <p:spPr>
          <a:xfrm>
            <a:off x="8778240" y="1371600"/>
            <a:ext cx="1371600" cy="310896"/>
          </a:xfrm>
          <a:prstGeom prst="rect">
            <a:avLst/>
          </a:prstGeom>
          <a:noFill/>
          <a:ln/>
        </p:spPr>
        <p:txBody>
          <a:bodyPr wrap="square" lIns="0" tIns="0" rIns="0" bIns="0" rtlCol="0" anchor="ctr"/>
          <a:lstStyle/>
          <a:p>
            <a:pPr marL="0" indent="0" algn="r">
              <a:buNone/>
            </a:pPr>
            <a:r>
              <a:rPr lang="en-US" sz="1050" b="1" kern="0" spc="100" dirty="0">
                <a:solidFill>
                  <a:srgbClr val="6E7781"/>
                </a:solidFill>
                <a:latin typeface="Calibri" pitchFamily="34" charset="0"/>
                <a:ea typeface="Calibri" pitchFamily="34" charset="-122"/>
                <a:cs typeface="Calibri" pitchFamily="34" charset="-120"/>
              </a:rPr>
              <a:t>Away</a:t>
            </a:r>
            <a:endParaRPr lang="en-US" sz="1050" dirty="0"/>
          </a:p>
        </p:txBody>
      </p:sp>
      <p:sp>
        <p:nvSpPr>
          <p:cNvPr id="11" name="Text 9"/>
          <p:cNvSpPr/>
          <p:nvPr/>
        </p:nvSpPr>
        <p:spPr>
          <a:xfrm>
            <a:off x="10149840" y="1371600"/>
            <a:ext cx="1371600" cy="310896"/>
          </a:xfrm>
          <a:prstGeom prst="rect">
            <a:avLst/>
          </a:prstGeom>
          <a:noFill/>
          <a:ln/>
        </p:spPr>
        <p:txBody>
          <a:bodyPr wrap="square" lIns="0" tIns="0" rIns="0" bIns="0" rtlCol="0" anchor="ctr"/>
          <a:lstStyle/>
          <a:p>
            <a:pPr marL="0" indent="0" algn="r">
              <a:buNone/>
            </a:pPr>
            <a:r>
              <a:rPr lang="en-US" sz="1050" b="1" kern="0" spc="100" dirty="0">
                <a:solidFill>
                  <a:srgbClr val="6E7781"/>
                </a:solidFill>
                <a:latin typeface="Calibri" pitchFamily="34" charset="0"/>
                <a:ea typeface="Calibri" pitchFamily="34" charset="-122"/>
                <a:cs typeface="Calibri" pitchFamily="34" charset="-120"/>
              </a:rPr>
              <a:t>Available</a:t>
            </a:r>
            <a:endParaRPr lang="en-US" sz="1050" dirty="0"/>
          </a:p>
        </p:txBody>
      </p:sp>
      <p:sp>
        <p:nvSpPr>
          <p:cNvPr id="12" name="Shape 10"/>
          <p:cNvSpPr/>
          <p:nvPr/>
        </p:nvSpPr>
        <p:spPr>
          <a:xfrm>
            <a:off x="640080" y="1700784"/>
            <a:ext cx="10881360" cy="13716"/>
          </a:xfrm>
          <a:prstGeom prst="rect">
            <a:avLst/>
          </a:prstGeom>
          <a:solidFill>
            <a:srgbClr val="D8D2C9"/>
          </a:solidFill>
          <a:ln/>
        </p:spPr>
        <p:txBody>
          <a:bodyPr/>
          <a:lstStyle/>
          <a:p>
            <a:endParaRPr lang="en-US"/>
          </a:p>
        </p:txBody>
      </p:sp>
      <p:sp>
        <p:nvSpPr>
          <p:cNvPr id="13" name="Text 11"/>
          <p:cNvSpPr/>
          <p:nvPr/>
        </p:nvSpPr>
        <p:spPr>
          <a:xfrm>
            <a:off x="640080" y="1810512"/>
            <a:ext cx="4023360" cy="329184"/>
          </a:xfrm>
          <a:prstGeom prst="rect">
            <a:avLst/>
          </a:prstGeom>
          <a:noFill/>
          <a:ln/>
        </p:spPr>
        <p:txBody>
          <a:bodyPr wrap="square" lIns="0" tIns="0" rIns="0" bIns="0" rtlCol="0" anchor="ctr"/>
          <a:lstStyle/>
          <a:p>
            <a:pPr marL="0" indent="0" algn="l">
              <a:buNone/>
            </a:pPr>
            <a:r>
              <a:rPr lang="en-US" sz="1150" b="1" dirty="0">
                <a:solidFill>
                  <a:srgbClr val="1C1F26"/>
                </a:solidFill>
                <a:latin typeface="Calibri" pitchFamily="34" charset="0"/>
                <a:ea typeface="Calibri" pitchFamily="34" charset="-122"/>
                <a:cs typeface="Calibri" pitchFamily="34" charset="-120"/>
              </a:rPr>
              <a:t>Alex</a:t>
            </a:r>
            <a:endParaRPr lang="en-US" sz="1150" dirty="0"/>
          </a:p>
        </p:txBody>
      </p:sp>
      <p:sp>
        <p:nvSpPr>
          <p:cNvPr id="14" name="Text 12"/>
          <p:cNvSpPr/>
          <p:nvPr/>
        </p:nvSpPr>
        <p:spPr>
          <a:xfrm>
            <a:off x="4663440" y="1810512"/>
            <a:ext cx="1371600" cy="329184"/>
          </a:xfrm>
          <a:prstGeom prst="rect">
            <a:avLst/>
          </a:prstGeom>
          <a:noFill/>
          <a:ln/>
        </p:spPr>
        <p:txBody>
          <a:bodyPr wrap="square" lIns="0" tIns="0" rIns="0" bIns="0" rtlCol="0" anchor="ctr"/>
          <a:lstStyle/>
          <a:p>
            <a:pPr marL="0" indent="0" algn="l">
              <a:buNone/>
            </a:pPr>
            <a:r>
              <a:rPr lang="en-US" sz="1150" dirty="0">
                <a:solidFill>
                  <a:srgbClr val="6E7781"/>
                </a:solidFill>
                <a:latin typeface="Calibri" pitchFamily="34" charset="0"/>
                <a:ea typeface="Calibri" pitchFamily="34" charset="-122"/>
                <a:cs typeface="Calibri" pitchFamily="34" charset="-120"/>
              </a:rPr>
              <a:t>8.0</a:t>
            </a:r>
            <a:endParaRPr lang="en-US" sz="1150" dirty="0"/>
          </a:p>
        </p:txBody>
      </p:sp>
      <p:sp>
        <p:nvSpPr>
          <p:cNvPr id="15" name="Text 13"/>
          <p:cNvSpPr/>
          <p:nvPr/>
        </p:nvSpPr>
        <p:spPr>
          <a:xfrm>
            <a:off x="6035040" y="1810512"/>
            <a:ext cx="1371600" cy="329184"/>
          </a:xfrm>
          <a:prstGeom prst="rect">
            <a:avLst/>
          </a:prstGeom>
          <a:noFill/>
          <a:ln/>
        </p:spPr>
        <p:txBody>
          <a:bodyPr wrap="square" lIns="0" tIns="0" rIns="0" bIns="0" rtlCol="0" anchor="ctr"/>
          <a:lstStyle/>
          <a:p>
            <a:pPr marL="0" indent="0" algn="r">
              <a:buNone/>
            </a:pPr>
            <a:r>
              <a:rPr lang="en-US" sz="1150" dirty="0">
                <a:solidFill>
                  <a:srgbClr val="6E7781"/>
                </a:solidFill>
                <a:latin typeface="Calibri" pitchFamily="34" charset="0"/>
                <a:ea typeface="Calibri" pitchFamily="34" charset="-122"/>
                <a:cs typeface="Calibri" pitchFamily="34" charset="-120"/>
              </a:rPr>
              <a:t>−0.2</a:t>
            </a:r>
            <a:endParaRPr lang="en-US" sz="1150" dirty="0"/>
          </a:p>
        </p:txBody>
      </p:sp>
      <p:sp>
        <p:nvSpPr>
          <p:cNvPr id="16" name="Text 14"/>
          <p:cNvSpPr/>
          <p:nvPr/>
        </p:nvSpPr>
        <p:spPr>
          <a:xfrm>
            <a:off x="7406640" y="1810512"/>
            <a:ext cx="1371600" cy="329184"/>
          </a:xfrm>
          <a:prstGeom prst="rect">
            <a:avLst/>
          </a:prstGeom>
          <a:noFill/>
          <a:ln/>
        </p:spPr>
        <p:txBody>
          <a:bodyPr wrap="square" lIns="0" tIns="0" rIns="0" bIns="0" rtlCol="0" anchor="ctr"/>
          <a:lstStyle/>
          <a:p>
            <a:pPr marL="0" indent="0" algn="r">
              <a:buNone/>
            </a:pPr>
            <a:r>
              <a:rPr lang="en-US" sz="1150" dirty="0">
                <a:solidFill>
                  <a:srgbClr val="6E7781"/>
                </a:solidFill>
                <a:latin typeface="Calibri" pitchFamily="34" charset="0"/>
                <a:ea typeface="Calibri" pitchFamily="34" charset="-122"/>
                <a:cs typeface="Calibri" pitchFamily="34" charset="-120"/>
              </a:rPr>
              <a:t>−0.4</a:t>
            </a:r>
            <a:endParaRPr lang="en-US" sz="1150" dirty="0"/>
          </a:p>
        </p:txBody>
      </p:sp>
      <p:sp>
        <p:nvSpPr>
          <p:cNvPr id="17" name="Text 15"/>
          <p:cNvSpPr/>
          <p:nvPr/>
        </p:nvSpPr>
        <p:spPr>
          <a:xfrm>
            <a:off x="8778240" y="1810512"/>
            <a:ext cx="1371600" cy="329184"/>
          </a:xfrm>
          <a:prstGeom prst="rect">
            <a:avLst/>
          </a:prstGeom>
          <a:noFill/>
          <a:ln/>
        </p:spPr>
        <p:txBody>
          <a:bodyPr wrap="square" lIns="0" tIns="0" rIns="0" bIns="0" rtlCol="0" anchor="ctr"/>
          <a:lstStyle/>
          <a:p>
            <a:pPr marL="0" indent="0" algn="r">
              <a:buNone/>
            </a:pPr>
            <a:r>
              <a:rPr lang="en-US" sz="1150" dirty="0">
                <a:solidFill>
                  <a:srgbClr val="6E7781"/>
                </a:solidFill>
                <a:latin typeface="Calibri" pitchFamily="34" charset="0"/>
                <a:ea typeface="Calibri" pitchFamily="34" charset="-122"/>
                <a:cs typeface="Calibri" pitchFamily="34" charset="-120"/>
              </a:rPr>
              <a:t>—</a:t>
            </a:r>
            <a:endParaRPr lang="en-US" sz="1150" dirty="0"/>
          </a:p>
        </p:txBody>
      </p:sp>
      <p:sp>
        <p:nvSpPr>
          <p:cNvPr id="18" name="Text 16"/>
          <p:cNvSpPr/>
          <p:nvPr/>
        </p:nvSpPr>
        <p:spPr>
          <a:xfrm>
            <a:off x="10149840" y="1810512"/>
            <a:ext cx="1371600" cy="329184"/>
          </a:xfrm>
          <a:prstGeom prst="rect">
            <a:avLst/>
          </a:prstGeom>
          <a:noFill/>
          <a:ln/>
        </p:spPr>
        <p:txBody>
          <a:bodyPr wrap="square" lIns="0" tIns="0" rIns="0" bIns="0" rtlCol="0" anchor="ctr"/>
          <a:lstStyle/>
          <a:p>
            <a:pPr marL="0" indent="0" algn="r">
              <a:buNone/>
            </a:pPr>
            <a:r>
              <a:rPr lang="en-US" sz="1150" dirty="0">
                <a:solidFill>
                  <a:srgbClr val="6E7781"/>
                </a:solidFill>
                <a:latin typeface="Calibri" pitchFamily="34" charset="0"/>
                <a:ea typeface="Calibri" pitchFamily="34" charset="-122"/>
                <a:cs typeface="Calibri" pitchFamily="34" charset="-120"/>
              </a:rPr>
              <a:t>7.4</a:t>
            </a:r>
            <a:endParaRPr lang="en-US" sz="1150" dirty="0"/>
          </a:p>
        </p:txBody>
      </p:sp>
      <p:sp>
        <p:nvSpPr>
          <p:cNvPr id="19" name="Text 17"/>
          <p:cNvSpPr/>
          <p:nvPr/>
        </p:nvSpPr>
        <p:spPr>
          <a:xfrm>
            <a:off x="640080" y="2194560"/>
            <a:ext cx="4023360" cy="329184"/>
          </a:xfrm>
          <a:prstGeom prst="rect">
            <a:avLst/>
          </a:prstGeom>
          <a:noFill/>
          <a:ln/>
        </p:spPr>
        <p:txBody>
          <a:bodyPr wrap="square" lIns="0" tIns="0" rIns="0" bIns="0" rtlCol="0" anchor="ctr"/>
          <a:lstStyle/>
          <a:p>
            <a:pPr marL="0" indent="0" algn="l">
              <a:buNone/>
            </a:pPr>
            <a:r>
              <a:rPr lang="en-US" sz="1150" b="1" dirty="0">
                <a:solidFill>
                  <a:srgbClr val="1C1F26"/>
                </a:solidFill>
                <a:latin typeface="Calibri" pitchFamily="34" charset="0"/>
                <a:ea typeface="Calibri" pitchFamily="34" charset="-122"/>
                <a:cs typeface="Calibri" pitchFamily="34" charset="-120"/>
              </a:rPr>
              <a:t>Sam</a:t>
            </a:r>
            <a:endParaRPr lang="en-US" sz="1150" dirty="0"/>
          </a:p>
        </p:txBody>
      </p:sp>
      <p:sp>
        <p:nvSpPr>
          <p:cNvPr id="20" name="Text 18"/>
          <p:cNvSpPr/>
          <p:nvPr/>
        </p:nvSpPr>
        <p:spPr>
          <a:xfrm>
            <a:off x="4663440" y="2194560"/>
            <a:ext cx="1371600" cy="329184"/>
          </a:xfrm>
          <a:prstGeom prst="rect">
            <a:avLst/>
          </a:prstGeom>
          <a:noFill/>
          <a:ln/>
        </p:spPr>
        <p:txBody>
          <a:bodyPr wrap="square" lIns="0" tIns="0" rIns="0" bIns="0" rtlCol="0" anchor="ctr"/>
          <a:lstStyle/>
          <a:p>
            <a:pPr marL="0" indent="0" algn="l">
              <a:buNone/>
            </a:pPr>
            <a:r>
              <a:rPr lang="en-US" sz="1150" dirty="0">
                <a:solidFill>
                  <a:srgbClr val="6E7781"/>
                </a:solidFill>
                <a:latin typeface="Calibri" pitchFamily="34" charset="0"/>
                <a:ea typeface="Calibri" pitchFamily="34" charset="-122"/>
                <a:cs typeface="Calibri" pitchFamily="34" charset="-120"/>
              </a:rPr>
              <a:t>8.0</a:t>
            </a:r>
            <a:endParaRPr lang="en-US" sz="1150" dirty="0"/>
          </a:p>
        </p:txBody>
      </p:sp>
      <p:sp>
        <p:nvSpPr>
          <p:cNvPr id="21" name="Text 19"/>
          <p:cNvSpPr/>
          <p:nvPr/>
        </p:nvSpPr>
        <p:spPr>
          <a:xfrm>
            <a:off x="6035040" y="2194560"/>
            <a:ext cx="1371600" cy="329184"/>
          </a:xfrm>
          <a:prstGeom prst="rect">
            <a:avLst/>
          </a:prstGeom>
          <a:noFill/>
          <a:ln/>
        </p:spPr>
        <p:txBody>
          <a:bodyPr wrap="square" lIns="0" tIns="0" rIns="0" bIns="0" rtlCol="0" anchor="ctr"/>
          <a:lstStyle/>
          <a:p>
            <a:pPr marL="0" indent="0" algn="r">
              <a:buNone/>
            </a:pPr>
            <a:r>
              <a:rPr lang="en-US" sz="1150" dirty="0">
                <a:solidFill>
                  <a:srgbClr val="6E7781"/>
                </a:solidFill>
                <a:latin typeface="Calibri" pitchFamily="34" charset="0"/>
                <a:ea typeface="Calibri" pitchFamily="34" charset="-122"/>
                <a:cs typeface="Calibri" pitchFamily="34" charset="-120"/>
              </a:rPr>
              <a:t>−0.2</a:t>
            </a:r>
            <a:endParaRPr lang="en-US" sz="1150" dirty="0"/>
          </a:p>
        </p:txBody>
      </p:sp>
      <p:sp>
        <p:nvSpPr>
          <p:cNvPr id="22" name="Text 20"/>
          <p:cNvSpPr/>
          <p:nvPr/>
        </p:nvSpPr>
        <p:spPr>
          <a:xfrm>
            <a:off x="7406640" y="2194560"/>
            <a:ext cx="1371600" cy="329184"/>
          </a:xfrm>
          <a:prstGeom prst="rect">
            <a:avLst/>
          </a:prstGeom>
          <a:noFill/>
          <a:ln/>
        </p:spPr>
        <p:txBody>
          <a:bodyPr wrap="square" lIns="0" tIns="0" rIns="0" bIns="0" rtlCol="0" anchor="ctr"/>
          <a:lstStyle/>
          <a:p>
            <a:pPr marL="0" indent="0" algn="r">
              <a:buNone/>
            </a:pPr>
            <a:r>
              <a:rPr lang="en-US" sz="1150" dirty="0">
                <a:solidFill>
                  <a:srgbClr val="6E7781"/>
                </a:solidFill>
                <a:latin typeface="Calibri" pitchFamily="34" charset="0"/>
                <a:ea typeface="Calibri" pitchFamily="34" charset="-122"/>
                <a:cs typeface="Calibri" pitchFamily="34" charset="-120"/>
              </a:rPr>
              <a:t>−0.4</a:t>
            </a:r>
            <a:endParaRPr lang="en-US" sz="1150" dirty="0"/>
          </a:p>
        </p:txBody>
      </p:sp>
      <p:sp>
        <p:nvSpPr>
          <p:cNvPr id="23" name="Text 21"/>
          <p:cNvSpPr/>
          <p:nvPr/>
        </p:nvSpPr>
        <p:spPr>
          <a:xfrm>
            <a:off x="8778240" y="2194560"/>
            <a:ext cx="1371600" cy="329184"/>
          </a:xfrm>
          <a:prstGeom prst="rect">
            <a:avLst/>
          </a:prstGeom>
          <a:noFill/>
          <a:ln/>
        </p:spPr>
        <p:txBody>
          <a:bodyPr wrap="square" lIns="0" tIns="0" rIns="0" bIns="0" rtlCol="0" anchor="ctr"/>
          <a:lstStyle/>
          <a:p>
            <a:pPr marL="0" indent="0" algn="r">
              <a:buNone/>
            </a:pPr>
            <a:r>
              <a:rPr lang="en-US" sz="1150" dirty="0">
                <a:solidFill>
                  <a:srgbClr val="6E7781"/>
                </a:solidFill>
                <a:latin typeface="Calibri" pitchFamily="34" charset="0"/>
                <a:ea typeface="Calibri" pitchFamily="34" charset="-122"/>
                <a:cs typeface="Calibri" pitchFamily="34" charset="-120"/>
              </a:rPr>
              <a:t>—</a:t>
            </a:r>
            <a:endParaRPr lang="en-US" sz="1150" dirty="0"/>
          </a:p>
        </p:txBody>
      </p:sp>
      <p:sp>
        <p:nvSpPr>
          <p:cNvPr id="24" name="Text 22"/>
          <p:cNvSpPr/>
          <p:nvPr/>
        </p:nvSpPr>
        <p:spPr>
          <a:xfrm>
            <a:off x="10149840" y="2194560"/>
            <a:ext cx="1371600" cy="329184"/>
          </a:xfrm>
          <a:prstGeom prst="rect">
            <a:avLst/>
          </a:prstGeom>
          <a:noFill/>
          <a:ln/>
        </p:spPr>
        <p:txBody>
          <a:bodyPr wrap="square" lIns="0" tIns="0" rIns="0" bIns="0" rtlCol="0" anchor="ctr"/>
          <a:lstStyle/>
          <a:p>
            <a:pPr marL="0" indent="0" algn="r">
              <a:buNone/>
            </a:pPr>
            <a:r>
              <a:rPr lang="en-US" sz="1150" dirty="0">
                <a:solidFill>
                  <a:srgbClr val="6E7781"/>
                </a:solidFill>
                <a:latin typeface="Calibri" pitchFamily="34" charset="0"/>
                <a:ea typeface="Calibri" pitchFamily="34" charset="-122"/>
                <a:cs typeface="Calibri" pitchFamily="34" charset="-120"/>
              </a:rPr>
              <a:t>7.4</a:t>
            </a:r>
            <a:endParaRPr lang="en-US" sz="1150" dirty="0"/>
          </a:p>
        </p:txBody>
      </p:sp>
      <p:sp>
        <p:nvSpPr>
          <p:cNvPr id="25" name="Text 23"/>
          <p:cNvSpPr/>
          <p:nvPr/>
        </p:nvSpPr>
        <p:spPr>
          <a:xfrm>
            <a:off x="640080" y="2578608"/>
            <a:ext cx="4023360" cy="329184"/>
          </a:xfrm>
          <a:prstGeom prst="rect">
            <a:avLst/>
          </a:prstGeom>
          <a:noFill/>
          <a:ln/>
        </p:spPr>
        <p:txBody>
          <a:bodyPr wrap="square" lIns="0" tIns="0" rIns="0" bIns="0" rtlCol="0" anchor="ctr"/>
          <a:lstStyle/>
          <a:p>
            <a:pPr marL="0" indent="0" algn="l">
              <a:buNone/>
            </a:pPr>
            <a:r>
              <a:rPr lang="en-US" sz="1150" b="1" dirty="0">
                <a:solidFill>
                  <a:srgbClr val="1C1F26"/>
                </a:solidFill>
                <a:latin typeface="Calibri" pitchFamily="34" charset="0"/>
                <a:ea typeface="Calibri" pitchFamily="34" charset="-122"/>
                <a:cs typeface="Calibri" pitchFamily="34" charset="-120"/>
              </a:rPr>
              <a:t>Jo</a:t>
            </a:r>
            <a:endParaRPr lang="en-US" sz="1150" dirty="0"/>
          </a:p>
        </p:txBody>
      </p:sp>
      <p:sp>
        <p:nvSpPr>
          <p:cNvPr id="26" name="Text 24"/>
          <p:cNvSpPr/>
          <p:nvPr/>
        </p:nvSpPr>
        <p:spPr>
          <a:xfrm>
            <a:off x="4663440" y="2578608"/>
            <a:ext cx="1371600" cy="329184"/>
          </a:xfrm>
          <a:prstGeom prst="rect">
            <a:avLst/>
          </a:prstGeom>
          <a:noFill/>
          <a:ln/>
        </p:spPr>
        <p:txBody>
          <a:bodyPr wrap="square" lIns="0" tIns="0" rIns="0" bIns="0" rtlCol="0" anchor="ctr"/>
          <a:lstStyle/>
          <a:p>
            <a:pPr marL="0" indent="0" algn="l">
              <a:buNone/>
            </a:pPr>
            <a:r>
              <a:rPr lang="en-US" sz="1150" dirty="0">
                <a:solidFill>
                  <a:srgbClr val="6E7781"/>
                </a:solidFill>
                <a:latin typeface="Calibri" pitchFamily="34" charset="0"/>
                <a:ea typeface="Calibri" pitchFamily="34" charset="-122"/>
                <a:cs typeface="Calibri" pitchFamily="34" charset="-120"/>
              </a:rPr>
              <a:t>8.0</a:t>
            </a:r>
            <a:endParaRPr lang="en-US" sz="1150" dirty="0"/>
          </a:p>
        </p:txBody>
      </p:sp>
      <p:sp>
        <p:nvSpPr>
          <p:cNvPr id="27" name="Text 25"/>
          <p:cNvSpPr/>
          <p:nvPr/>
        </p:nvSpPr>
        <p:spPr>
          <a:xfrm>
            <a:off x="6035040" y="2578608"/>
            <a:ext cx="1371600" cy="329184"/>
          </a:xfrm>
          <a:prstGeom prst="rect">
            <a:avLst/>
          </a:prstGeom>
          <a:noFill/>
          <a:ln/>
        </p:spPr>
        <p:txBody>
          <a:bodyPr wrap="square" lIns="0" tIns="0" rIns="0" bIns="0" rtlCol="0" anchor="ctr"/>
          <a:lstStyle/>
          <a:p>
            <a:pPr marL="0" indent="0" algn="r">
              <a:buNone/>
            </a:pPr>
            <a:r>
              <a:rPr lang="en-US" sz="1150" dirty="0">
                <a:solidFill>
                  <a:srgbClr val="6E7781"/>
                </a:solidFill>
                <a:latin typeface="Calibri" pitchFamily="34" charset="0"/>
                <a:ea typeface="Calibri" pitchFamily="34" charset="-122"/>
                <a:cs typeface="Calibri" pitchFamily="34" charset="-120"/>
              </a:rPr>
              <a:t>−0.2</a:t>
            </a:r>
            <a:endParaRPr lang="en-US" sz="1150" dirty="0"/>
          </a:p>
        </p:txBody>
      </p:sp>
      <p:sp>
        <p:nvSpPr>
          <p:cNvPr id="28" name="Text 26"/>
          <p:cNvSpPr/>
          <p:nvPr/>
        </p:nvSpPr>
        <p:spPr>
          <a:xfrm>
            <a:off x="7406640" y="2578608"/>
            <a:ext cx="1371600" cy="329184"/>
          </a:xfrm>
          <a:prstGeom prst="rect">
            <a:avLst/>
          </a:prstGeom>
          <a:noFill/>
          <a:ln/>
        </p:spPr>
        <p:txBody>
          <a:bodyPr wrap="square" lIns="0" tIns="0" rIns="0" bIns="0" rtlCol="0" anchor="ctr"/>
          <a:lstStyle/>
          <a:p>
            <a:pPr marL="0" indent="0" algn="r">
              <a:buNone/>
            </a:pPr>
            <a:r>
              <a:rPr lang="en-US" sz="1150" dirty="0">
                <a:solidFill>
                  <a:srgbClr val="6E7781"/>
                </a:solidFill>
                <a:latin typeface="Calibri" pitchFamily="34" charset="0"/>
                <a:ea typeface="Calibri" pitchFamily="34" charset="-122"/>
                <a:cs typeface="Calibri" pitchFamily="34" charset="-120"/>
              </a:rPr>
              <a:t>−0.4</a:t>
            </a:r>
            <a:endParaRPr lang="en-US" sz="1150" dirty="0"/>
          </a:p>
        </p:txBody>
      </p:sp>
      <p:sp>
        <p:nvSpPr>
          <p:cNvPr id="29" name="Text 27"/>
          <p:cNvSpPr/>
          <p:nvPr/>
        </p:nvSpPr>
        <p:spPr>
          <a:xfrm>
            <a:off x="8778240" y="2578608"/>
            <a:ext cx="1371600" cy="329184"/>
          </a:xfrm>
          <a:prstGeom prst="rect">
            <a:avLst/>
          </a:prstGeom>
          <a:noFill/>
          <a:ln/>
        </p:spPr>
        <p:txBody>
          <a:bodyPr wrap="square" lIns="0" tIns="0" rIns="0" bIns="0" rtlCol="0" anchor="ctr"/>
          <a:lstStyle/>
          <a:p>
            <a:pPr marL="0" indent="0" algn="r">
              <a:buNone/>
            </a:pPr>
            <a:r>
              <a:rPr lang="en-US" sz="1150" dirty="0">
                <a:solidFill>
                  <a:srgbClr val="6E7781"/>
                </a:solidFill>
                <a:latin typeface="Calibri" pitchFamily="34" charset="0"/>
                <a:ea typeface="Calibri" pitchFamily="34" charset="-122"/>
                <a:cs typeface="Calibri" pitchFamily="34" charset="-120"/>
              </a:rPr>
              <a:t>−2.0</a:t>
            </a:r>
            <a:endParaRPr lang="en-US" sz="1150" dirty="0"/>
          </a:p>
        </p:txBody>
      </p:sp>
      <p:sp>
        <p:nvSpPr>
          <p:cNvPr id="30" name="Text 28"/>
          <p:cNvSpPr/>
          <p:nvPr/>
        </p:nvSpPr>
        <p:spPr>
          <a:xfrm>
            <a:off x="10149840" y="2578608"/>
            <a:ext cx="1371600" cy="329184"/>
          </a:xfrm>
          <a:prstGeom prst="rect">
            <a:avLst/>
          </a:prstGeom>
          <a:noFill/>
          <a:ln/>
        </p:spPr>
        <p:txBody>
          <a:bodyPr wrap="square" lIns="0" tIns="0" rIns="0" bIns="0" rtlCol="0" anchor="ctr"/>
          <a:lstStyle/>
          <a:p>
            <a:pPr marL="0" indent="0" algn="r">
              <a:buNone/>
            </a:pPr>
            <a:r>
              <a:rPr lang="en-US" sz="1150" dirty="0">
                <a:solidFill>
                  <a:srgbClr val="6E7781"/>
                </a:solidFill>
                <a:latin typeface="Calibri" pitchFamily="34" charset="0"/>
                <a:ea typeface="Calibri" pitchFamily="34" charset="-122"/>
                <a:cs typeface="Calibri" pitchFamily="34" charset="-120"/>
              </a:rPr>
              <a:t>5.4</a:t>
            </a:r>
            <a:endParaRPr lang="en-US" sz="1150" dirty="0"/>
          </a:p>
        </p:txBody>
      </p:sp>
      <p:sp>
        <p:nvSpPr>
          <p:cNvPr id="31" name="Text 29"/>
          <p:cNvSpPr/>
          <p:nvPr/>
        </p:nvSpPr>
        <p:spPr>
          <a:xfrm>
            <a:off x="640080" y="2962656"/>
            <a:ext cx="4023360" cy="329184"/>
          </a:xfrm>
          <a:prstGeom prst="rect">
            <a:avLst/>
          </a:prstGeom>
          <a:noFill/>
          <a:ln/>
        </p:spPr>
        <p:txBody>
          <a:bodyPr wrap="square" lIns="0" tIns="0" rIns="0" bIns="0" rtlCol="0" anchor="ctr"/>
          <a:lstStyle/>
          <a:p>
            <a:pPr marL="0" indent="0" algn="l">
              <a:buNone/>
            </a:pPr>
            <a:r>
              <a:rPr lang="en-US" sz="1150" b="1" dirty="0">
                <a:solidFill>
                  <a:srgbClr val="1C1F26"/>
                </a:solidFill>
                <a:latin typeface="Calibri" pitchFamily="34" charset="0"/>
                <a:ea typeface="Calibri" pitchFamily="34" charset="-122"/>
                <a:cs typeface="Calibri" pitchFamily="34" charset="-120"/>
              </a:rPr>
              <a:t>Lead (50% to leading)</a:t>
            </a:r>
            <a:endParaRPr lang="en-US" sz="1150" dirty="0"/>
          </a:p>
        </p:txBody>
      </p:sp>
      <p:sp>
        <p:nvSpPr>
          <p:cNvPr id="32" name="Text 30"/>
          <p:cNvSpPr/>
          <p:nvPr/>
        </p:nvSpPr>
        <p:spPr>
          <a:xfrm>
            <a:off x="4663440" y="2962656"/>
            <a:ext cx="1371600" cy="329184"/>
          </a:xfrm>
          <a:prstGeom prst="rect">
            <a:avLst/>
          </a:prstGeom>
          <a:noFill/>
          <a:ln/>
        </p:spPr>
        <p:txBody>
          <a:bodyPr wrap="square" lIns="0" tIns="0" rIns="0" bIns="0" rtlCol="0" anchor="ctr"/>
          <a:lstStyle/>
          <a:p>
            <a:pPr marL="0" indent="0" algn="l">
              <a:buNone/>
            </a:pPr>
            <a:r>
              <a:rPr lang="en-US" sz="1150" dirty="0">
                <a:solidFill>
                  <a:srgbClr val="6E7781"/>
                </a:solidFill>
                <a:latin typeface="Calibri" pitchFamily="34" charset="0"/>
                <a:ea typeface="Calibri" pitchFamily="34" charset="-122"/>
                <a:cs typeface="Calibri" pitchFamily="34" charset="-120"/>
              </a:rPr>
              <a:t>8.0</a:t>
            </a:r>
            <a:endParaRPr lang="en-US" sz="1150" dirty="0"/>
          </a:p>
        </p:txBody>
      </p:sp>
      <p:sp>
        <p:nvSpPr>
          <p:cNvPr id="33" name="Text 31"/>
          <p:cNvSpPr/>
          <p:nvPr/>
        </p:nvSpPr>
        <p:spPr>
          <a:xfrm>
            <a:off x="6035040" y="2962656"/>
            <a:ext cx="1371600" cy="329184"/>
          </a:xfrm>
          <a:prstGeom prst="rect">
            <a:avLst/>
          </a:prstGeom>
          <a:noFill/>
          <a:ln/>
        </p:spPr>
        <p:txBody>
          <a:bodyPr wrap="square" lIns="0" tIns="0" rIns="0" bIns="0" rtlCol="0" anchor="ctr"/>
          <a:lstStyle/>
          <a:p>
            <a:pPr marL="0" indent="0" algn="r">
              <a:buNone/>
            </a:pPr>
            <a:r>
              <a:rPr lang="en-US" sz="1150" dirty="0">
                <a:solidFill>
                  <a:srgbClr val="6E7781"/>
                </a:solidFill>
                <a:latin typeface="Calibri" pitchFamily="34" charset="0"/>
                <a:ea typeface="Calibri" pitchFamily="34" charset="-122"/>
                <a:cs typeface="Calibri" pitchFamily="34" charset="-120"/>
              </a:rPr>
              <a:t>−0.2</a:t>
            </a:r>
            <a:endParaRPr lang="en-US" sz="1150" dirty="0"/>
          </a:p>
        </p:txBody>
      </p:sp>
      <p:sp>
        <p:nvSpPr>
          <p:cNvPr id="34" name="Text 32"/>
          <p:cNvSpPr/>
          <p:nvPr/>
        </p:nvSpPr>
        <p:spPr>
          <a:xfrm>
            <a:off x="7406640" y="2962656"/>
            <a:ext cx="1371600" cy="329184"/>
          </a:xfrm>
          <a:prstGeom prst="rect">
            <a:avLst/>
          </a:prstGeom>
          <a:noFill/>
          <a:ln/>
        </p:spPr>
        <p:txBody>
          <a:bodyPr wrap="square" lIns="0" tIns="0" rIns="0" bIns="0" rtlCol="0" anchor="ctr"/>
          <a:lstStyle/>
          <a:p>
            <a:pPr marL="0" indent="0" algn="r">
              <a:buNone/>
            </a:pPr>
            <a:r>
              <a:rPr lang="en-US" sz="1150" dirty="0">
                <a:solidFill>
                  <a:srgbClr val="6E7781"/>
                </a:solidFill>
                <a:latin typeface="Calibri" pitchFamily="34" charset="0"/>
                <a:ea typeface="Calibri" pitchFamily="34" charset="-122"/>
                <a:cs typeface="Calibri" pitchFamily="34" charset="-120"/>
              </a:rPr>
              <a:t>−0.4</a:t>
            </a:r>
            <a:endParaRPr lang="en-US" sz="1150" dirty="0"/>
          </a:p>
        </p:txBody>
      </p:sp>
      <p:sp>
        <p:nvSpPr>
          <p:cNvPr id="35" name="Text 33"/>
          <p:cNvSpPr/>
          <p:nvPr/>
        </p:nvSpPr>
        <p:spPr>
          <a:xfrm>
            <a:off x="8778240" y="2962656"/>
            <a:ext cx="1371600" cy="329184"/>
          </a:xfrm>
          <a:prstGeom prst="rect">
            <a:avLst/>
          </a:prstGeom>
          <a:noFill/>
          <a:ln/>
        </p:spPr>
        <p:txBody>
          <a:bodyPr wrap="square" lIns="0" tIns="0" rIns="0" bIns="0" rtlCol="0" anchor="ctr"/>
          <a:lstStyle/>
          <a:p>
            <a:pPr marL="0" indent="0" algn="r">
              <a:buNone/>
            </a:pPr>
            <a:r>
              <a:rPr lang="en-US" sz="1150" dirty="0">
                <a:solidFill>
                  <a:srgbClr val="6E7781"/>
                </a:solidFill>
                <a:latin typeface="Calibri" pitchFamily="34" charset="0"/>
                <a:ea typeface="Calibri" pitchFamily="34" charset="-122"/>
                <a:cs typeface="Calibri" pitchFamily="34" charset="-120"/>
              </a:rPr>
              <a:t>—</a:t>
            </a:r>
            <a:endParaRPr lang="en-US" sz="1150" dirty="0"/>
          </a:p>
        </p:txBody>
      </p:sp>
      <p:sp>
        <p:nvSpPr>
          <p:cNvPr id="36" name="Text 34"/>
          <p:cNvSpPr/>
          <p:nvPr/>
        </p:nvSpPr>
        <p:spPr>
          <a:xfrm>
            <a:off x="10149840" y="2962656"/>
            <a:ext cx="1371600" cy="329184"/>
          </a:xfrm>
          <a:prstGeom prst="rect">
            <a:avLst/>
          </a:prstGeom>
          <a:noFill/>
          <a:ln/>
        </p:spPr>
        <p:txBody>
          <a:bodyPr wrap="square" lIns="0" tIns="0" rIns="0" bIns="0" rtlCol="0" anchor="ctr"/>
          <a:lstStyle/>
          <a:p>
            <a:pPr marL="0" indent="0" algn="r">
              <a:buNone/>
            </a:pPr>
            <a:r>
              <a:rPr lang="en-US" sz="1150" dirty="0">
                <a:solidFill>
                  <a:srgbClr val="6E7781"/>
                </a:solidFill>
                <a:latin typeface="Calibri" pitchFamily="34" charset="0"/>
                <a:ea typeface="Calibri" pitchFamily="34" charset="-122"/>
                <a:cs typeface="Calibri" pitchFamily="34" charset="-120"/>
              </a:rPr>
              <a:t>3.7</a:t>
            </a:r>
            <a:endParaRPr lang="en-US" sz="1150" dirty="0"/>
          </a:p>
        </p:txBody>
      </p:sp>
      <p:sp>
        <p:nvSpPr>
          <p:cNvPr id="37" name="Text 35"/>
          <p:cNvSpPr/>
          <p:nvPr/>
        </p:nvSpPr>
        <p:spPr>
          <a:xfrm>
            <a:off x="640080" y="3346704"/>
            <a:ext cx="4023360" cy="329184"/>
          </a:xfrm>
          <a:prstGeom prst="rect">
            <a:avLst/>
          </a:prstGeom>
          <a:noFill/>
          <a:ln/>
        </p:spPr>
        <p:txBody>
          <a:bodyPr wrap="square" lIns="0" tIns="0" rIns="0" bIns="0" rtlCol="0" anchor="ctr"/>
          <a:lstStyle/>
          <a:p>
            <a:pPr marL="0" indent="0" algn="l">
              <a:buNone/>
            </a:pPr>
            <a:r>
              <a:rPr lang="en-US" sz="1150" b="1" dirty="0">
                <a:solidFill>
                  <a:srgbClr val="1C1F26"/>
                </a:solidFill>
                <a:latin typeface="Calibri" pitchFamily="34" charset="0"/>
                <a:ea typeface="Calibri" pitchFamily="34" charset="-122"/>
                <a:cs typeface="Calibri" pitchFamily="34" charset="-120"/>
              </a:rPr>
              <a:t>Total</a:t>
            </a:r>
            <a:endParaRPr lang="en-US" sz="1150" dirty="0"/>
          </a:p>
        </p:txBody>
      </p:sp>
      <p:sp>
        <p:nvSpPr>
          <p:cNvPr id="38" name="Text 36"/>
          <p:cNvSpPr/>
          <p:nvPr/>
        </p:nvSpPr>
        <p:spPr>
          <a:xfrm>
            <a:off x="4663440" y="3346704"/>
            <a:ext cx="1371600" cy="329184"/>
          </a:xfrm>
          <a:prstGeom prst="rect">
            <a:avLst/>
          </a:prstGeom>
          <a:noFill/>
          <a:ln/>
        </p:spPr>
        <p:txBody>
          <a:bodyPr wrap="square" lIns="0" tIns="0" rIns="0" bIns="0" rtlCol="0" anchor="ctr"/>
          <a:lstStyle/>
          <a:p>
            <a:pPr marL="0" indent="0" algn="l">
              <a:buNone/>
            </a:pPr>
            <a:endParaRPr lang="en-US" sz="1150" dirty="0"/>
          </a:p>
        </p:txBody>
      </p:sp>
      <p:sp>
        <p:nvSpPr>
          <p:cNvPr id="39" name="Text 37"/>
          <p:cNvSpPr/>
          <p:nvPr/>
        </p:nvSpPr>
        <p:spPr>
          <a:xfrm>
            <a:off x="6035040" y="3346704"/>
            <a:ext cx="1371600" cy="329184"/>
          </a:xfrm>
          <a:prstGeom prst="rect">
            <a:avLst/>
          </a:prstGeom>
          <a:noFill/>
          <a:ln/>
        </p:spPr>
        <p:txBody>
          <a:bodyPr wrap="square" lIns="0" tIns="0" rIns="0" bIns="0" rtlCol="0" anchor="ctr"/>
          <a:lstStyle/>
          <a:p>
            <a:pPr marL="0" indent="0" algn="r">
              <a:buNone/>
            </a:pPr>
            <a:endParaRPr lang="en-US" sz="1150" dirty="0"/>
          </a:p>
        </p:txBody>
      </p:sp>
      <p:sp>
        <p:nvSpPr>
          <p:cNvPr id="40" name="Text 38"/>
          <p:cNvSpPr/>
          <p:nvPr/>
        </p:nvSpPr>
        <p:spPr>
          <a:xfrm>
            <a:off x="7406640" y="3346704"/>
            <a:ext cx="1371600" cy="329184"/>
          </a:xfrm>
          <a:prstGeom prst="rect">
            <a:avLst/>
          </a:prstGeom>
          <a:noFill/>
          <a:ln/>
        </p:spPr>
        <p:txBody>
          <a:bodyPr wrap="square" lIns="0" tIns="0" rIns="0" bIns="0" rtlCol="0" anchor="ctr"/>
          <a:lstStyle/>
          <a:p>
            <a:pPr marL="0" indent="0" algn="r">
              <a:buNone/>
            </a:pPr>
            <a:endParaRPr lang="en-US" sz="1150" dirty="0"/>
          </a:p>
        </p:txBody>
      </p:sp>
      <p:sp>
        <p:nvSpPr>
          <p:cNvPr id="41" name="Text 39"/>
          <p:cNvSpPr/>
          <p:nvPr/>
        </p:nvSpPr>
        <p:spPr>
          <a:xfrm>
            <a:off x="8778240" y="3346704"/>
            <a:ext cx="1371600" cy="329184"/>
          </a:xfrm>
          <a:prstGeom prst="rect">
            <a:avLst/>
          </a:prstGeom>
          <a:noFill/>
          <a:ln/>
        </p:spPr>
        <p:txBody>
          <a:bodyPr wrap="square" lIns="0" tIns="0" rIns="0" bIns="0" rtlCol="0" anchor="ctr"/>
          <a:lstStyle/>
          <a:p>
            <a:pPr marL="0" indent="0" algn="r">
              <a:buNone/>
            </a:pPr>
            <a:endParaRPr lang="en-US" sz="1150" dirty="0"/>
          </a:p>
        </p:txBody>
      </p:sp>
      <p:sp>
        <p:nvSpPr>
          <p:cNvPr id="42" name="Text 40"/>
          <p:cNvSpPr/>
          <p:nvPr/>
        </p:nvSpPr>
        <p:spPr>
          <a:xfrm>
            <a:off x="10149840" y="3346704"/>
            <a:ext cx="1371600" cy="329184"/>
          </a:xfrm>
          <a:prstGeom prst="rect">
            <a:avLst/>
          </a:prstGeom>
          <a:noFill/>
          <a:ln/>
        </p:spPr>
        <p:txBody>
          <a:bodyPr wrap="square" lIns="0" tIns="0" rIns="0" bIns="0" rtlCol="0" anchor="ctr"/>
          <a:lstStyle/>
          <a:p>
            <a:pPr marL="0" indent="0" algn="r">
              <a:buNone/>
            </a:pPr>
            <a:r>
              <a:rPr lang="en-US" sz="1150" dirty="0">
                <a:solidFill>
                  <a:srgbClr val="6E7781"/>
                </a:solidFill>
                <a:latin typeface="Calibri" pitchFamily="34" charset="0"/>
                <a:ea typeface="Calibri" pitchFamily="34" charset="-122"/>
                <a:cs typeface="Calibri" pitchFamily="34" charset="-120"/>
              </a:rPr>
              <a:t>23.9</a:t>
            </a:r>
            <a:endParaRPr lang="en-US" sz="1150" dirty="0"/>
          </a:p>
        </p:txBody>
      </p:sp>
      <p:sp>
        <p:nvSpPr>
          <p:cNvPr id="43" name="Text 41"/>
          <p:cNvSpPr/>
          <p:nvPr/>
        </p:nvSpPr>
        <p:spPr>
          <a:xfrm>
            <a:off x="640080" y="4023360"/>
            <a:ext cx="10881360" cy="548640"/>
          </a:xfrm>
          <a:prstGeom prst="rect">
            <a:avLst/>
          </a:prstGeom>
          <a:noFill/>
          <a:ln/>
        </p:spPr>
        <p:txBody>
          <a:bodyPr wrap="square" lIns="0" tIns="0" rIns="0" bIns="0" rtlCol="0" anchor="ctr"/>
          <a:lstStyle/>
          <a:p>
            <a:pPr marL="0" indent="0">
              <a:buNone/>
            </a:pPr>
            <a:r>
              <a:rPr lang="en-US" sz="1150" dirty="0">
                <a:solidFill>
                  <a:srgbClr val="6E7781"/>
                </a:solidFill>
                <a:latin typeface="Calibri" pitchFamily="34" charset="0"/>
                <a:ea typeface="Calibri" pitchFamily="34" charset="-122"/>
                <a:cs typeface="Calibri" pitchFamily="34" charset="-120"/>
              </a:rPr>
              <a:t>Robotics: 2 people, Chris at 0.8, minus ~1 day/week live cell support ≈ 1.6 FTE effective. Their constraint is the single spare controller and the live cell, not headcount — see appendix D.</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8F5"/>
        </a:solidFill>
        <a:effectLst/>
      </p:bgPr>
    </p:bg>
    <p:spTree>
      <p:nvGrpSpPr>
        <p:cNvPr id="1" name=""/>
        <p:cNvGrpSpPr/>
        <p:nvPr/>
      </p:nvGrpSpPr>
      <p:grpSpPr>
        <a:xfrm>
          <a:off x="0" y="0"/>
          <a:ext cx="0" cy="0"/>
          <a:chOff x="0" y="0"/>
          <a:chExt cx="0" cy="0"/>
        </a:xfrm>
      </p:grpSpPr>
      <p:sp>
        <p:nvSpPr>
          <p:cNvPr id="2" name="Shape 0"/>
          <p:cNvSpPr/>
          <p:nvPr/>
        </p:nvSpPr>
        <p:spPr>
          <a:xfrm>
            <a:off x="640080" y="384048"/>
            <a:ext cx="384048" cy="384048"/>
          </a:xfrm>
          <a:prstGeom prst="rect">
            <a:avLst/>
          </a:prstGeom>
          <a:solidFill>
            <a:srgbClr val="1C1F26"/>
          </a:solidFill>
          <a:ln/>
        </p:spPr>
        <p:txBody>
          <a:bodyPr/>
          <a:lstStyle/>
          <a:p>
            <a:endParaRPr lang="en-US"/>
          </a:p>
        </p:txBody>
      </p:sp>
      <p:sp>
        <p:nvSpPr>
          <p:cNvPr id="3" name="Text 1"/>
          <p:cNvSpPr/>
          <p:nvPr/>
        </p:nvSpPr>
        <p:spPr>
          <a:xfrm>
            <a:off x="640080" y="38404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B</a:t>
            </a:r>
            <a:endParaRPr lang="en-US" sz="1400" dirty="0"/>
          </a:p>
        </p:txBody>
      </p:sp>
      <p:sp>
        <p:nvSpPr>
          <p:cNvPr id="4" name="Text 2"/>
          <p:cNvSpPr/>
          <p:nvPr/>
        </p:nvSpPr>
        <p:spPr>
          <a:xfrm>
            <a:off x="1207008" y="329184"/>
            <a:ext cx="10314432" cy="493776"/>
          </a:xfrm>
          <a:prstGeom prst="rect">
            <a:avLst/>
          </a:prstGeom>
          <a:noFill/>
          <a:ln/>
        </p:spPr>
        <p:txBody>
          <a:bodyPr wrap="square" lIns="0" tIns="0" rIns="0" bIns="0" rtlCol="0" anchor="ctr"/>
          <a:lstStyle/>
          <a:p>
            <a:pPr marL="0" indent="0">
              <a:buNone/>
            </a:pPr>
            <a:r>
              <a:rPr lang="en-US" sz="2600" b="1" dirty="0">
                <a:solidFill>
                  <a:srgbClr val="1C1F26"/>
                </a:solidFill>
                <a:latin typeface="Cambria" pitchFamily="34" charset="0"/>
                <a:ea typeface="Cambria" pitchFamily="34" charset="-122"/>
                <a:cs typeface="Cambria" pitchFamily="34" charset="-120"/>
              </a:rPr>
              <a:t>What r3 → r4 actually contains</a:t>
            </a:r>
            <a:endParaRPr lang="en-US" sz="2600" dirty="0"/>
          </a:p>
        </p:txBody>
      </p:sp>
      <p:sp>
        <p:nvSpPr>
          <p:cNvPr id="5" name="Text 3"/>
          <p:cNvSpPr/>
          <p:nvPr/>
        </p:nvSpPr>
        <p:spPr>
          <a:xfrm>
            <a:off x="640080" y="914400"/>
            <a:ext cx="10881360" cy="292608"/>
          </a:xfrm>
          <a:prstGeom prst="rect">
            <a:avLst/>
          </a:prstGeom>
          <a:noFill/>
          <a:ln/>
        </p:spPr>
        <p:txBody>
          <a:bodyPr wrap="square" lIns="0" tIns="0" rIns="0" bIns="0" rtlCol="0" anchor="ctr"/>
          <a:lstStyle/>
          <a:p>
            <a:pPr marL="0" indent="0">
              <a:buNone/>
            </a:pPr>
            <a:r>
              <a:rPr lang="en-US" sz="1300" i="1" dirty="0">
                <a:solidFill>
                  <a:srgbClr val="6E7781"/>
                </a:solidFill>
                <a:latin typeface="Calibri" pitchFamily="34" charset="0"/>
                <a:ea typeface="Calibri" pitchFamily="34" charset="-122"/>
                <a:cs typeface="Calibri" pitchFamily="34" charset="-120"/>
              </a:rPr>
              <a:t>Seven of twenty panels changed. All on level 1. Recoverability differs completely.</a:t>
            </a:r>
            <a:endParaRPr lang="en-US" sz="1300" dirty="0"/>
          </a:p>
        </p:txBody>
      </p:sp>
      <p:sp>
        <p:nvSpPr>
          <p:cNvPr id="6" name="Text 4"/>
          <p:cNvSpPr/>
          <p:nvPr/>
        </p:nvSpPr>
        <p:spPr>
          <a:xfrm>
            <a:off x="640080" y="1371600"/>
            <a:ext cx="1737360" cy="310896"/>
          </a:xfrm>
          <a:prstGeom prst="rect">
            <a:avLst/>
          </a:prstGeom>
          <a:noFill/>
          <a:ln/>
        </p:spPr>
        <p:txBody>
          <a:bodyPr wrap="square" lIns="0" tIns="0" rIns="0" bIns="0" rtlCol="0" anchor="ctr"/>
          <a:lstStyle/>
          <a:p>
            <a:pPr marL="0" indent="0" algn="l">
              <a:buNone/>
            </a:pPr>
            <a:r>
              <a:rPr lang="en-US" sz="1050" b="1" kern="0" spc="100" dirty="0">
                <a:solidFill>
                  <a:srgbClr val="6E7781"/>
                </a:solidFill>
                <a:latin typeface="Calibri" pitchFamily="34" charset="0"/>
                <a:ea typeface="Calibri" pitchFamily="34" charset="-122"/>
                <a:cs typeface="Calibri" pitchFamily="34" charset="-120"/>
              </a:rPr>
              <a:t>Panel</a:t>
            </a:r>
            <a:endParaRPr lang="en-US" sz="1050" dirty="0"/>
          </a:p>
        </p:txBody>
      </p:sp>
      <p:sp>
        <p:nvSpPr>
          <p:cNvPr id="7" name="Text 5"/>
          <p:cNvSpPr/>
          <p:nvPr/>
        </p:nvSpPr>
        <p:spPr>
          <a:xfrm>
            <a:off x="2377440" y="1371600"/>
            <a:ext cx="3657600" cy="310896"/>
          </a:xfrm>
          <a:prstGeom prst="rect">
            <a:avLst/>
          </a:prstGeom>
          <a:noFill/>
          <a:ln/>
        </p:spPr>
        <p:txBody>
          <a:bodyPr wrap="square" lIns="0" tIns="0" rIns="0" bIns="0" rtlCol="0" anchor="ctr"/>
          <a:lstStyle/>
          <a:p>
            <a:pPr marL="0" indent="0" algn="l">
              <a:buNone/>
            </a:pPr>
            <a:r>
              <a:rPr lang="en-US" sz="1050" b="1" kern="0" spc="100" dirty="0">
                <a:solidFill>
                  <a:srgbClr val="6E7781"/>
                </a:solidFill>
                <a:latin typeface="Calibri" pitchFamily="34" charset="0"/>
                <a:ea typeface="Calibri" pitchFamily="34" charset="-122"/>
                <a:cs typeface="Calibri" pitchFamily="34" charset="-120"/>
              </a:rPr>
              <a:t>Change</a:t>
            </a:r>
            <a:endParaRPr lang="en-US" sz="1050" dirty="0"/>
          </a:p>
        </p:txBody>
      </p:sp>
      <p:sp>
        <p:nvSpPr>
          <p:cNvPr id="8" name="Text 6"/>
          <p:cNvSpPr/>
          <p:nvPr/>
        </p:nvSpPr>
        <p:spPr>
          <a:xfrm>
            <a:off x="6035040" y="1371600"/>
            <a:ext cx="1828800" cy="310896"/>
          </a:xfrm>
          <a:prstGeom prst="rect">
            <a:avLst/>
          </a:prstGeom>
          <a:noFill/>
          <a:ln/>
        </p:spPr>
        <p:txBody>
          <a:bodyPr wrap="square" lIns="0" tIns="0" rIns="0" bIns="0" rtlCol="0" anchor="ctr"/>
          <a:lstStyle/>
          <a:p>
            <a:pPr marL="0" indent="0" algn="r">
              <a:buNone/>
            </a:pPr>
            <a:r>
              <a:rPr lang="en-US" sz="1050" b="1" kern="0" spc="100" dirty="0">
                <a:solidFill>
                  <a:srgbClr val="6E7781"/>
                </a:solidFill>
                <a:latin typeface="Calibri" pitchFamily="34" charset="0"/>
                <a:ea typeface="Calibri" pitchFamily="34" charset="-122"/>
                <a:cs typeface="Calibri" pitchFamily="34" charset="-120"/>
              </a:rPr>
              <a:t>Status</a:t>
            </a:r>
            <a:endParaRPr lang="en-US" sz="1050" dirty="0"/>
          </a:p>
        </p:txBody>
      </p:sp>
      <p:sp>
        <p:nvSpPr>
          <p:cNvPr id="9" name="Text 7"/>
          <p:cNvSpPr/>
          <p:nvPr/>
        </p:nvSpPr>
        <p:spPr>
          <a:xfrm>
            <a:off x="7863840" y="1371600"/>
            <a:ext cx="2194560" cy="310896"/>
          </a:xfrm>
          <a:prstGeom prst="rect">
            <a:avLst/>
          </a:prstGeom>
          <a:noFill/>
          <a:ln/>
        </p:spPr>
        <p:txBody>
          <a:bodyPr wrap="square" lIns="0" tIns="0" rIns="0" bIns="0" rtlCol="0" anchor="ctr"/>
          <a:lstStyle/>
          <a:p>
            <a:pPr marL="0" indent="0" algn="r">
              <a:buNone/>
            </a:pPr>
            <a:r>
              <a:rPr lang="en-US" sz="1050" b="1" kern="0" spc="100" dirty="0">
                <a:solidFill>
                  <a:srgbClr val="6E7781"/>
                </a:solidFill>
                <a:latin typeface="Calibri" pitchFamily="34" charset="0"/>
                <a:ea typeface="Calibri" pitchFamily="34" charset="-122"/>
                <a:cs typeface="Calibri" pitchFamily="34" charset="-120"/>
              </a:rPr>
              <a:t>Class</a:t>
            </a:r>
            <a:endParaRPr lang="en-US" sz="1050" dirty="0"/>
          </a:p>
        </p:txBody>
      </p:sp>
      <p:sp>
        <p:nvSpPr>
          <p:cNvPr id="10" name="Text 8"/>
          <p:cNvSpPr/>
          <p:nvPr/>
        </p:nvSpPr>
        <p:spPr>
          <a:xfrm>
            <a:off x="10058400" y="1371600"/>
            <a:ext cx="1463040" cy="310896"/>
          </a:xfrm>
          <a:prstGeom prst="rect">
            <a:avLst/>
          </a:prstGeom>
          <a:noFill/>
          <a:ln/>
        </p:spPr>
        <p:txBody>
          <a:bodyPr wrap="square" lIns="0" tIns="0" rIns="0" bIns="0" rtlCol="0" anchor="ctr"/>
          <a:lstStyle/>
          <a:p>
            <a:pPr marL="0" indent="0" algn="r">
              <a:buNone/>
            </a:pPr>
            <a:r>
              <a:rPr lang="en-US" sz="1050" b="1" kern="0" spc="100" dirty="0">
                <a:solidFill>
                  <a:srgbClr val="6E7781"/>
                </a:solidFill>
                <a:latin typeface="Calibri" pitchFamily="34" charset="0"/>
                <a:ea typeface="Calibri" pitchFamily="34" charset="-122"/>
                <a:cs typeface="Calibri" pitchFamily="34" charset="-120"/>
              </a:rPr>
              <a:t>Cost</a:t>
            </a:r>
            <a:endParaRPr lang="en-US" sz="1050" dirty="0"/>
          </a:p>
        </p:txBody>
      </p:sp>
      <p:sp>
        <p:nvSpPr>
          <p:cNvPr id="11" name="Shape 9"/>
          <p:cNvSpPr/>
          <p:nvPr/>
        </p:nvSpPr>
        <p:spPr>
          <a:xfrm>
            <a:off x="640080" y="1700784"/>
            <a:ext cx="10881360" cy="13716"/>
          </a:xfrm>
          <a:prstGeom prst="rect">
            <a:avLst/>
          </a:prstGeom>
          <a:solidFill>
            <a:srgbClr val="D8D2C9"/>
          </a:solidFill>
          <a:ln/>
        </p:spPr>
        <p:txBody>
          <a:bodyPr/>
          <a:lstStyle/>
          <a:p>
            <a:endParaRPr lang="en-US"/>
          </a:p>
        </p:txBody>
      </p:sp>
      <p:sp>
        <p:nvSpPr>
          <p:cNvPr id="12" name="Text 10"/>
          <p:cNvSpPr/>
          <p:nvPr/>
        </p:nvSpPr>
        <p:spPr>
          <a:xfrm>
            <a:off x="640080" y="1810512"/>
            <a:ext cx="1737360" cy="329184"/>
          </a:xfrm>
          <a:prstGeom prst="rect">
            <a:avLst/>
          </a:prstGeom>
          <a:noFill/>
          <a:ln/>
        </p:spPr>
        <p:txBody>
          <a:bodyPr wrap="square" lIns="0" tIns="0" rIns="0" bIns="0" rtlCol="0" anchor="ctr"/>
          <a:lstStyle/>
          <a:p>
            <a:pPr marL="0" indent="0" algn="l">
              <a:buNone/>
            </a:pPr>
            <a:r>
              <a:rPr lang="en-US" sz="1150" b="1" dirty="0">
                <a:solidFill>
                  <a:srgbClr val="1C1F26"/>
                </a:solidFill>
                <a:latin typeface="Calibri" pitchFamily="34" charset="0"/>
                <a:ea typeface="Calibri" pitchFamily="34" charset="-122"/>
                <a:cs typeface="Calibri" pitchFamily="34" charset="-120"/>
              </a:rPr>
              <a:t>EW-L1-N1</a:t>
            </a:r>
            <a:endParaRPr lang="en-US" sz="1150" dirty="0"/>
          </a:p>
        </p:txBody>
      </p:sp>
      <p:sp>
        <p:nvSpPr>
          <p:cNvPr id="13" name="Text 11"/>
          <p:cNvSpPr/>
          <p:nvPr/>
        </p:nvSpPr>
        <p:spPr>
          <a:xfrm>
            <a:off x="2377440" y="1810512"/>
            <a:ext cx="3657600" cy="329184"/>
          </a:xfrm>
          <a:prstGeom prst="rect">
            <a:avLst/>
          </a:prstGeom>
          <a:noFill/>
          <a:ln/>
        </p:spPr>
        <p:txBody>
          <a:bodyPr wrap="square" lIns="0" tIns="0" rIns="0" bIns="0" rtlCol="0" anchor="ctr"/>
          <a:lstStyle/>
          <a:p>
            <a:pPr marL="0" indent="0" algn="l">
              <a:buNone/>
            </a:pPr>
            <a:r>
              <a:rPr lang="en-US" sz="1150" dirty="0">
                <a:solidFill>
                  <a:srgbClr val="6E7781"/>
                </a:solidFill>
                <a:latin typeface="Calibri" pitchFamily="34" charset="0"/>
                <a:ea typeface="Calibri" pitchFamily="34" charset="-122"/>
                <a:cs typeface="Calibri" pitchFamily="34" charset="-120"/>
              </a:rPr>
              <a:t>opening x 1200→1800</a:t>
            </a:r>
            <a:endParaRPr lang="en-US" sz="1150" dirty="0"/>
          </a:p>
        </p:txBody>
      </p:sp>
      <p:sp>
        <p:nvSpPr>
          <p:cNvPr id="14" name="Text 12"/>
          <p:cNvSpPr/>
          <p:nvPr/>
        </p:nvSpPr>
        <p:spPr>
          <a:xfrm>
            <a:off x="6035040" y="1810512"/>
            <a:ext cx="1828800" cy="329184"/>
          </a:xfrm>
          <a:prstGeom prst="rect">
            <a:avLst/>
          </a:prstGeom>
          <a:noFill/>
          <a:ln/>
        </p:spPr>
        <p:txBody>
          <a:bodyPr wrap="square" lIns="0" tIns="0" rIns="0" bIns="0" rtlCol="0" anchor="ctr"/>
          <a:lstStyle/>
          <a:p>
            <a:pPr marL="0" indent="0" algn="r">
              <a:buNone/>
            </a:pPr>
            <a:r>
              <a:rPr lang="en-US" sz="1150" dirty="0">
                <a:solidFill>
                  <a:srgbClr val="6E7781"/>
                </a:solidFill>
                <a:latin typeface="Calibri" pitchFamily="34" charset="0"/>
                <a:ea typeface="Calibri" pitchFamily="34" charset="-122"/>
                <a:cs typeface="Calibri" pitchFamily="34" charset="-120"/>
              </a:rPr>
              <a:t>installed</a:t>
            </a:r>
            <a:endParaRPr lang="en-US" sz="1150" dirty="0"/>
          </a:p>
        </p:txBody>
      </p:sp>
      <p:sp>
        <p:nvSpPr>
          <p:cNvPr id="15" name="Text 13"/>
          <p:cNvSpPr/>
          <p:nvPr/>
        </p:nvSpPr>
        <p:spPr>
          <a:xfrm>
            <a:off x="7863840" y="1810512"/>
            <a:ext cx="2194560" cy="329184"/>
          </a:xfrm>
          <a:prstGeom prst="rect">
            <a:avLst/>
          </a:prstGeom>
          <a:noFill/>
          <a:ln/>
        </p:spPr>
        <p:txBody>
          <a:bodyPr wrap="square" lIns="0" tIns="0" rIns="0" bIns="0" rtlCol="0" anchor="ctr"/>
          <a:lstStyle/>
          <a:p>
            <a:pPr marL="0" indent="0" algn="r">
              <a:buNone/>
            </a:pPr>
            <a:r>
              <a:rPr lang="en-US" sz="1150" dirty="0">
                <a:solidFill>
                  <a:srgbClr val="6E7781"/>
                </a:solidFill>
                <a:latin typeface="Calibri" pitchFamily="34" charset="0"/>
                <a:ea typeface="Calibri" pitchFamily="34" charset="-122"/>
                <a:cs typeface="Calibri" pitchFamily="34" charset="-120"/>
              </a:rPr>
              <a:t>escalate</a:t>
            </a:r>
            <a:endParaRPr lang="en-US" sz="1150" dirty="0"/>
          </a:p>
        </p:txBody>
      </p:sp>
      <p:sp>
        <p:nvSpPr>
          <p:cNvPr id="16" name="Text 14"/>
          <p:cNvSpPr/>
          <p:nvPr/>
        </p:nvSpPr>
        <p:spPr>
          <a:xfrm>
            <a:off x="10058400" y="1810512"/>
            <a:ext cx="1463040" cy="329184"/>
          </a:xfrm>
          <a:prstGeom prst="rect">
            <a:avLst/>
          </a:prstGeom>
          <a:noFill/>
          <a:ln/>
        </p:spPr>
        <p:txBody>
          <a:bodyPr wrap="square" lIns="0" tIns="0" rIns="0" bIns="0" rtlCol="0" anchor="ctr"/>
          <a:lstStyle/>
          <a:p>
            <a:pPr marL="0" indent="0" algn="r">
              <a:buNone/>
            </a:pPr>
            <a:r>
              <a:rPr lang="en-US" sz="1150" dirty="0">
                <a:solidFill>
                  <a:srgbClr val="6E7781"/>
                </a:solidFill>
                <a:latin typeface="Calibri" pitchFamily="34" charset="0"/>
                <a:ea typeface="Calibri" pitchFamily="34" charset="-122"/>
                <a:cs typeface="Calibri" pitchFamily="34" charset="-120"/>
              </a:rPr>
              <a:t>TBC</a:t>
            </a:r>
            <a:endParaRPr lang="en-US" sz="1150" dirty="0"/>
          </a:p>
        </p:txBody>
      </p:sp>
      <p:sp>
        <p:nvSpPr>
          <p:cNvPr id="17" name="Text 15"/>
          <p:cNvSpPr/>
          <p:nvPr/>
        </p:nvSpPr>
        <p:spPr>
          <a:xfrm>
            <a:off x="640080" y="2194560"/>
            <a:ext cx="1737360" cy="329184"/>
          </a:xfrm>
          <a:prstGeom prst="rect">
            <a:avLst/>
          </a:prstGeom>
          <a:noFill/>
          <a:ln/>
        </p:spPr>
        <p:txBody>
          <a:bodyPr wrap="square" lIns="0" tIns="0" rIns="0" bIns="0" rtlCol="0" anchor="ctr"/>
          <a:lstStyle/>
          <a:p>
            <a:pPr marL="0" indent="0" algn="l">
              <a:buNone/>
            </a:pPr>
            <a:r>
              <a:rPr lang="en-US" sz="1150" b="1" dirty="0">
                <a:solidFill>
                  <a:srgbClr val="1C1F26"/>
                </a:solidFill>
                <a:latin typeface="Calibri" pitchFamily="34" charset="0"/>
                <a:ea typeface="Calibri" pitchFamily="34" charset="-122"/>
                <a:cs typeface="Calibri" pitchFamily="34" charset="-120"/>
              </a:rPr>
              <a:t>EW-L1-E1</a:t>
            </a:r>
            <a:endParaRPr lang="en-US" sz="1150" dirty="0"/>
          </a:p>
        </p:txBody>
      </p:sp>
      <p:sp>
        <p:nvSpPr>
          <p:cNvPr id="18" name="Text 16"/>
          <p:cNvSpPr/>
          <p:nvPr/>
        </p:nvSpPr>
        <p:spPr>
          <a:xfrm>
            <a:off x="2377440" y="2194560"/>
            <a:ext cx="3657600" cy="329184"/>
          </a:xfrm>
          <a:prstGeom prst="rect">
            <a:avLst/>
          </a:prstGeom>
          <a:noFill/>
          <a:ln/>
        </p:spPr>
        <p:txBody>
          <a:bodyPr wrap="square" lIns="0" tIns="0" rIns="0" bIns="0" rtlCol="0" anchor="ctr"/>
          <a:lstStyle/>
          <a:p>
            <a:pPr marL="0" indent="0" algn="l">
              <a:buNone/>
            </a:pPr>
            <a:r>
              <a:rPr lang="en-US" sz="1150" dirty="0">
                <a:solidFill>
                  <a:srgbClr val="6E7781"/>
                </a:solidFill>
                <a:latin typeface="Calibri" pitchFamily="34" charset="0"/>
                <a:ea typeface="Calibri" pitchFamily="34" charset="-122"/>
                <a:cs typeface="Calibri" pitchFamily="34" charset="-120"/>
              </a:rPr>
              <a:t>opening x 1800→2400</a:t>
            </a:r>
            <a:endParaRPr lang="en-US" sz="1150" dirty="0"/>
          </a:p>
        </p:txBody>
      </p:sp>
      <p:sp>
        <p:nvSpPr>
          <p:cNvPr id="19" name="Text 17"/>
          <p:cNvSpPr/>
          <p:nvPr/>
        </p:nvSpPr>
        <p:spPr>
          <a:xfrm>
            <a:off x="6035040" y="2194560"/>
            <a:ext cx="1828800" cy="329184"/>
          </a:xfrm>
          <a:prstGeom prst="rect">
            <a:avLst/>
          </a:prstGeom>
          <a:noFill/>
          <a:ln/>
        </p:spPr>
        <p:txBody>
          <a:bodyPr wrap="square" lIns="0" tIns="0" rIns="0" bIns="0" rtlCol="0" anchor="ctr"/>
          <a:lstStyle/>
          <a:p>
            <a:pPr marL="0" indent="0" algn="r">
              <a:buNone/>
            </a:pPr>
            <a:r>
              <a:rPr lang="en-US" sz="1150" dirty="0">
                <a:solidFill>
                  <a:srgbClr val="6E7781"/>
                </a:solidFill>
                <a:latin typeface="Calibri" pitchFamily="34" charset="0"/>
                <a:ea typeface="Calibri" pitchFamily="34" charset="-122"/>
                <a:cs typeface="Calibri" pitchFamily="34" charset="-120"/>
              </a:rPr>
              <a:t>manufactured</a:t>
            </a:r>
            <a:endParaRPr lang="en-US" sz="1150" dirty="0"/>
          </a:p>
        </p:txBody>
      </p:sp>
      <p:sp>
        <p:nvSpPr>
          <p:cNvPr id="20" name="Text 18"/>
          <p:cNvSpPr/>
          <p:nvPr/>
        </p:nvSpPr>
        <p:spPr>
          <a:xfrm>
            <a:off x="7863840" y="2194560"/>
            <a:ext cx="2194560" cy="329184"/>
          </a:xfrm>
          <a:prstGeom prst="rect">
            <a:avLst/>
          </a:prstGeom>
          <a:noFill/>
          <a:ln/>
        </p:spPr>
        <p:txBody>
          <a:bodyPr wrap="square" lIns="0" tIns="0" rIns="0" bIns="0" rtlCol="0" anchor="ctr"/>
          <a:lstStyle/>
          <a:p>
            <a:pPr marL="0" indent="0" algn="r">
              <a:buNone/>
            </a:pPr>
            <a:r>
              <a:rPr lang="en-US" sz="1150" dirty="0">
                <a:solidFill>
                  <a:srgbClr val="6E7781"/>
                </a:solidFill>
                <a:latin typeface="Calibri" pitchFamily="34" charset="0"/>
                <a:ea typeface="Calibri" pitchFamily="34" charset="-122"/>
                <a:cs typeface="Calibri" pitchFamily="34" charset="-120"/>
              </a:rPr>
              <a:t>remake</a:t>
            </a:r>
            <a:endParaRPr lang="en-US" sz="1150" dirty="0"/>
          </a:p>
        </p:txBody>
      </p:sp>
      <p:sp>
        <p:nvSpPr>
          <p:cNvPr id="21" name="Text 19"/>
          <p:cNvSpPr/>
          <p:nvPr/>
        </p:nvSpPr>
        <p:spPr>
          <a:xfrm>
            <a:off x="10058400" y="2194560"/>
            <a:ext cx="1463040" cy="329184"/>
          </a:xfrm>
          <a:prstGeom prst="rect">
            <a:avLst/>
          </a:prstGeom>
          <a:noFill/>
          <a:ln/>
        </p:spPr>
        <p:txBody>
          <a:bodyPr wrap="square" lIns="0" tIns="0" rIns="0" bIns="0" rtlCol="0" anchor="ctr"/>
          <a:lstStyle/>
          <a:p>
            <a:pPr marL="0" indent="0" algn="r">
              <a:buNone/>
            </a:pPr>
            <a:r>
              <a:rPr lang="en-US" sz="1150" dirty="0">
                <a:solidFill>
                  <a:srgbClr val="6E7781"/>
                </a:solidFill>
                <a:latin typeface="Calibri" pitchFamily="34" charset="0"/>
                <a:ea typeface="Calibri" pitchFamily="34" charset="-122"/>
                <a:cs typeface="Calibri" pitchFamily="34" charset="-120"/>
              </a:rPr>
              <a:t>£180</a:t>
            </a:r>
            <a:endParaRPr lang="en-US" sz="1150" dirty="0"/>
          </a:p>
        </p:txBody>
      </p:sp>
      <p:sp>
        <p:nvSpPr>
          <p:cNvPr id="22" name="Text 20"/>
          <p:cNvSpPr/>
          <p:nvPr/>
        </p:nvSpPr>
        <p:spPr>
          <a:xfrm>
            <a:off x="640080" y="2578608"/>
            <a:ext cx="1737360" cy="329184"/>
          </a:xfrm>
          <a:prstGeom prst="rect">
            <a:avLst/>
          </a:prstGeom>
          <a:noFill/>
          <a:ln/>
        </p:spPr>
        <p:txBody>
          <a:bodyPr wrap="square" lIns="0" tIns="0" rIns="0" bIns="0" rtlCol="0" anchor="ctr"/>
          <a:lstStyle/>
          <a:p>
            <a:pPr marL="0" indent="0" algn="l">
              <a:buNone/>
            </a:pPr>
            <a:r>
              <a:rPr lang="en-US" sz="1150" b="1" dirty="0">
                <a:solidFill>
                  <a:srgbClr val="1C1F26"/>
                </a:solidFill>
                <a:latin typeface="Calibri" pitchFamily="34" charset="0"/>
                <a:ea typeface="Calibri" pitchFamily="34" charset="-122"/>
                <a:cs typeface="Calibri" pitchFamily="34" charset="-120"/>
              </a:rPr>
              <a:t>EW-L1-W1</a:t>
            </a:r>
            <a:endParaRPr lang="en-US" sz="1150" dirty="0"/>
          </a:p>
        </p:txBody>
      </p:sp>
      <p:sp>
        <p:nvSpPr>
          <p:cNvPr id="23" name="Text 21"/>
          <p:cNvSpPr/>
          <p:nvPr/>
        </p:nvSpPr>
        <p:spPr>
          <a:xfrm>
            <a:off x="2377440" y="2578608"/>
            <a:ext cx="3657600" cy="329184"/>
          </a:xfrm>
          <a:prstGeom prst="rect">
            <a:avLst/>
          </a:prstGeom>
          <a:noFill/>
          <a:ln/>
        </p:spPr>
        <p:txBody>
          <a:bodyPr wrap="square" lIns="0" tIns="0" rIns="0" bIns="0" rtlCol="0" anchor="ctr"/>
          <a:lstStyle/>
          <a:p>
            <a:pPr marL="0" indent="0" algn="l">
              <a:buNone/>
            </a:pPr>
            <a:r>
              <a:rPr lang="en-US" sz="1150" dirty="0">
                <a:solidFill>
                  <a:srgbClr val="6E7781"/>
                </a:solidFill>
                <a:latin typeface="Calibri" pitchFamily="34" charset="0"/>
                <a:ea typeface="Calibri" pitchFamily="34" charset="-122"/>
                <a:cs typeface="Calibri" pitchFamily="34" charset="-120"/>
              </a:rPr>
              <a:t>width 4800→4200</a:t>
            </a:r>
            <a:endParaRPr lang="en-US" sz="1150" dirty="0"/>
          </a:p>
        </p:txBody>
      </p:sp>
      <p:sp>
        <p:nvSpPr>
          <p:cNvPr id="24" name="Text 22"/>
          <p:cNvSpPr/>
          <p:nvPr/>
        </p:nvSpPr>
        <p:spPr>
          <a:xfrm>
            <a:off x="6035040" y="2578608"/>
            <a:ext cx="1828800" cy="329184"/>
          </a:xfrm>
          <a:prstGeom prst="rect">
            <a:avLst/>
          </a:prstGeom>
          <a:noFill/>
          <a:ln/>
        </p:spPr>
        <p:txBody>
          <a:bodyPr wrap="square" lIns="0" tIns="0" rIns="0" bIns="0" rtlCol="0" anchor="ctr"/>
          <a:lstStyle/>
          <a:p>
            <a:pPr marL="0" indent="0" algn="r">
              <a:buNone/>
            </a:pPr>
            <a:r>
              <a:rPr lang="en-US" sz="1150" dirty="0">
                <a:solidFill>
                  <a:srgbClr val="6E7781"/>
                </a:solidFill>
                <a:latin typeface="Calibri" pitchFamily="34" charset="0"/>
                <a:ea typeface="Calibri" pitchFamily="34" charset="-122"/>
                <a:cs typeface="Calibri" pitchFamily="34" charset="-120"/>
              </a:rPr>
              <a:t>manufactured</a:t>
            </a:r>
            <a:endParaRPr lang="en-US" sz="1150" dirty="0"/>
          </a:p>
        </p:txBody>
      </p:sp>
      <p:sp>
        <p:nvSpPr>
          <p:cNvPr id="25" name="Text 23"/>
          <p:cNvSpPr/>
          <p:nvPr/>
        </p:nvSpPr>
        <p:spPr>
          <a:xfrm>
            <a:off x="7863840" y="2578608"/>
            <a:ext cx="2194560" cy="329184"/>
          </a:xfrm>
          <a:prstGeom prst="rect">
            <a:avLst/>
          </a:prstGeom>
          <a:noFill/>
          <a:ln/>
        </p:spPr>
        <p:txBody>
          <a:bodyPr wrap="square" lIns="0" tIns="0" rIns="0" bIns="0" rtlCol="0" anchor="ctr"/>
          <a:lstStyle/>
          <a:p>
            <a:pPr marL="0" indent="0" algn="r">
              <a:buNone/>
            </a:pPr>
            <a:r>
              <a:rPr lang="en-US" sz="1150" dirty="0">
                <a:solidFill>
                  <a:srgbClr val="6E7781"/>
                </a:solidFill>
                <a:latin typeface="Calibri" pitchFamily="34" charset="0"/>
                <a:ea typeface="Calibri" pitchFamily="34" charset="-122"/>
                <a:cs typeface="Calibri" pitchFamily="34" charset="-120"/>
              </a:rPr>
              <a:t>remake</a:t>
            </a:r>
            <a:endParaRPr lang="en-US" sz="1150" dirty="0"/>
          </a:p>
        </p:txBody>
      </p:sp>
      <p:sp>
        <p:nvSpPr>
          <p:cNvPr id="26" name="Text 24"/>
          <p:cNvSpPr/>
          <p:nvPr/>
        </p:nvSpPr>
        <p:spPr>
          <a:xfrm>
            <a:off x="10058400" y="2578608"/>
            <a:ext cx="1463040" cy="329184"/>
          </a:xfrm>
          <a:prstGeom prst="rect">
            <a:avLst/>
          </a:prstGeom>
          <a:noFill/>
          <a:ln/>
        </p:spPr>
        <p:txBody>
          <a:bodyPr wrap="square" lIns="0" tIns="0" rIns="0" bIns="0" rtlCol="0" anchor="ctr"/>
          <a:lstStyle/>
          <a:p>
            <a:pPr marL="0" indent="0" algn="r">
              <a:buNone/>
            </a:pPr>
            <a:r>
              <a:rPr lang="en-US" sz="1150" dirty="0">
                <a:solidFill>
                  <a:srgbClr val="6E7781"/>
                </a:solidFill>
                <a:latin typeface="Calibri" pitchFamily="34" charset="0"/>
                <a:ea typeface="Calibri" pitchFamily="34" charset="-122"/>
                <a:cs typeface="Calibri" pitchFamily="34" charset="-120"/>
              </a:rPr>
              <a:t>£180</a:t>
            </a:r>
            <a:endParaRPr lang="en-US" sz="1150" dirty="0"/>
          </a:p>
        </p:txBody>
      </p:sp>
      <p:sp>
        <p:nvSpPr>
          <p:cNvPr id="27" name="Text 25"/>
          <p:cNvSpPr/>
          <p:nvPr/>
        </p:nvSpPr>
        <p:spPr>
          <a:xfrm>
            <a:off x="640080" y="2962656"/>
            <a:ext cx="1737360" cy="329184"/>
          </a:xfrm>
          <a:prstGeom prst="rect">
            <a:avLst/>
          </a:prstGeom>
          <a:noFill/>
          <a:ln/>
        </p:spPr>
        <p:txBody>
          <a:bodyPr wrap="square" lIns="0" tIns="0" rIns="0" bIns="0" rtlCol="0" anchor="ctr"/>
          <a:lstStyle/>
          <a:p>
            <a:pPr marL="0" indent="0" algn="l">
              <a:buNone/>
            </a:pPr>
            <a:r>
              <a:rPr lang="en-US" sz="1150" b="1" dirty="0">
                <a:solidFill>
                  <a:srgbClr val="1C1F26"/>
                </a:solidFill>
                <a:latin typeface="Calibri" pitchFamily="34" charset="0"/>
                <a:ea typeface="Calibri" pitchFamily="34" charset="-122"/>
                <a:cs typeface="Calibri" pitchFamily="34" charset="-120"/>
              </a:rPr>
              <a:t>IW-L1-01</a:t>
            </a:r>
            <a:endParaRPr lang="en-US" sz="1150" dirty="0"/>
          </a:p>
        </p:txBody>
      </p:sp>
      <p:sp>
        <p:nvSpPr>
          <p:cNvPr id="28" name="Text 26"/>
          <p:cNvSpPr/>
          <p:nvPr/>
        </p:nvSpPr>
        <p:spPr>
          <a:xfrm>
            <a:off x="2377440" y="2962656"/>
            <a:ext cx="3657600" cy="329184"/>
          </a:xfrm>
          <a:prstGeom prst="rect">
            <a:avLst/>
          </a:prstGeom>
          <a:noFill/>
          <a:ln/>
        </p:spPr>
        <p:txBody>
          <a:bodyPr wrap="square" lIns="0" tIns="0" rIns="0" bIns="0" rtlCol="0" anchor="ctr"/>
          <a:lstStyle/>
          <a:p>
            <a:pPr marL="0" indent="0" algn="l">
              <a:buNone/>
            </a:pPr>
            <a:r>
              <a:rPr lang="en-US" sz="1150" dirty="0">
                <a:solidFill>
                  <a:srgbClr val="6E7781"/>
                </a:solidFill>
                <a:latin typeface="Calibri" pitchFamily="34" charset="0"/>
                <a:ea typeface="Calibri" pitchFamily="34" charset="-122"/>
                <a:cs typeface="Calibri" pitchFamily="34" charset="-120"/>
              </a:rPr>
              <a:t>height 2700→2750, weight unchanged</a:t>
            </a:r>
            <a:endParaRPr lang="en-US" sz="1150" dirty="0"/>
          </a:p>
        </p:txBody>
      </p:sp>
      <p:sp>
        <p:nvSpPr>
          <p:cNvPr id="29" name="Text 27"/>
          <p:cNvSpPr/>
          <p:nvPr/>
        </p:nvSpPr>
        <p:spPr>
          <a:xfrm>
            <a:off x="6035040" y="2962656"/>
            <a:ext cx="1828800" cy="329184"/>
          </a:xfrm>
          <a:prstGeom prst="rect">
            <a:avLst/>
          </a:prstGeom>
          <a:noFill/>
          <a:ln/>
        </p:spPr>
        <p:txBody>
          <a:bodyPr wrap="square" lIns="0" tIns="0" rIns="0" bIns="0" rtlCol="0" anchor="ctr"/>
          <a:lstStyle/>
          <a:p>
            <a:pPr marL="0" indent="0" algn="r">
              <a:buNone/>
            </a:pPr>
            <a:r>
              <a:rPr lang="en-US" sz="1150" dirty="0">
                <a:solidFill>
                  <a:srgbClr val="6E7781"/>
                </a:solidFill>
                <a:latin typeface="Calibri" pitchFamily="34" charset="0"/>
                <a:ea typeface="Calibri" pitchFamily="34" charset="-122"/>
                <a:cs typeface="Calibri" pitchFamily="34" charset="-120"/>
              </a:rPr>
              <a:t>manufactured</a:t>
            </a:r>
            <a:endParaRPr lang="en-US" sz="1150" dirty="0"/>
          </a:p>
        </p:txBody>
      </p:sp>
      <p:sp>
        <p:nvSpPr>
          <p:cNvPr id="30" name="Text 28"/>
          <p:cNvSpPr/>
          <p:nvPr/>
        </p:nvSpPr>
        <p:spPr>
          <a:xfrm>
            <a:off x="7863840" y="2962656"/>
            <a:ext cx="2194560" cy="329184"/>
          </a:xfrm>
          <a:prstGeom prst="rect">
            <a:avLst/>
          </a:prstGeom>
          <a:noFill/>
          <a:ln/>
        </p:spPr>
        <p:txBody>
          <a:bodyPr wrap="square" lIns="0" tIns="0" rIns="0" bIns="0" rtlCol="0" anchor="ctr"/>
          <a:lstStyle/>
          <a:p>
            <a:pPr marL="0" indent="0" algn="r">
              <a:buNone/>
            </a:pPr>
            <a:r>
              <a:rPr lang="en-US" sz="1150" dirty="0">
                <a:solidFill>
                  <a:srgbClr val="6E7781"/>
                </a:solidFill>
                <a:latin typeface="Calibri" pitchFamily="34" charset="0"/>
                <a:ea typeface="Calibri" pitchFamily="34" charset="-122"/>
                <a:cs typeface="Calibri" pitchFamily="34" charset="-120"/>
              </a:rPr>
              <a:t>remake + suspect</a:t>
            </a:r>
            <a:endParaRPr lang="en-US" sz="1150" dirty="0"/>
          </a:p>
        </p:txBody>
      </p:sp>
      <p:sp>
        <p:nvSpPr>
          <p:cNvPr id="31" name="Text 29"/>
          <p:cNvSpPr/>
          <p:nvPr/>
        </p:nvSpPr>
        <p:spPr>
          <a:xfrm>
            <a:off x="10058400" y="2962656"/>
            <a:ext cx="1463040" cy="329184"/>
          </a:xfrm>
          <a:prstGeom prst="rect">
            <a:avLst/>
          </a:prstGeom>
          <a:noFill/>
          <a:ln/>
        </p:spPr>
        <p:txBody>
          <a:bodyPr wrap="square" lIns="0" tIns="0" rIns="0" bIns="0" rtlCol="0" anchor="ctr"/>
          <a:lstStyle/>
          <a:p>
            <a:pPr marL="0" indent="0" algn="r">
              <a:buNone/>
            </a:pPr>
            <a:r>
              <a:rPr lang="en-US" sz="1150" dirty="0">
                <a:solidFill>
                  <a:srgbClr val="6E7781"/>
                </a:solidFill>
                <a:latin typeface="Calibri" pitchFamily="34" charset="0"/>
                <a:ea typeface="Calibri" pitchFamily="34" charset="-122"/>
                <a:cs typeface="Calibri" pitchFamily="34" charset="-120"/>
              </a:rPr>
              <a:t>£180</a:t>
            </a:r>
            <a:endParaRPr lang="en-US" sz="1150" dirty="0"/>
          </a:p>
        </p:txBody>
      </p:sp>
      <p:sp>
        <p:nvSpPr>
          <p:cNvPr id="32" name="Text 30"/>
          <p:cNvSpPr/>
          <p:nvPr/>
        </p:nvSpPr>
        <p:spPr>
          <a:xfrm>
            <a:off x="640080" y="3346704"/>
            <a:ext cx="1737360" cy="329184"/>
          </a:xfrm>
          <a:prstGeom prst="rect">
            <a:avLst/>
          </a:prstGeom>
          <a:noFill/>
          <a:ln/>
        </p:spPr>
        <p:txBody>
          <a:bodyPr wrap="square" lIns="0" tIns="0" rIns="0" bIns="0" rtlCol="0" anchor="ctr"/>
          <a:lstStyle/>
          <a:p>
            <a:pPr marL="0" indent="0" algn="l">
              <a:buNone/>
            </a:pPr>
            <a:r>
              <a:rPr lang="en-US" sz="1150" b="1" dirty="0">
                <a:solidFill>
                  <a:srgbClr val="1C1F26"/>
                </a:solidFill>
                <a:latin typeface="Calibri" pitchFamily="34" charset="0"/>
                <a:ea typeface="Calibri" pitchFamily="34" charset="-122"/>
                <a:cs typeface="Calibri" pitchFamily="34" charset="-120"/>
              </a:rPr>
              <a:t>FC-01</a:t>
            </a:r>
            <a:endParaRPr lang="en-US" sz="1150" dirty="0"/>
          </a:p>
        </p:txBody>
      </p:sp>
      <p:sp>
        <p:nvSpPr>
          <p:cNvPr id="33" name="Text 31"/>
          <p:cNvSpPr/>
          <p:nvPr/>
        </p:nvSpPr>
        <p:spPr>
          <a:xfrm>
            <a:off x="2377440" y="3346704"/>
            <a:ext cx="3657600" cy="329184"/>
          </a:xfrm>
          <a:prstGeom prst="rect">
            <a:avLst/>
          </a:prstGeom>
          <a:noFill/>
          <a:ln/>
        </p:spPr>
        <p:txBody>
          <a:bodyPr wrap="square" lIns="0" tIns="0" rIns="0" bIns="0" rtlCol="0" anchor="ctr"/>
          <a:lstStyle/>
          <a:p>
            <a:pPr marL="0" indent="0" algn="l">
              <a:buNone/>
            </a:pPr>
            <a:r>
              <a:rPr lang="en-US" sz="1150" dirty="0">
                <a:solidFill>
                  <a:srgbClr val="6E7781"/>
                </a:solidFill>
                <a:latin typeface="Calibri" pitchFamily="34" charset="0"/>
                <a:ea typeface="Calibri" pitchFamily="34" charset="-122"/>
                <a:cs typeface="Calibri" pitchFamily="34" charset="-120"/>
              </a:rPr>
              <a:t>span 4800→4200</a:t>
            </a:r>
            <a:endParaRPr lang="en-US" sz="1150" dirty="0"/>
          </a:p>
        </p:txBody>
      </p:sp>
      <p:sp>
        <p:nvSpPr>
          <p:cNvPr id="34" name="Text 32"/>
          <p:cNvSpPr/>
          <p:nvPr/>
        </p:nvSpPr>
        <p:spPr>
          <a:xfrm>
            <a:off x="6035040" y="3346704"/>
            <a:ext cx="1828800" cy="329184"/>
          </a:xfrm>
          <a:prstGeom prst="rect">
            <a:avLst/>
          </a:prstGeom>
          <a:noFill/>
          <a:ln/>
        </p:spPr>
        <p:txBody>
          <a:bodyPr wrap="square" lIns="0" tIns="0" rIns="0" bIns="0" rtlCol="0" anchor="ctr"/>
          <a:lstStyle/>
          <a:p>
            <a:pPr marL="0" indent="0" algn="r">
              <a:buNone/>
            </a:pPr>
            <a:r>
              <a:rPr lang="en-US" sz="1150" dirty="0">
                <a:solidFill>
                  <a:srgbClr val="6E7781"/>
                </a:solidFill>
                <a:latin typeface="Calibri" pitchFamily="34" charset="0"/>
                <a:ea typeface="Calibri" pitchFamily="34" charset="-122"/>
                <a:cs typeface="Calibri" pitchFamily="34" charset="-120"/>
              </a:rPr>
              <a:t>manufactured</a:t>
            </a:r>
            <a:endParaRPr lang="en-US" sz="1150" dirty="0"/>
          </a:p>
        </p:txBody>
      </p:sp>
      <p:sp>
        <p:nvSpPr>
          <p:cNvPr id="35" name="Text 33"/>
          <p:cNvSpPr/>
          <p:nvPr/>
        </p:nvSpPr>
        <p:spPr>
          <a:xfrm>
            <a:off x="7863840" y="3346704"/>
            <a:ext cx="2194560" cy="329184"/>
          </a:xfrm>
          <a:prstGeom prst="rect">
            <a:avLst/>
          </a:prstGeom>
          <a:noFill/>
          <a:ln/>
        </p:spPr>
        <p:txBody>
          <a:bodyPr wrap="square" lIns="0" tIns="0" rIns="0" bIns="0" rtlCol="0" anchor="ctr"/>
          <a:lstStyle/>
          <a:p>
            <a:pPr marL="0" indent="0" algn="r">
              <a:buNone/>
            </a:pPr>
            <a:r>
              <a:rPr lang="en-US" sz="1150" dirty="0">
                <a:solidFill>
                  <a:srgbClr val="6E7781"/>
                </a:solidFill>
                <a:latin typeface="Calibri" pitchFamily="34" charset="0"/>
                <a:ea typeface="Calibri" pitchFamily="34" charset="-122"/>
                <a:cs typeface="Calibri" pitchFamily="34" charset="-120"/>
              </a:rPr>
              <a:t>remake</a:t>
            </a:r>
            <a:endParaRPr lang="en-US" sz="1150" dirty="0"/>
          </a:p>
        </p:txBody>
      </p:sp>
      <p:sp>
        <p:nvSpPr>
          <p:cNvPr id="36" name="Text 34"/>
          <p:cNvSpPr/>
          <p:nvPr/>
        </p:nvSpPr>
        <p:spPr>
          <a:xfrm>
            <a:off x="10058400" y="3346704"/>
            <a:ext cx="1463040" cy="329184"/>
          </a:xfrm>
          <a:prstGeom prst="rect">
            <a:avLst/>
          </a:prstGeom>
          <a:noFill/>
          <a:ln/>
        </p:spPr>
        <p:txBody>
          <a:bodyPr wrap="square" lIns="0" tIns="0" rIns="0" bIns="0" rtlCol="0" anchor="ctr"/>
          <a:lstStyle/>
          <a:p>
            <a:pPr marL="0" indent="0" algn="r">
              <a:buNone/>
            </a:pPr>
            <a:r>
              <a:rPr lang="en-US" sz="1150" dirty="0">
                <a:solidFill>
                  <a:srgbClr val="6E7781"/>
                </a:solidFill>
                <a:latin typeface="Calibri" pitchFamily="34" charset="0"/>
                <a:ea typeface="Calibri" pitchFamily="34" charset="-122"/>
                <a:cs typeface="Calibri" pitchFamily="34" charset="-120"/>
              </a:rPr>
              <a:t>£180</a:t>
            </a:r>
            <a:endParaRPr lang="en-US" sz="1150" dirty="0"/>
          </a:p>
        </p:txBody>
      </p:sp>
      <p:sp>
        <p:nvSpPr>
          <p:cNvPr id="37" name="Text 35"/>
          <p:cNvSpPr/>
          <p:nvPr/>
        </p:nvSpPr>
        <p:spPr>
          <a:xfrm>
            <a:off x="640080" y="3730752"/>
            <a:ext cx="1737360" cy="329184"/>
          </a:xfrm>
          <a:prstGeom prst="rect">
            <a:avLst/>
          </a:prstGeom>
          <a:noFill/>
          <a:ln/>
        </p:spPr>
        <p:txBody>
          <a:bodyPr wrap="square" lIns="0" tIns="0" rIns="0" bIns="0" rtlCol="0" anchor="ctr"/>
          <a:lstStyle/>
          <a:p>
            <a:pPr marL="0" indent="0" algn="l">
              <a:buNone/>
            </a:pPr>
            <a:r>
              <a:rPr lang="en-US" sz="1150" b="1" dirty="0">
                <a:solidFill>
                  <a:srgbClr val="1C1F26"/>
                </a:solidFill>
                <a:latin typeface="Calibri" pitchFamily="34" charset="0"/>
                <a:ea typeface="Calibri" pitchFamily="34" charset="-122"/>
                <a:cs typeface="Calibri" pitchFamily="34" charset="-120"/>
              </a:rPr>
              <a:t>EW-L1-N2</a:t>
            </a:r>
            <a:endParaRPr lang="en-US" sz="1150" dirty="0"/>
          </a:p>
        </p:txBody>
      </p:sp>
      <p:sp>
        <p:nvSpPr>
          <p:cNvPr id="38" name="Text 36"/>
          <p:cNvSpPr/>
          <p:nvPr/>
        </p:nvSpPr>
        <p:spPr>
          <a:xfrm>
            <a:off x="2377440" y="3730752"/>
            <a:ext cx="3657600" cy="329184"/>
          </a:xfrm>
          <a:prstGeom prst="rect">
            <a:avLst/>
          </a:prstGeom>
          <a:noFill/>
          <a:ln/>
        </p:spPr>
        <p:txBody>
          <a:bodyPr wrap="square" lIns="0" tIns="0" rIns="0" bIns="0" rtlCol="0" anchor="ctr"/>
          <a:lstStyle/>
          <a:p>
            <a:pPr marL="0" indent="0" algn="l">
              <a:buNone/>
            </a:pPr>
            <a:r>
              <a:rPr lang="en-US" sz="1150" dirty="0">
                <a:solidFill>
                  <a:srgbClr val="6E7781"/>
                </a:solidFill>
                <a:latin typeface="Calibri" pitchFamily="34" charset="0"/>
                <a:ea typeface="Calibri" pitchFamily="34" charset="-122"/>
                <a:cs typeface="Calibri" pitchFamily="34" charset="-120"/>
              </a:rPr>
              <a:t>opening x 600→900</a:t>
            </a:r>
            <a:endParaRPr lang="en-US" sz="1150" dirty="0"/>
          </a:p>
        </p:txBody>
      </p:sp>
      <p:sp>
        <p:nvSpPr>
          <p:cNvPr id="39" name="Text 37"/>
          <p:cNvSpPr/>
          <p:nvPr/>
        </p:nvSpPr>
        <p:spPr>
          <a:xfrm>
            <a:off x="6035040" y="3730752"/>
            <a:ext cx="1828800" cy="329184"/>
          </a:xfrm>
          <a:prstGeom prst="rect">
            <a:avLst/>
          </a:prstGeom>
          <a:noFill/>
          <a:ln/>
        </p:spPr>
        <p:txBody>
          <a:bodyPr wrap="square" lIns="0" tIns="0" rIns="0" bIns="0" rtlCol="0" anchor="ctr"/>
          <a:lstStyle/>
          <a:p>
            <a:pPr marL="0" indent="0" algn="r">
              <a:buNone/>
            </a:pPr>
            <a:r>
              <a:rPr lang="en-US" sz="1150" dirty="0">
                <a:solidFill>
                  <a:srgbClr val="6E7781"/>
                </a:solidFill>
                <a:latin typeface="Calibri" pitchFamily="34" charset="0"/>
                <a:ea typeface="Calibri" pitchFamily="34" charset="-122"/>
                <a:cs typeface="Calibri" pitchFamily="34" charset="-120"/>
              </a:rPr>
              <a:t>planned</a:t>
            </a:r>
            <a:endParaRPr lang="en-US" sz="1150" dirty="0"/>
          </a:p>
        </p:txBody>
      </p:sp>
      <p:sp>
        <p:nvSpPr>
          <p:cNvPr id="40" name="Text 38"/>
          <p:cNvSpPr/>
          <p:nvPr/>
        </p:nvSpPr>
        <p:spPr>
          <a:xfrm>
            <a:off x="7863840" y="3730752"/>
            <a:ext cx="2194560" cy="329184"/>
          </a:xfrm>
          <a:prstGeom prst="rect">
            <a:avLst/>
          </a:prstGeom>
          <a:noFill/>
          <a:ln/>
        </p:spPr>
        <p:txBody>
          <a:bodyPr wrap="square" lIns="0" tIns="0" rIns="0" bIns="0" rtlCol="0" anchor="ctr"/>
          <a:lstStyle/>
          <a:p>
            <a:pPr marL="0" indent="0" algn="r">
              <a:buNone/>
            </a:pPr>
            <a:r>
              <a:rPr lang="en-US" sz="1150" dirty="0">
                <a:solidFill>
                  <a:srgbClr val="6E7781"/>
                </a:solidFill>
                <a:latin typeface="Calibri" pitchFamily="34" charset="0"/>
                <a:ea typeface="Calibri" pitchFamily="34" charset="-122"/>
                <a:cs typeface="Calibri" pitchFamily="34" charset="-120"/>
              </a:rPr>
              <a:t>requeue</a:t>
            </a:r>
            <a:endParaRPr lang="en-US" sz="1150" dirty="0"/>
          </a:p>
        </p:txBody>
      </p:sp>
      <p:sp>
        <p:nvSpPr>
          <p:cNvPr id="41" name="Text 39"/>
          <p:cNvSpPr/>
          <p:nvPr/>
        </p:nvSpPr>
        <p:spPr>
          <a:xfrm>
            <a:off x="10058400" y="3730752"/>
            <a:ext cx="1463040" cy="329184"/>
          </a:xfrm>
          <a:prstGeom prst="rect">
            <a:avLst/>
          </a:prstGeom>
          <a:noFill/>
          <a:ln/>
        </p:spPr>
        <p:txBody>
          <a:bodyPr wrap="square" lIns="0" tIns="0" rIns="0" bIns="0" rtlCol="0" anchor="ctr"/>
          <a:lstStyle/>
          <a:p>
            <a:pPr marL="0" indent="0" algn="r">
              <a:buNone/>
            </a:pPr>
            <a:r>
              <a:rPr lang="en-US" sz="1150" dirty="0">
                <a:solidFill>
                  <a:srgbClr val="6E7781"/>
                </a:solidFill>
                <a:latin typeface="Calibri" pitchFamily="34" charset="0"/>
                <a:ea typeface="Calibri" pitchFamily="34" charset="-122"/>
                <a:cs typeface="Calibri" pitchFamily="34" charset="-120"/>
              </a:rPr>
              <a:t>£0</a:t>
            </a:r>
            <a:endParaRPr lang="en-US" sz="1150" dirty="0"/>
          </a:p>
        </p:txBody>
      </p:sp>
      <p:sp>
        <p:nvSpPr>
          <p:cNvPr id="42" name="Text 40"/>
          <p:cNvSpPr/>
          <p:nvPr/>
        </p:nvSpPr>
        <p:spPr>
          <a:xfrm>
            <a:off x="640080" y="4114800"/>
            <a:ext cx="1737360" cy="329184"/>
          </a:xfrm>
          <a:prstGeom prst="rect">
            <a:avLst/>
          </a:prstGeom>
          <a:noFill/>
          <a:ln/>
        </p:spPr>
        <p:txBody>
          <a:bodyPr wrap="square" lIns="0" tIns="0" rIns="0" bIns="0" rtlCol="0" anchor="ctr"/>
          <a:lstStyle/>
          <a:p>
            <a:pPr marL="0" indent="0" algn="l">
              <a:buNone/>
            </a:pPr>
            <a:r>
              <a:rPr lang="en-US" sz="1150" b="1" dirty="0">
                <a:solidFill>
                  <a:srgbClr val="1C1F26"/>
                </a:solidFill>
                <a:latin typeface="Calibri" pitchFamily="34" charset="0"/>
                <a:ea typeface="Calibri" pitchFamily="34" charset="-122"/>
                <a:cs typeface="Calibri" pitchFamily="34" charset="-120"/>
              </a:rPr>
              <a:t>FC-02</a:t>
            </a:r>
            <a:endParaRPr lang="en-US" sz="1150" dirty="0"/>
          </a:p>
        </p:txBody>
      </p:sp>
      <p:sp>
        <p:nvSpPr>
          <p:cNvPr id="43" name="Text 41"/>
          <p:cNvSpPr/>
          <p:nvPr/>
        </p:nvSpPr>
        <p:spPr>
          <a:xfrm>
            <a:off x="2377440" y="4114800"/>
            <a:ext cx="3657600" cy="329184"/>
          </a:xfrm>
          <a:prstGeom prst="rect">
            <a:avLst/>
          </a:prstGeom>
          <a:noFill/>
          <a:ln/>
        </p:spPr>
        <p:txBody>
          <a:bodyPr wrap="square" lIns="0" tIns="0" rIns="0" bIns="0" rtlCol="0" anchor="ctr"/>
          <a:lstStyle/>
          <a:p>
            <a:pPr marL="0" indent="0" algn="l">
              <a:buNone/>
            </a:pPr>
            <a:r>
              <a:rPr lang="en-US" sz="1150" dirty="0">
                <a:solidFill>
                  <a:srgbClr val="6E7781"/>
                </a:solidFill>
                <a:latin typeface="Calibri" pitchFamily="34" charset="0"/>
                <a:ea typeface="Calibri" pitchFamily="34" charset="-122"/>
                <a:cs typeface="Calibri" pitchFamily="34" charset="-120"/>
              </a:rPr>
              <a:t>span 4800→4200</a:t>
            </a:r>
            <a:endParaRPr lang="en-US" sz="1150" dirty="0"/>
          </a:p>
        </p:txBody>
      </p:sp>
      <p:sp>
        <p:nvSpPr>
          <p:cNvPr id="44" name="Text 42"/>
          <p:cNvSpPr/>
          <p:nvPr/>
        </p:nvSpPr>
        <p:spPr>
          <a:xfrm>
            <a:off x="6035040" y="4114800"/>
            <a:ext cx="1828800" cy="329184"/>
          </a:xfrm>
          <a:prstGeom prst="rect">
            <a:avLst/>
          </a:prstGeom>
          <a:noFill/>
          <a:ln/>
        </p:spPr>
        <p:txBody>
          <a:bodyPr wrap="square" lIns="0" tIns="0" rIns="0" bIns="0" rtlCol="0" anchor="ctr"/>
          <a:lstStyle/>
          <a:p>
            <a:pPr marL="0" indent="0" algn="r">
              <a:buNone/>
            </a:pPr>
            <a:r>
              <a:rPr lang="en-US" sz="1150" dirty="0">
                <a:solidFill>
                  <a:srgbClr val="6E7781"/>
                </a:solidFill>
                <a:latin typeface="Calibri" pitchFamily="34" charset="0"/>
                <a:ea typeface="Calibri" pitchFamily="34" charset="-122"/>
                <a:cs typeface="Calibri" pitchFamily="34" charset="-120"/>
              </a:rPr>
              <a:t>planned</a:t>
            </a:r>
            <a:endParaRPr lang="en-US" sz="1150" dirty="0"/>
          </a:p>
        </p:txBody>
      </p:sp>
      <p:sp>
        <p:nvSpPr>
          <p:cNvPr id="45" name="Text 43"/>
          <p:cNvSpPr/>
          <p:nvPr/>
        </p:nvSpPr>
        <p:spPr>
          <a:xfrm>
            <a:off x="7863840" y="4114800"/>
            <a:ext cx="2194560" cy="329184"/>
          </a:xfrm>
          <a:prstGeom prst="rect">
            <a:avLst/>
          </a:prstGeom>
          <a:noFill/>
          <a:ln/>
        </p:spPr>
        <p:txBody>
          <a:bodyPr wrap="square" lIns="0" tIns="0" rIns="0" bIns="0" rtlCol="0" anchor="ctr"/>
          <a:lstStyle/>
          <a:p>
            <a:pPr marL="0" indent="0" algn="r">
              <a:buNone/>
            </a:pPr>
            <a:r>
              <a:rPr lang="en-US" sz="1150" dirty="0">
                <a:solidFill>
                  <a:srgbClr val="6E7781"/>
                </a:solidFill>
                <a:latin typeface="Calibri" pitchFamily="34" charset="0"/>
                <a:ea typeface="Calibri" pitchFamily="34" charset="-122"/>
                <a:cs typeface="Calibri" pitchFamily="34" charset="-120"/>
              </a:rPr>
              <a:t>requeue</a:t>
            </a:r>
            <a:endParaRPr lang="en-US" sz="1150" dirty="0"/>
          </a:p>
        </p:txBody>
      </p:sp>
      <p:sp>
        <p:nvSpPr>
          <p:cNvPr id="46" name="Text 44"/>
          <p:cNvSpPr/>
          <p:nvPr/>
        </p:nvSpPr>
        <p:spPr>
          <a:xfrm>
            <a:off x="10058400" y="4114800"/>
            <a:ext cx="1463040" cy="329184"/>
          </a:xfrm>
          <a:prstGeom prst="rect">
            <a:avLst/>
          </a:prstGeom>
          <a:noFill/>
          <a:ln/>
        </p:spPr>
        <p:txBody>
          <a:bodyPr wrap="square" lIns="0" tIns="0" rIns="0" bIns="0" rtlCol="0" anchor="ctr"/>
          <a:lstStyle/>
          <a:p>
            <a:pPr marL="0" indent="0" algn="r">
              <a:buNone/>
            </a:pPr>
            <a:r>
              <a:rPr lang="en-US" sz="1150" dirty="0">
                <a:solidFill>
                  <a:srgbClr val="6E7781"/>
                </a:solidFill>
                <a:latin typeface="Calibri" pitchFamily="34" charset="0"/>
                <a:ea typeface="Calibri" pitchFamily="34" charset="-122"/>
                <a:cs typeface="Calibri" pitchFamily="34" charset="-120"/>
              </a:rPr>
              <a:t>£0</a:t>
            </a:r>
            <a:endParaRPr lang="en-US" sz="1150" dirty="0"/>
          </a:p>
        </p:txBody>
      </p:sp>
      <p:sp>
        <p:nvSpPr>
          <p:cNvPr id="47" name="Text 45"/>
          <p:cNvSpPr/>
          <p:nvPr/>
        </p:nvSpPr>
        <p:spPr>
          <a:xfrm>
            <a:off x="640080" y="4480560"/>
            <a:ext cx="10881360" cy="658368"/>
          </a:xfrm>
          <a:prstGeom prst="rect">
            <a:avLst/>
          </a:prstGeom>
          <a:noFill/>
          <a:ln/>
        </p:spPr>
        <p:txBody>
          <a:bodyPr wrap="square" lIns="0" tIns="0" rIns="0" bIns="0" rtlCol="0" anchor="ctr"/>
          <a:lstStyle/>
          <a:p>
            <a:pPr marL="0" indent="0">
              <a:buNone/>
            </a:pPr>
            <a:r>
              <a:rPr lang="en-US" sz="1150" dirty="0">
                <a:solidFill>
                  <a:srgbClr val="6E7781"/>
                </a:solidFill>
                <a:latin typeface="Calibri" pitchFamily="34" charset="0"/>
                <a:ea typeface="Calibri" pitchFamily="34" charset="-122"/>
                <a:cs typeface="Calibri" pitchFamily="34" charset="-120"/>
              </a:rPr>
              <a:t>Alex's adjacency rule would flag all thirteen level-1 panels — £2,340 if acted on, against a baseline where ~12% of panels are currently wasted. EW-L2-W1 is still 4800 wide while the wall beneath it shrank to 4200: one real defect, which adjacency buries among twelve false ones.</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8F5"/>
        </a:solidFill>
        <a:effectLst/>
      </p:bgPr>
    </p:bg>
    <p:spTree>
      <p:nvGrpSpPr>
        <p:cNvPr id="1" name=""/>
        <p:cNvGrpSpPr/>
        <p:nvPr/>
      </p:nvGrpSpPr>
      <p:grpSpPr>
        <a:xfrm>
          <a:off x="0" y="0"/>
          <a:ext cx="0" cy="0"/>
          <a:chOff x="0" y="0"/>
          <a:chExt cx="0" cy="0"/>
        </a:xfrm>
      </p:grpSpPr>
      <p:sp>
        <p:nvSpPr>
          <p:cNvPr id="2" name="Shape 0"/>
          <p:cNvSpPr/>
          <p:nvPr/>
        </p:nvSpPr>
        <p:spPr>
          <a:xfrm>
            <a:off x="640080" y="384048"/>
            <a:ext cx="384048" cy="384048"/>
          </a:xfrm>
          <a:prstGeom prst="rect">
            <a:avLst/>
          </a:prstGeom>
          <a:solidFill>
            <a:srgbClr val="1C1F26"/>
          </a:solidFill>
          <a:ln/>
        </p:spPr>
        <p:txBody>
          <a:bodyPr/>
          <a:lstStyle/>
          <a:p>
            <a:endParaRPr lang="en-US"/>
          </a:p>
        </p:txBody>
      </p:sp>
      <p:sp>
        <p:nvSpPr>
          <p:cNvPr id="3" name="Text 1"/>
          <p:cNvSpPr/>
          <p:nvPr/>
        </p:nvSpPr>
        <p:spPr>
          <a:xfrm>
            <a:off x="640080" y="38404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C</a:t>
            </a:r>
            <a:endParaRPr lang="en-US" sz="1400" dirty="0"/>
          </a:p>
        </p:txBody>
      </p:sp>
      <p:sp>
        <p:nvSpPr>
          <p:cNvPr id="4" name="Text 2"/>
          <p:cNvSpPr/>
          <p:nvPr/>
        </p:nvSpPr>
        <p:spPr>
          <a:xfrm>
            <a:off x="1207008" y="329184"/>
            <a:ext cx="10314432" cy="493776"/>
          </a:xfrm>
          <a:prstGeom prst="rect">
            <a:avLst/>
          </a:prstGeom>
          <a:noFill/>
          <a:ln/>
        </p:spPr>
        <p:txBody>
          <a:bodyPr wrap="square" lIns="0" tIns="0" rIns="0" bIns="0" rtlCol="0" anchor="ctr"/>
          <a:lstStyle/>
          <a:p>
            <a:pPr marL="0" indent="0">
              <a:buNone/>
            </a:pPr>
            <a:r>
              <a:rPr lang="en-US" sz="2600" b="1" dirty="0">
                <a:solidFill>
                  <a:srgbClr val="1C1F26"/>
                </a:solidFill>
                <a:latin typeface="Cambria" pitchFamily="34" charset="0"/>
                <a:ea typeface="Cambria" pitchFamily="34" charset="-122"/>
                <a:cs typeface="Cambria" pitchFamily="34" charset="-120"/>
              </a:rPr>
              <a:t>Estimation calibration</a:t>
            </a:r>
            <a:endParaRPr lang="en-US" sz="2600" dirty="0"/>
          </a:p>
        </p:txBody>
      </p:sp>
      <p:sp>
        <p:nvSpPr>
          <p:cNvPr id="5" name="Text 3"/>
          <p:cNvSpPr/>
          <p:nvPr/>
        </p:nvSpPr>
        <p:spPr>
          <a:xfrm>
            <a:off x="640080" y="914400"/>
            <a:ext cx="10881360" cy="292608"/>
          </a:xfrm>
          <a:prstGeom prst="rect">
            <a:avLst/>
          </a:prstGeom>
          <a:noFill/>
          <a:ln/>
        </p:spPr>
        <p:txBody>
          <a:bodyPr wrap="square" lIns="0" tIns="0" rIns="0" bIns="0" rtlCol="0" anchor="ctr"/>
          <a:lstStyle/>
          <a:p>
            <a:pPr marL="0" indent="0">
              <a:buNone/>
            </a:pPr>
            <a:r>
              <a:rPr lang="en-US" sz="1300" i="1" dirty="0">
                <a:solidFill>
                  <a:srgbClr val="6E7781"/>
                </a:solidFill>
                <a:latin typeface="Calibri" pitchFamily="34" charset="0"/>
                <a:ea typeface="Calibri" pitchFamily="34" charset="-122"/>
                <a:cs typeface="Calibri" pitchFamily="34" charset="-120"/>
              </a:rPr>
              <a:t>Twelve workstreams over two quarters. Ratio of actual to estimate.</a:t>
            </a:r>
            <a:endParaRPr lang="en-US" sz="1300" dirty="0"/>
          </a:p>
        </p:txBody>
      </p:sp>
      <p:sp>
        <p:nvSpPr>
          <p:cNvPr id="6" name="Text 4"/>
          <p:cNvSpPr/>
          <p:nvPr/>
        </p:nvSpPr>
        <p:spPr>
          <a:xfrm>
            <a:off x="640080" y="1371600"/>
            <a:ext cx="4023360" cy="310896"/>
          </a:xfrm>
          <a:prstGeom prst="rect">
            <a:avLst/>
          </a:prstGeom>
          <a:noFill/>
          <a:ln/>
        </p:spPr>
        <p:txBody>
          <a:bodyPr wrap="square" lIns="0" tIns="0" rIns="0" bIns="0" rtlCol="0" anchor="ctr"/>
          <a:lstStyle/>
          <a:p>
            <a:pPr marL="0" indent="0" algn="l">
              <a:buNone/>
            </a:pPr>
            <a:r>
              <a:rPr lang="en-US" sz="1050" b="1" kern="0" spc="100" dirty="0">
                <a:solidFill>
                  <a:srgbClr val="6E7781"/>
                </a:solidFill>
                <a:latin typeface="Calibri" pitchFamily="34" charset="0"/>
                <a:ea typeface="Calibri" pitchFamily="34" charset="-122"/>
                <a:cs typeface="Calibri" pitchFamily="34" charset="-120"/>
              </a:rPr>
              <a:t>Discipline</a:t>
            </a:r>
            <a:endParaRPr lang="en-US" sz="1050" dirty="0"/>
          </a:p>
        </p:txBody>
      </p:sp>
      <p:sp>
        <p:nvSpPr>
          <p:cNvPr id="7" name="Text 5"/>
          <p:cNvSpPr/>
          <p:nvPr/>
        </p:nvSpPr>
        <p:spPr>
          <a:xfrm>
            <a:off x="4663440" y="1371600"/>
            <a:ext cx="2377440" cy="310896"/>
          </a:xfrm>
          <a:prstGeom prst="rect">
            <a:avLst/>
          </a:prstGeom>
          <a:noFill/>
          <a:ln/>
        </p:spPr>
        <p:txBody>
          <a:bodyPr wrap="square" lIns="0" tIns="0" rIns="0" bIns="0" rtlCol="0" anchor="ctr"/>
          <a:lstStyle/>
          <a:p>
            <a:pPr marL="0" indent="0" algn="l">
              <a:buNone/>
            </a:pPr>
            <a:r>
              <a:rPr lang="en-US" sz="1050" b="1" kern="0" spc="100" dirty="0">
                <a:solidFill>
                  <a:srgbClr val="6E7781"/>
                </a:solidFill>
                <a:latin typeface="Calibri" pitchFamily="34" charset="0"/>
                <a:ea typeface="Calibri" pitchFamily="34" charset="-122"/>
                <a:cs typeface="Calibri" pitchFamily="34" charset="-120"/>
              </a:rPr>
              <a:t>Non-hardware</a:t>
            </a:r>
            <a:endParaRPr lang="en-US" sz="1050" dirty="0"/>
          </a:p>
        </p:txBody>
      </p:sp>
      <p:sp>
        <p:nvSpPr>
          <p:cNvPr id="8" name="Text 6"/>
          <p:cNvSpPr/>
          <p:nvPr/>
        </p:nvSpPr>
        <p:spPr>
          <a:xfrm>
            <a:off x="7040880" y="1371600"/>
            <a:ext cx="2743200" cy="310896"/>
          </a:xfrm>
          <a:prstGeom prst="rect">
            <a:avLst/>
          </a:prstGeom>
          <a:noFill/>
          <a:ln/>
        </p:spPr>
        <p:txBody>
          <a:bodyPr wrap="square" lIns="0" tIns="0" rIns="0" bIns="0" rtlCol="0" anchor="ctr"/>
          <a:lstStyle/>
          <a:p>
            <a:pPr marL="0" indent="0" algn="r">
              <a:buNone/>
            </a:pPr>
            <a:r>
              <a:rPr lang="en-US" sz="1050" b="1" kern="0" spc="100" dirty="0">
                <a:solidFill>
                  <a:srgbClr val="6E7781"/>
                </a:solidFill>
                <a:latin typeface="Calibri" pitchFamily="34" charset="0"/>
                <a:ea typeface="Calibri" pitchFamily="34" charset="-122"/>
                <a:cs typeface="Calibri" pitchFamily="34" charset="-120"/>
              </a:rPr>
              <a:t>Hardware-dependent</a:t>
            </a:r>
            <a:endParaRPr lang="en-US" sz="1050" dirty="0"/>
          </a:p>
        </p:txBody>
      </p:sp>
      <p:sp>
        <p:nvSpPr>
          <p:cNvPr id="9" name="Text 7"/>
          <p:cNvSpPr/>
          <p:nvPr/>
        </p:nvSpPr>
        <p:spPr>
          <a:xfrm>
            <a:off x="9784080" y="1371600"/>
            <a:ext cx="1737360" cy="310896"/>
          </a:xfrm>
          <a:prstGeom prst="rect">
            <a:avLst/>
          </a:prstGeom>
          <a:noFill/>
          <a:ln/>
        </p:spPr>
        <p:txBody>
          <a:bodyPr wrap="square" lIns="0" tIns="0" rIns="0" bIns="0" rtlCol="0" anchor="ctr"/>
          <a:lstStyle/>
          <a:p>
            <a:pPr marL="0" indent="0" algn="r">
              <a:buNone/>
            </a:pPr>
            <a:r>
              <a:rPr lang="en-US" sz="1050" b="1" kern="0" spc="100" dirty="0">
                <a:solidFill>
                  <a:srgbClr val="6E7781"/>
                </a:solidFill>
                <a:latin typeface="Calibri" pitchFamily="34" charset="0"/>
                <a:ea typeface="Calibri" pitchFamily="34" charset="-122"/>
                <a:cs typeface="Calibri" pitchFamily="34" charset="-120"/>
              </a:rPr>
              <a:t>Sample</a:t>
            </a:r>
            <a:endParaRPr lang="en-US" sz="1050" dirty="0"/>
          </a:p>
        </p:txBody>
      </p:sp>
      <p:sp>
        <p:nvSpPr>
          <p:cNvPr id="10" name="Shape 8"/>
          <p:cNvSpPr/>
          <p:nvPr/>
        </p:nvSpPr>
        <p:spPr>
          <a:xfrm>
            <a:off x="640080" y="1700784"/>
            <a:ext cx="10881360" cy="13716"/>
          </a:xfrm>
          <a:prstGeom prst="rect">
            <a:avLst/>
          </a:prstGeom>
          <a:solidFill>
            <a:srgbClr val="D8D2C9"/>
          </a:solidFill>
          <a:ln/>
        </p:spPr>
        <p:txBody>
          <a:bodyPr/>
          <a:lstStyle/>
          <a:p>
            <a:endParaRPr lang="en-US"/>
          </a:p>
        </p:txBody>
      </p:sp>
      <p:sp>
        <p:nvSpPr>
          <p:cNvPr id="11" name="Text 9"/>
          <p:cNvSpPr/>
          <p:nvPr/>
        </p:nvSpPr>
        <p:spPr>
          <a:xfrm>
            <a:off x="640080" y="1810512"/>
            <a:ext cx="4023360" cy="329184"/>
          </a:xfrm>
          <a:prstGeom prst="rect">
            <a:avLst/>
          </a:prstGeom>
          <a:noFill/>
          <a:ln/>
        </p:spPr>
        <p:txBody>
          <a:bodyPr wrap="square" lIns="0" tIns="0" rIns="0" bIns="0" rtlCol="0" anchor="ctr"/>
          <a:lstStyle/>
          <a:p>
            <a:pPr marL="0" indent="0" algn="l">
              <a:buNone/>
            </a:pPr>
            <a:r>
              <a:rPr lang="en-US" sz="1150" b="1" dirty="0">
                <a:solidFill>
                  <a:srgbClr val="1C1F26"/>
                </a:solidFill>
                <a:latin typeface="Calibri" pitchFamily="34" charset="0"/>
                <a:ea typeface="Calibri" pitchFamily="34" charset="-122"/>
                <a:cs typeface="Calibri" pitchFamily="34" charset="-120"/>
              </a:rPr>
              <a:t>Solver (Alex)</a:t>
            </a:r>
            <a:endParaRPr lang="en-US" sz="1150" dirty="0"/>
          </a:p>
        </p:txBody>
      </p:sp>
      <p:sp>
        <p:nvSpPr>
          <p:cNvPr id="12" name="Text 10"/>
          <p:cNvSpPr/>
          <p:nvPr/>
        </p:nvSpPr>
        <p:spPr>
          <a:xfrm>
            <a:off x="4663440" y="1810512"/>
            <a:ext cx="2377440" cy="329184"/>
          </a:xfrm>
          <a:prstGeom prst="rect">
            <a:avLst/>
          </a:prstGeom>
          <a:noFill/>
          <a:ln/>
        </p:spPr>
        <p:txBody>
          <a:bodyPr wrap="square" lIns="0" tIns="0" rIns="0" bIns="0" rtlCol="0" anchor="ctr"/>
          <a:lstStyle/>
          <a:p>
            <a:pPr marL="0" indent="0" algn="l">
              <a:buNone/>
            </a:pPr>
            <a:r>
              <a:rPr lang="en-US" sz="1150" dirty="0">
                <a:solidFill>
                  <a:srgbClr val="6E7781"/>
                </a:solidFill>
                <a:latin typeface="Calibri" pitchFamily="34" charset="0"/>
                <a:ea typeface="Calibri" pitchFamily="34" charset="-122"/>
                <a:cs typeface="Calibri" pitchFamily="34" charset="-120"/>
              </a:rPr>
              <a:t>1.55×</a:t>
            </a:r>
            <a:endParaRPr lang="en-US" sz="1150" dirty="0"/>
          </a:p>
        </p:txBody>
      </p:sp>
      <p:sp>
        <p:nvSpPr>
          <p:cNvPr id="13" name="Text 11"/>
          <p:cNvSpPr/>
          <p:nvPr/>
        </p:nvSpPr>
        <p:spPr>
          <a:xfrm>
            <a:off x="7040880" y="1810512"/>
            <a:ext cx="2743200" cy="329184"/>
          </a:xfrm>
          <a:prstGeom prst="rect">
            <a:avLst/>
          </a:prstGeom>
          <a:noFill/>
          <a:ln/>
        </p:spPr>
        <p:txBody>
          <a:bodyPr wrap="square" lIns="0" tIns="0" rIns="0" bIns="0" rtlCol="0" anchor="ctr"/>
          <a:lstStyle/>
          <a:p>
            <a:pPr marL="0" indent="0" algn="r">
              <a:buNone/>
            </a:pPr>
            <a:r>
              <a:rPr lang="en-US" sz="1150" dirty="0">
                <a:solidFill>
                  <a:srgbClr val="6E7781"/>
                </a:solidFill>
                <a:latin typeface="Calibri" pitchFamily="34" charset="0"/>
                <a:ea typeface="Calibri" pitchFamily="34" charset="-122"/>
                <a:cs typeface="Calibri" pitchFamily="34" charset="-120"/>
              </a:rPr>
              <a:t>2.18×</a:t>
            </a:r>
            <a:endParaRPr lang="en-US" sz="1150" dirty="0"/>
          </a:p>
        </p:txBody>
      </p:sp>
      <p:sp>
        <p:nvSpPr>
          <p:cNvPr id="14" name="Text 12"/>
          <p:cNvSpPr/>
          <p:nvPr/>
        </p:nvSpPr>
        <p:spPr>
          <a:xfrm>
            <a:off x="9784080" y="1810512"/>
            <a:ext cx="1737360" cy="329184"/>
          </a:xfrm>
          <a:prstGeom prst="rect">
            <a:avLst/>
          </a:prstGeom>
          <a:noFill/>
          <a:ln/>
        </p:spPr>
        <p:txBody>
          <a:bodyPr wrap="square" lIns="0" tIns="0" rIns="0" bIns="0" rtlCol="0" anchor="ctr"/>
          <a:lstStyle/>
          <a:p>
            <a:pPr marL="0" indent="0" algn="r">
              <a:buNone/>
            </a:pPr>
            <a:r>
              <a:rPr lang="en-US" sz="1150" dirty="0">
                <a:solidFill>
                  <a:srgbClr val="6E7781"/>
                </a:solidFill>
                <a:latin typeface="Calibri" pitchFamily="34" charset="0"/>
                <a:ea typeface="Calibri" pitchFamily="34" charset="-122"/>
                <a:cs typeface="Calibri" pitchFamily="34" charset="-120"/>
              </a:rPr>
              <a:t>4 workstreams</a:t>
            </a:r>
            <a:endParaRPr lang="en-US" sz="1150" dirty="0"/>
          </a:p>
        </p:txBody>
      </p:sp>
      <p:sp>
        <p:nvSpPr>
          <p:cNvPr id="15" name="Text 13"/>
          <p:cNvSpPr/>
          <p:nvPr/>
        </p:nvSpPr>
        <p:spPr>
          <a:xfrm>
            <a:off x="640080" y="2194560"/>
            <a:ext cx="4023360" cy="329184"/>
          </a:xfrm>
          <a:prstGeom prst="rect">
            <a:avLst/>
          </a:prstGeom>
          <a:noFill/>
          <a:ln/>
        </p:spPr>
        <p:txBody>
          <a:bodyPr wrap="square" lIns="0" tIns="0" rIns="0" bIns="0" rtlCol="0" anchor="ctr"/>
          <a:lstStyle/>
          <a:p>
            <a:pPr marL="0" indent="0" algn="l">
              <a:buNone/>
            </a:pPr>
            <a:r>
              <a:rPr lang="en-US" sz="1150" b="1" dirty="0">
                <a:solidFill>
                  <a:srgbClr val="1C1F26"/>
                </a:solidFill>
                <a:latin typeface="Calibri" pitchFamily="34" charset="0"/>
                <a:ea typeface="Calibri" pitchFamily="34" charset="-122"/>
                <a:cs typeface="Calibri" pitchFamily="34" charset="-120"/>
              </a:rPr>
              <a:t>Platform (Jo)</a:t>
            </a:r>
            <a:endParaRPr lang="en-US" sz="1150" dirty="0"/>
          </a:p>
        </p:txBody>
      </p:sp>
      <p:sp>
        <p:nvSpPr>
          <p:cNvPr id="16" name="Text 14"/>
          <p:cNvSpPr/>
          <p:nvPr/>
        </p:nvSpPr>
        <p:spPr>
          <a:xfrm>
            <a:off x="4663440" y="2194560"/>
            <a:ext cx="2377440" cy="329184"/>
          </a:xfrm>
          <a:prstGeom prst="rect">
            <a:avLst/>
          </a:prstGeom>
          <a:noFill/>
          <a:ln/>
        </p:spPr>
        <p:txBody>
          <a:bodyPr wrap="square" lIns="0" tIns="0" rIns="0" bIns="0" rtlCol="0" anchor="ctr"/>
          <a:lstStyle/>
          <a:p>
            <a:pPr marL="0" indent="0" algn="l">
              <a:buNone/>
            </a:pPr>
            <a:r>
              <a:rPr lang="en-US" sz="1150" dirty="0">
                <a:solidFill>
                  <a:srgbClr val="6E7781"/>
                </a:solidFill>
                <a:latin typeface="Calibri" pitchFamily="34" charset="0"/>
                <a:ea typeface="Calibri" pitchFamily="34" charset="-122"/>
                <a:cs typeface="Calibri" pitchFamily="34" charset="-120"/>
              </a:rPr>
              <a:t>1.51×</a:t>
            </a:r>
            <a:endParaRPr lang="en-US" sz="1150" dirty="0"/>
          </a:p>
        </p:txBody>
      </p:sp>
      <p:sp>
        <p:nvSpPr>
          <p:cNvPr id="17" name="Text 15"/>
          <p:cNvSpPr/>
          <p:nvPr/>
        </p:nvSpPr>
        <p:spPr>
          <a:xfrm>
            <a:off x="7040880" y="2194560"/>
            <a:ext cx="2743200" cy="329184"/>
          </a:xfrm>
          <a:prstGeom prst="rect">
            <a:avLst/>
          </a:prstGeom>
          <a:noFill/>
          <a:ln/>
        </p:spPr>
        <p:txBody>
          <a:bodyPr wrap="square" lIns="0" tIns="0" rIns="0" bIns="0" rtlCol="0" anchor="ctr"/>
          <a:lstStyle/>
          <a:p>
            <a:pPr marL="0" indent="0" algn="r">
              <a:buNone/>
            </a:pPr>
            <a:r>
              <a:rPr lang="en-US" sz="1150" dirty="0">
                <a:solidFill>
                  <a:srgbClr val="6E7781"/>
                </a:solidFill>
                <a:latin typeface="Calibri" pitchFamily="34" charset="0"/>
                <a:ea typeface="Calibri" pitchFamily="34" charset="-122"/>
                <a:cs typeface="Calibri" pitchFamily="34" charset="-120"/>
              </a:rPr>
              <a:t>2.10×</a:t>
            </a:r>
            <a:endParaRPr lang="en-US" sz="1150" dirty="0"/>
          </a:p>
        </p:txBody>
      </p:sp>
      <p:sp>
        <p:nvSpPr>
          <p:cNvPr id="18" name="Text 16"/>
          <p:cNvSpPr/>
          <p:nvPr/>
        </p:nvSpPr>
        <p:spPr>
          <a:xfrm>
            <a:off x="9784080" y="2194560"/>
            <a:ext cx="1737360" cy="329184"/>
          </a:xfrm>
          <a:prstGeom prst="rect">
            <a:avLst/>
          </a:prstGeom>
          <a:noFill/>
          <a:ln/>
        </p:spPr>
        <p:txBody>
          <a:bodyPr wrap="square" lIns="0" tIns="0" rIns="0" bIns="0" rtlCol="0" anchor="ctr"/>
          <a:lstStyle/>
          <a:p>
            <a:pPr marL="0" indent="0" algn="r">
              <a:buNone/>
            </a:pPr>
            <a:r>
              <a:rPr lang="en-US" sz="1150" dirty="0">
                <a:solidFill>
                  <a:srgbClr val="6E7781"/>
                </a:solidFill>
                <a:latin typeface="Calibri" pitchFamily="34" charset="0"/>
                <a:ea typeface="Calibri" pitchFamily="34" charset="-122"/>
                <a:cs typeface="Calibri" pitchFamily="34" charset="-120"/>
              </a:rPr>
              <a:t>5 workstreams</a:t>
            </a:r>
            <a:endParaRPr lang="en-US" sz="1150" dirty="0"/>
          </a:p>
        </p:txBody>
      </p:sp>
      <p:sp>
        <p:nvSpPr>
          <p:cNvPr id="19" name="Text 17"/>
          <p:cNvSpPr/>
          <p:nvPr/>
        </p:nvSpPr>
        <p:spPr>
          <a:xfrm>
            <a:off x="640080" y="2578608"/>
            <a:ext cx="4023360" cy="329184"/>
          </a:xfrm>
          <a:prstGeom prst="rect">
            <a:avLst/>
          </a:prstGeom>
          <a:noFill/>
          <a:ln/>
        </p:spPr>
        <p:txBody>
          <a:bodyPr wrap="square" lIns="0" tIns="0" rIns="0" bIns="0" rtlCol="0" anchor="ctr"/>
          <a:lstStyle/>
          <a:p>
            <a:pPr marL="0" indent="0" algn="l">
              <a:buNone/>
            </a:pPr>
            <a:r>
              <a:rPr lang="en-US" sz="1150" b="1" dirty="0">
                <a:solidFill>
                  <a:srgbClr val="1C1F26"/>
                </a:solidFill>
                <a:latin typeface="Calibri" pitchFamily="34" charset="0"/>
                <a:ea typeface="Calibri" pitchFamily="34" charset="-122"/>
                <a:cs typeface="Calibri" pitchFamily="34" charset="-120"/>
              </a:rPr>
              <a:t>Frontend (Sam)</a:t>
            </a:r>
            <a:endParaRPr lang="en-US" sz="1150" dirty="0"/>
          </a:p>
        </p:txBody>
      </p:sp>
      <p:sp>
        <p:nvSpPr>
          <p:cNvPr id="20" name="Text 18"/>
          <p:cNvSpPr/>
          <p:nvPr/>
        </p:nvSpPr>
        <p:spPr>
          <a:xfrm>
            <a:off x="4663440" y="2578608"/>
            <a:ext cx="2377440" cy="329184"/>
          </a:xfrm>
          <a:prstGeom prst="rect">
            <a:avLst/>
          </a:prstGeom>
          <a:noFill/>
          <a:ln/>
        </p:spPr>
        <p:txBody>
          <a:bodyPr wrap="square" lIns="0" tIns="0" rIns="0" bIns="0" rtlCol="0" anchor="ctr"/>
          <a:lstStyle/>
          <a:p>
            <a:pPr marL="0" indent="0" algn="l">
              <a:buNone/>
            </a:pPr>
            <a:r>
              <a:rPr lang="en-US" sz="1150" dirty="0">
                <a:solidFill>
                  <a:srgbClr val="6E7781"/>
                </a:solidFill>
                <a:latin typeface="Calibri" pitchFamily="34" charset="0"/>
                <a:ea typeface="Calibri" pitchFamily="34" charset="-122"/>
                <a:cs typeface="Calibri" pitchFamily="34" charset="-120"/>
              </a:rPr>
              <a:t>1.14×</a:t>
            </a:r>
            <a:endParaRPr lang="en-US" sz="1150" dirty="0"/>
          </a:p>
        </p:txBody>
      </p:sp>
      <p:sp>
        <p:nvSpPr>
          <p:cNvPr id="21" name="Text 19"/>
          <p:cNvSpPr/>
          <p:nvPr/>
        </p:nvSpPr>
        <p:spPr>
          <a:xfrm>
            <a:off x="7040880" y="2578608"/>
            <a:ext cx="2743200" cy="329184"/>
          </a:xfrm>
          <a:prstGeom prst="rect">
            <a:avLst/>
          </a:prstGeom>
          <a:noFill/>
          <a:ln/>
        </p:spPr>
        <p:txBody>
          <a:bodyPr wrap="square" lIns="0" tIns="0" rIns="0" bIns="0" rtlCol="0" anchor="ctr"/>
          <a:lstStyle/>
          <a:p>
            <a:pPr marL="0" indent="0" algn="r">
              <a:buNone/>
            </a:pPr>
            <a:r>
              <a:rPr lang="en-US" sz="1150" dirty="0">
                <a:solidFill>
                  <a:srgbClr val="6E7781"/>
                </a:solidFill>
                <a:latin typeface="Calibri" pitchFamily="34" charset="0"/>
                <a:ea typeface="Calibri" pitchFamily="34" charset="-122"/>
                <a:cs typeface="Calibri" pitchFamily="34" charset="-120"/>
              </a:rPr>
              <a:t>1.60×</a:t>
            </a:r>
            <a:endParaRPr lang="en-US" sz="1150" dirty="0"/>
          </a:p>
        </p:txBody>
      </p:sp>
      <p:sp>
        <p:nvSpPr>
          <p:cNvPr id="22" name="Text 20"/>
          <p:cNvSpPr/>
          <p:nvPr/>
        </p:nvSpPr>
        <p:spPr>
          <a:xfrm>
            <a:off x="9784080" y="2578608"/>
            <a:ext cx="1737360" cy="329184"/>
          </a:xfrm>
          <a:prstGeom prst="rect">
            <a:avLst/>
          </a:prstGeom>
          <a:noFill/>
          <a:ln/>
        </p:spPr>
        <p:txBody>
          <a:bodyPr wrap="square" lIns="0" tIns="0" rIns="0" bIns="0" rtlCol="0" anchor="ctr"/>
          <a:lstStyle/>
          <a:p>
            <a:pPr marL="0" indent="0" algn="r">
              <a:buNone/>
            </a:pPr>
            <a:r>
              <a:rPr lang="en-US" sz="1150" dirty="0">
                <a:solidFill>
                  <a:srgbClr val="6E7781"/>
                </a:solidFill>
                <a:latin typeface="Calibri" pitchFamily="34" charset="0"/>
                <a:ea typeface="Calibri" pitchFamily="34" charset="-122"/>
                <a:cs typeface="Calibri" pitchFamily="34" charset="-120"/>
              </a:rPr>
              <a:t>3 workstreams</a:t>
            </a:r>
            <a:endParaRPr lang="en-US" sz="1150" dirty="0"/>
          </a:p>
        </p:txBody>
      </p:sp>
      <p:sp>
        <p:nvSpPr>
          <p:cNvPr id="23" name="Text 21"/>
          <p:cNvSpPr/>
          <p:nvPr/>
        </p:nvSpPr>
        <p:spPr>
          <a:xfrm>
            <a:off x="640080" y="2962656"/>
            <a:ext cx="4023360" cy="329184"/>
          </a:xfrm>
          <a:prstGeom prst="rect">
            <a:avLst/>
          </a:prstGeom>
          <a:noFill/>
          <a:ln/>
        </p:spPr>
        <p:txBody>
          <a:bodyPr wrap="square" lIns="0" tIns="0" rIns="0" bIns="0" rtlCol="0" anchor="ctr"/>
          <a:lstStyle/>
          <a:p>
            <a:pPr marL="0" indent="0" algn="l">
              <a:buNone/>
            </a:pPr>
            <a:r>
              <a:rPr lang="en-US" sz="1150" b="1" dirty="0">
                <a:solidFill>
                  <a:srgbClr val="1C1F26"/>
                </a:solidFill>
                <a:latin typeface="Calibri" pitchFamily="34" charset="0"/>
                <a:ea typeface="Calibri" pitchFamily="34" charset="-122"/>
                <a:cs typeface="Calibri" pitchFamily="34" charset="-120"/>
              </a:rPr>
              <a:t>All</a:t>
            </a:r>
            <a:endParaRPr lang="en-US" sz="1150" dirty="0"/>
          </a:p>
        </p:txBody>
      </p:sp>
      <p:sp>
        <p:nvSpPr>
          <p:cNvPr id="24" name="Text 22"/>
          <p:cNvSpPr/>
          <p:nvPr/>
        </p:nvSpPr>
        <p:spPr>
          <a:xfrm>
            <a:off x="4663440" y="2962656"/>
            <a:ext cx="2377440" cy="329184"/>
          </a:xfrm>
          <a:prstGeom prst="rect">
            <a:avLst/>
          </a:prstGeom>
          <a:noFill/>
          <a:ln/>
        </p:spPr>
        <p:txBody>
          <a:bodyPr wrap="square" lIns="0" tIns="0" rIns="0" bIns="0" rtlCol="0" anchor="ctr"/>
          <a:lstStyle/>
          <a:p>
            <a:pPr marL="0" indent="0" algn="l">
              <a:buNone/>
            </a:pPr>
            <a:r>
              <a:rPr lang="en-US" sz="1150" dirty="0">
                <a:solidFill>
                  <a:srgbClr val="6E7781"/>
                </a:solidFill>
                <a:latin typeface="Calibri" pitchFamily="34" charset="0"/>
                <a:ea typeface="Calibri" pitchFamily="34" charset="-122"/>
                <a:cs typeface="Calibri" pitchFamily="34" charset="-120"/>
              </a:rPr>
              <a:t>1.42×</a:t>
            </a:r>
            <a:endParaRPr lang="en-US" sz="1150" dirty="0"/>
          </a:p>
        </p:txBody>
      </p:sp>
      <p:sp>
        <p:nvSpPr>
          <p:cNvPr id="25" name="Text 23"/>
          <p:cNvSpPr/>
          <p:nvPr/>
        </p:nvSpPr>
        <p:spPr>
          <a:xfrm>
            <a:off x="7040880" y="2962656"/>
            <a:ext cx="2743200" cy="329184"/>
          </a:xfrm>
          <a:prstGeom prst="rect">
            <a:avLst/>
          </a:prstGeom>
          <a:noFill/>
          <a:ln/>
        </p:spPr>
        <p:txBody>
          <a:bodyPr wrap="square" lIns="0" tIns="0" rIns="0" bIns="0" rtlCol="0" anchor="ctr"/>
          <a:lstStyle/>
          <a:p>
            <a:pPr marL="0" indent="0" algn="r">
              <a:buNone/>
            </a:pPr>
            <a:r>
              <a:rPr lang="en-US" sz="1150" dirty="0">
                <a:solidFill>
                  <a:srgbClr val="6E7781"/>
                </a:solidFill>
                <a:latin typeface="Calibri" pitchFamily="34" charset="0"/>
                <a:ea typeface="Calibri" pitchFamily="34" charset="-122"/>
                <a:cs typeface="Calibri" pitchFamily="34" charset="-120"/>
              </a:rPr>
              <a:t>2.04×</a:t>
            </a:r>
            <a:endParaRPr lang="en-US" sz="1150" dirty="0"/>
          </a:p>
        </p:txBody>
      </p:sp>
      <p:sp>
        <p:nvSpPr>
          <p:cNvPr id="26" name="Text 24"/>
          <p:cNvSpPr/>
          <p:nvPr/>
        </p:nvSpPr>
        <p:spPr>
          <a:xfrm>
            <a:off x="9784080" y="2962656"/>
            <a:ext cx="1737360" cy="329184"/>
          </a:xfrm>
          <a:prstGeom prst="rect">
            <a:avLst/>
          </a:prstGeom>
          <a:noFill/>
          <a:ln/>
        </p:spPr>
        <p:txBody>
          <a:bodyPr wrap="square" lIns="0" tIns="0" rIns="0" bIns="0" rtlCol="0" anchor="ctr"/>
          <a:lstStyle/>
          <a:p>
            <a:pPr marL="0" indent="0" algn="r">
              <a:buNone/>
            </a:pPr>
            <a:r>
              <a:rPr lang="en-US" sz="1150" dirty="0">
                <a:solidFill>
                  <a:srgbClr val="6E7781"/>
                </a:solidFill>
                <a:latin typeface="Calibri" pitchFamily="34" charset="0"/>
                <a:ea typeface="Calibri" pitchFamily="34" charset="-122"/>
                <a:cs typeface="Calibri" pitchFamily="34" charset="-120"/>
              </a:rPr>
              <a:t>12 workstreams</a:t>
            </a:r>
            <a:endParaRPr lang="en-US" sz="1150" dirty="0"/>
          </a:p>
        </p:txBody>
      </p:sp>
      <p:sp>
        <p:nvSpPr>
          <p:cNvPr id="27" name="Text 25"/>
          <p:cNvSpPr/>
          <p:nvPr/>
        </p:nvSpPr>
        <p:spPr>
          <a:xfrm>
            <a:off x="640080" y="3401568"/>
            <a:ext cx="10881360" cy="292608"/>
          </a:xfrm>
          <a:prstGeom prst="rect">
            <a:avLst/>
          </a:prstGeom>
          <a:noFill/>
          <a:ln/>
        </p:spPr>
        <p:txBody>
          <a:bodyPr wrap="square" lIns="0" tIns="0" rIns="0" bIns="0" rtlCol="0" anchor="ctr"/>
          <a:lstStyle/>
          <a:p>
            <a:pPr marL="0" indent="0">
              <a:buNone/>
            </a:pPr>
            <a:r>
              <a:rPr lang="en-US" sz="1250" b="1" dirty="0">
                <a:solidFill>
                  <a:srgbClr val="1C1F26"/>
                </a:solidFill>
                <a:latin typeface="Calibri" pitchFamily="34" charset="0"/>
                <a:ea typeface="Calibri" pitchFamily="34" charset="-122"/>
                <a:cs typeface="Calibri" pitchFamily="34" charset="-120"/>
              </a:rPr>
              <a:t>Hardware dependency roughly doubles the overrun, consistently, across every discipline.</a:t>
            </a:r>
            <a:endParaRPr lang="en-US" sz="1250" dirty="0"/>
          </a:p>
        </p:txBody>
      </p:sp>
      <p:sp>
        <p:nvSpPr>
          <p:cNvPr id="28" name="Text 26"/>
          <p:cNvSpPr/>
          <p:nvPr/>
        </p:nvSpPr>
        <p:spPr>
          <a:xfrm>
            <a:off x="640080" y="3749040"/>
            <a:ext cx="10881360" cy="512064"/>
          </a:xfrm>
          <a:prstGeom prst="rect">
            <a:avLst/>
          </a:prstGeom>
          <a:noFill/>
          <a:ln/>
        </p:spPr>
        <p:txBody>
          <a:bodyPr wrap="square" lIns="0" tIns="0" rIns="0" bIns="0" rtlCol="0" anchor="ctr"/>
          <a:lstStyle/>
          <a:p>
            <a:pPr marL="0" indent="0">
              <a:buNone/>
            </a:pPr>
            <a:r>
              <a:rPr lang="en-US" sz="1150" dirty="0">
                <a:solidFill>
                  <a:srgbClr val="6E7781"/>
                </a:solidFill>
                <a:latin typeface="Calibri" pitchFamily="34" charset="0"/>
                <a:ea typeface="Calibri" pitchFamily="34" charset="-122"/>
                <a:cs typeface="Calibri" pitchFamily="34" charset="-120"/>
              </a:rPr>
              <a:t>The bias is not uniform across people. Alex wrote the most detailed plan and Sam wrote "few weeks of work", so Alex looks more rigorous. On the evidence, Alex's numbers need challenging and Sam's need extracting.</a:t>
            </a:r>
            <a:endParaRPr lang="en-US" sz="1150" dirty="0"/>
          </a:p>
        </p:txBody>
      </p:sp>
      <p:sp>
        <p:nvSpPr>
          <p:cNvPr id="29" name="Text 27"/>
          <p:cNvSpPr/>
          <p:nvPr/>
        </p:nvSpPr>
        <p:spPr>
          <a:xfrm>
            <a:off x="640080" y="4407408"/>
            <a:ext cx="10881360" cy="658368"/>
          </a:xfrm>
          <a:prstGeom prst="rect">
            <a:avLst/>
          </a:prstGeom>
          <a:noFill/>
          <a:ln/>
        </p:spPr>
        <p:txBody>
          <a:bodyPr wrap="square" lIns="0" tIns="0" rIns="0" bIns="0" rtlCol="0" anchor="ctr"/>
          <a:lstStyle/>
          <a:p>
            <a:pPr marL="0" indent="0">
              <a:buNone/>
            </a:pPr>
            <a:r>
              <a:rPr lang="en-US" sz="1150" dirty="0">
                <a:solidFill>
                  <a:srgbClr val="1C1F26"/>
                </a:solidFill>
                <a:latin typeface="Calibri" pitchFamily="34" charset="0"/>
                <a:ea typeface="Calibri" pitchFamily="34" charset="-122"/>
                <a:cs typeface="Calibri" pitchFamily="34" charset="-120"/>
              </a:rPr>
              <a:t>Bimodal ≠ wide.  Alex's one Low-confidence estimate was two estimates with no way to tell which applies. Padding is wrong in both worlds; the remedy is a timeboxed spike on the deciding fact — and that fact was already answered by the fixtures.</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8F5"/>
        </a:solidFill>
        <a:effectLst/>
      </p:bgPr>
    </p:bg>
    <p:spTree>
      <p:nvGrpSpPr>
        <p:cNvPr id="1" name=""/>
        <p:cNvGrpSpPr/>
        <p:nvPr/>
      </p:nvGrpSpPr>
      <p:grpSpPr>
        <a:xfrm>
          <a:off x="0" y="0"/>
          <a:ext cx="0" cy="0"/>
          <a:chOff x="0" y="0"/>
          <a:chExt cx="0" cy="0"/>
        </a:xfrm>
      </p:grpSpPr>
      <p:sp>
        <p:nvSpPr>
          <p:cNvPr id="2" name="Shape 0"/>
          <p:cNvSpPr/>
          <p:nvPr/>
        </p:nvSpPr>
        <p:spPr>
          <a:xfrm>
            <a:off x="640080" y="384048"/>
            <a:ext cx="384048" cy="384048"/>
          </a:xfrm>
          <a:prstGeom prst="rect">
            <a:avLst/>
          </a:prstGeom>
          <a:solidFill>
            <a:srgbClr val="1C1F26"/>
          </a:solidFill>
          <a:ln/>
        </p:spPr>
        <p:txBody>
          <a:bodyPr/>
          <a:lstStyle/>
          <a:p>
            <a:endParaRPr lang="en-US"/>
          </a:p>
        </p:txBody>
      </p:sp>
      <p:sp>
        <p:nvSpPr>
          <p:cNvPr id="3" name="Text 1"/>
          <p:cNvSpPr/>
          <p:nvPr/>
        </p:nvSpPr>
        <p:spPr>
          <a:xfrm>
            <a:off x="640080" y="38404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D</a:t>
            </a:r>
            <a:endParaRPr lang="en-US" sz="1400" dirty="0"/>
          </a:p>
        </p:txBody>
      </p:sp>
      <p:sp>
        <p:nvSpPr>
          <p:cNvPr id="4" name="Text 2"/>
          <p:cNvSpPr/>
          <p:nvPr/>
        </p:nvSpPr>
        <p:spPr>
          <a:xfrm>
            <a:off x="1207008" y="329184"/>
            <a:ext cx="10314432" cy="493776"/>
          </a:xfrm>
          <a:prstGeom prst="rect">
            <a:avLst/>
          </a:prstGeom>
          <a:noFill/>
          <a:ln/>
        </p:spPr>
        <p:txBody>
          <a:bodyPr wrap="square" lIns="0" tIns="0" rIns="0" bIns="0" rtlCol="0" anchor="ctr"/>
          <a:lstStyle/>
          <a:p>
            <a:pPr marL="0" indent="0">
              <a:buNone/>
            </a:pPr>
            <a:r>
              <a:rPr lang="en-US" sz="2600" b="1" dirty="0">
                <a:solidFill>
                  <a:srgbClr val="1C1F26"/>
                </a:solidFill>
                <a:latin typeface="Cambria" pitchFamily="34" charset="0"/>
                <a:ea typeface="Cambria" pitchFamily="34" charset="-122"/>
                <a:cs typeface="Cambria" pitchFamily="34" charset="-120"/>
              </a:rPr>
              <a:t>Robotics resource pass</a:t>
            </a:r>
            <a:endParaRPr lang="en-US" sz="2600" dirty="0"/>
          </a:p>
        </p:txBody>
      </p:sp>
      <p:sp>
        <p:nvSpPr>
          <p:cNvPr id="5" name="Text 3"/>
          <p:cNvSpPr/>
          <p:nvPr/>
        </p:nvSpPr>
        <p:spPr>
          <a:xfrm>
            <a:off x="640080" y="914400"/>
            <a:ext cx="10881360" cy="292608"/>
          </a:xfrm>
          <a:prstGeom prst="rect">
            <a:avLst/>
          </a:prstGeom>
          <a:noFill/>
          <a:ln/>
        </p:spPr>
        <p:txBody>
          <a:bodyPr wrap="square" lIns="0" tIns="0" rIns="0" bIns="0" rtlCol="0" anchor="ctr"/>
          <a:lstStyle/>
          <a:p>
            <a:pPr marL="0" indent="0">
              <a:buNone/>
            </a:pPr>
            <a:r>
              <a:rPr lang="en-US" sz="1300" i="1" dirty="0">
                <a:solidFill>
                  <a:srgbClr val="6E7781"/>
                </a:solidFill>
                <a:latin typeface="Calibri" pitchFamily="34" charset="0"/>
                <a:ea typeface="Calibri" pitchFamily="34" charset="-122"/>
                <a:cs typeface="Calibri" pitchFamily="34" charset="-120"/>
              </a:rPr>
              <a:t>Laid out by resource rather than by person. Found five things and reversed a recommendation.</a:t>
            </a:r>
            <a:endParaRPr lang="en-US" sz="1300" dirty="0"/>
          </a:p>
        </p:txBody>
      </p:sp>
      <p:sp>
        <p:nvSpPr>
          <p:cNvPr id="6" name="Text 4"/>
          <p:cNvSpPr/>
          <p:nvPr/>
        </p:nvSpPr>
        <p:spPr>
          <a:xfrm>
            <a:off x="640080" y="1408176"/>
            <a:ext cx="365760" cy="310896"/>
          </a:xfrm>
          <a:prstGeom prst="rect">
            <a:avLst/>
          </a:prstGeom>
          <a:noFill/>
          <a:ln/>
        </p:spPr>
        <p:txBody>
          <a:bodyPr wrap="square" lIns="0" tIns="0" rIns="0" bIns="0" rtlCol="0" anchor="ctr"/>
          <a:lstStyle/>
          <a:p>
            <a:pPr marL="0" indent="0">
              <a:buNone/>
            </a:pPr>
            <a:r>
              <a:rPr lang="en-US" sz="1800" b="1" dirty="0">
                <a:solidFill>
                  <a:srgbClr val="B8621B"/>
                </a:solidFill>
                <a:latin typeface="Cambria" pitchFamily="34" charset="0"/>
                <a:ea typeface="Cambria" pitchFamily="34" charset="-122"/>
                <a:cs typeface="Cambria" pitchFamily="34" charset="-120"/>
              </a:rPr>
              <a:t>1</a:t>
            </a:r>
            <a:endParaRPr lang="en-US" sz="1800" dirty="0"/>
          </a:p>
        </p:txBody>
      </p:sp>
      <p:sp>
        <p:nvSpPr>
          <p:cNvPr id="7" name="Text 5"/>
          <p:cNvSpPr/>
          <p:nvPr/>
        </p:nvSpPr>
        <p:spPr>
          <a:xfrm>
            <a:off x="1097280" y="1371600"/>
            <a:ext cx="10241280" cy="310896"/>
          </a:xfrm>
          <a:prstGeom prst="rect">
            <a:avLst/>
          </a:prstGeom>
          <a:noFill/>
          <a:ln/>
        </p:spPr>
        <p:txBody>
          <a:bodyPr wrap="square" lIns="0" tIns="0" rIns="0" bIns="0" rtlCol="0" anchor="ctr"/>
          <a:lstStyle/>
          <a:p>
            <a:pPr marL="0" indent="0">
              <a:buNone/>
            </a:pPr>
            <a:r>
              <a:rPr lang="en-US" sz="1300" b="1" dirty="0">
                <a:solidFill>
                  <a:srgbClr val="1C1F26"/>
                </a:solidFill>
                <a:latin typeface="Calibri" pitchFamily="34" charset="0"/>
                <a:ea typeface="Calibri" pitchFamily="34" charset="-122"/>
                <a:cs typeface="Calibri" pitchFamily="34" charset="-120"/>
              </a:rPr>
              <a:t>v4.2b had no validation or deploy in the plan</a:t>
            </a:r>
            <a:endParaRPr lang="en-US" sz="1300" dirty="0"/>
          </a:p>
        </p:txBody>
      </p:sp>
      <p:sp>
        <p:nvSpPr>
          <p:cNvPr id="8" name="Text 6"/>
          <p:cNvSpPr/>
          <p:nvPr/>
        </p:nvSpPr>
        <p:spPr>
          <a:xfrm>
            <a:off x="1097280" y="1682496"/>
            <a:ext cx="10241280" cy="384048"/>
          </a:xfrm>
          <a:prstGeom prst="rect">
            <a:avLst/>
          </a:prstGeom>
          <a:noFill/>
          <a:ln/>
        </p:spPr>
        <p:txBody>
          <a:bodyPr wrap="square" lIns="0" tIns="0" rIns="0" bIns="0" rtlCol="0" anchor="ctr"/>
          <a:lstStyle/>
          <a:p>
            <a:pPr marL="0" indent="0">
              <a:buNone/>
            </a:pPr>
            <a:r>
              <a:rPr lang="en-US" sz="1150" dirty="0">
                <a:solidFill>
                  <a:srgbClr val="6E7781"/>
                </a:solidFill>
                <a:latin typeface="Calibri" pitchFamily="34" charset="0"/>
                <a:ea typeface="Calibri" pitchFamily="34" charset="-122"/>
                <a:cs typeface="Calibri" pitchFamily="34" charset="-120"/>
              </a:rPr>
              <a:t>Roughly a week of resource time that existed nowhere.</a:t>
            </a:r>
            <a:endParaRPr lang="en-US" sz="1150" dirty="0"/>
          </a:p>
        </p:txBody>
      </p:sp>
      <p:sp>
        <p:nvSpPr>
          <p:cNvPr id="9" name="Text 7"/>
          <p:cNvSpPr/>
          <p:nvPr/>
        </p:nvSpPr>
        <p:spPr>
          <a:xfrm>
            <a:off x="640080" y="2267712"/>
            <a:ext cx="365760" cy="310896"/>
          </a:xfrm>
          <a:prstGeom prst="rect">
            <a:avLst/>
          </a:prstGeom>
          <a:noFill/>
          <a:ln/>
        </p:spPr>
        <p:txBody>
          <a:bodyPr wrap="square" lIns="0" tIns="0" rIns="0" bIns="0" rtlCol="0" anchor="ctr"/>
          <a:lstStyle/>
          <a:p>
            <a:pPr marL="0" indent="0">
              <a:buNone/>
            </a:pPr>
            <a:r>
              <a:rPr lang="en-US" sz="1800" b="1" dirty="0">
                <a:solidFill>
                  <a:srgbClr val="B8621B"/>
                </a:solidFill>
                <a:latin typeface="Cambria" pitchFamily="34" charset="0"/>
                <a:ea typeface="Cambria" pitchFamily="34" charset="-122"/>
                <a:cs typeface="Cambria" pitchFamily="34" charset="-120"/>
              </a:rPr>
              <a:t>2</a:t>
            </a:r>
            <a:endParaRPr lang="en-US" sz="1800" dirty="0"/>
          </a:p>
        </p:txBody>
      </p:sp>
      <p:sp>
        <p:nvSpPr>
          <p:cNvPr id="10" name="Text 8"/>
          <p:cNvSpPr/>
          <p:nvPr/>
        </p:nvSpPr>
        <p:spPr>
          <a:xfrm>
            <a:off x="1097280" y="2231136"/>
            <a:ext cx="10241280" cy="310896"/>
          </a:xfrm>
          <a:prstGeom prst="rect">
            <a:avLst/>
          </a:prstGeom>
          <a:noFill/>
          <a:ln/>
        </p:spPr>
        <p:txBody>
          <a:bodyPr wrap="square" lIns="0" tIns="0" rIns="0" bIns="0" rtlCol="0" anchor="ctr"/>
          <a:lstStyle/>
          <a:p>
            <a:pPr marL="0" indent="0">
              <a:buNone/>
            </a:pPr>
            <a:r>
              <a:rPr lang="en-US" sz="1300" b="1" dirty="0">
                <a:solidFill>
                  <a:srgbClr val="1C1F26"/>
                </a:solidFill>
                <a:latin typeface="Calibri" pitchFamily="34" charset="0"/>
                <a:ea typeface="Calibri" pitchFamily="34" charset="-122"/>
                <a:cs typeface="Calibri" pitchFamily="34" charset="-120"/>
              </a:rPr>
              <a:t>The split starves Fleet Monitor of real data until 2 Oct</a:t>
            </a:r>
            <a:endParaRPr lang="en-US" sz="1300" dirty="0"/>
          </a:p>
        </p:txBody>
      </p:sp>
      <p:sp>
        <p:nvSpPr>
          <p:cNvPr id="11" name="Text 9"/>
          <p:cNvSpPr/>
          <p:nvPr/>
        </p:nvSpPr>
        <p:spPr>
          <a:xfrm>
            <a:off x="1097280" y="2542032"/>
            <a:ext cx="10241280" cy="384048"/>
          </a:xfrm>
          <a:prstGeom prst="rect">
            <a:avLst/>
          </a:prstGeom>
          <a:noFill/>
          <a:ln/>
        </p:spPr>
        <p:txBody>
          <a:bodyPr wrap="square" lIns="0" tIns="0" rIns="0" bIns="0" rtlCol="0" anchor="ctr"/>
          <a:lstStyle/>
          <a:p>
            <a:pPr marL="0" indent="0">
              <a:buNone/>
            </a:pPr>
            <a:r>
              <a:rPr lang="en-US" sz="1150" dirty="0">
                <a:solidFill>
                  <a:srgbClr val="6E7781"/>
                </a:solidFill>
                <a:latin typeface="Calibri" pitchFamily="34" charset="0"/>
                <a:ea typeface="Calibri" pitchFamily="34" charset="-122"/>
                <a:cs typeface="Calibri" pitchFamily="34" charset="-120"/>
              </a:rPr>
              <a:t>First contact with real cell data is the week before the demo.</a:t>
            </a:r>
            <a:endParaRPr lang="en-US" sz="1150" dirty="0"/>
          </a:p>
        </p:txBody>
      </p:sp>
      <p:sp>
        <p:nvSpPr>
          <p:cNvPr id="12" name="Text 10"/>
          <p:cNvSpPr/>
          <p:nvPr/>
        </p:nvSpPr>
        <p:spPr>
          <a:xfrm>
            <a:off x="640080" y="3127248"/>
            <a:ext cx="365760" cy="310896"/>
          </a:xfrm>
          <a:prstGeom prst="rect">
            <a:avLst/>
          </a:prstGeom>
          <a:noFill/>
          <a:ln/>
        </p:spPr>
        <p:txBody>
          <a:bodyPr wrap="square" lIns="0" tIns="0" rIns="0" bIns="0" rtlCol="0" anchor="ctr"/>
          <a:lstStyle/>
          <a:p>
            <a:pPr marL="0" indent="0">
              <a:buNone/>
            </a:pPr>
            <a:r>
              <a:rPr lang="en-US" sz="1800" b="1" dirty="0">
                <a:solidFill>
                  <a:srgbClr val="B8621B"/>
                </a:solidFill>
                <a:latin typeface="Cambria" pitchFamily="34" charset="0"/>
                <a:ea typeface="Cambria" pitchFamily="34" charset="-122"/>
                <a:cs typeface="Cambria" pitchFamily="34" charset="-120"/>
              </a:rPr>
              <a:t>3</a:t>
            </a:r>
            <a:endParaRPr lang="en-US" sz="1800" dirty="0"/>
          </a:p>
        </p:txBody>
      </p:sp>
      <p:sp>
        <p:nvSpPr>
          <p:cNvPr id="13" name="Text 11"/>
          <p:cNvSpPr/>
          <p:nvPr/>
        </p:nvSpPr>
        <p:spPr>
          <a:xfrm>
            <a:off x="1097280" y="3090672"/>
            <a:ext cx="10241280" cy="310896"/>
          </a:xfrm>
          <a:prstGeom prst="rect">
            <a:avLst/>
          </a:prstGeom>
          <a:noFill/>
          <a:ln/>
        </p:spPr>
        <p:txBody>
          <a:bodyPr wrap="square" lIns="0" tIns="0" rIns="0" bIns="0" rtlCol="0" anchor="ctr"/>
          <a:lstStyle/>
          <a:p>
            <a:pPr marL="0" indent="0">
              <a:buNone/>
            </a:pPr>
            <a:r>
              <a:rPr lang="en-US" sz="1300" b="1" dirty="0">
                <a:solidFill>
                  <a:srgbClr val="1C1F26"/>
                </a:solidFill>
                <a:latin typeface="Calibri" pitchFamily="34" charset="0"/>
                <a:ea typeface="Calibri" pitchFamily="34" charset="-122"/>
                <a:cs typeface="Calibri" pitchFamily="34" charset="-120"/>
              </a:rPr>
              <a:t>The rehearsal window halves</a:t>
            </a:r>
            <a:endParaRPr lang="en-US" sz="1300" dirty="0"/>
          </a:p>
        </p:txBody>
      </p:sp>
      <p:sp>
        <p:nvSpPr>
          <p:cNvPr id="14" name="Text 12"/>
          <p:cNvSpPr/>
          <p:nvPr/>
        </p:nvSpPr>
        <p:spPr>
          <a:xfrm>
            <a:off x="1097280" y="3401568"/>
            <a:ext cx="10241280" cy="384048"/>
          </a:xfrm>
          <a:prstGeom prst="rect">
            <a:avLst/>
          </a:prstGeom>
          <a:noFill/>
          <a:ln/>
        </p:spPr>
        <p:txBody>
          <a:bodyPr wrap="square" lIns="0" tIns="0" rIns="0" bIns="0" rtlCol="0" anchor="ctr"/>
          <a:lstStyle/>
          <a:p>
            <a:pPr marL="0" indent="0">
              <a:buNone/>
            </a:pPr>
            <a:r>
              <a:rPr lang="en-US" sz="1150" dirty="0">
                <a:solidFill>
                  <a:srgbClr val="6E7781"/>
                </a:solidFill>
                <a:latin typeface="Calibri" pitchFamily="34" charset="0"/>
                <a:ea typeface="Calibri" pitchFamily="34" charset="-122"/>
                <a:cs typeface="Calibri" pitchFamily="34" charset="-120"/>
              </a:rPr>
              <a:t>Two weeks becomes one — the same week as that integration.</a:t>
            </a:r>
            <a:endParaRPr lang="en-US" sz="1150" dirty="0"/>
          </a:p>
        </p:txBody>
      </p:sp>
      <p:sp>
        <p:nvSpPr>
          <p:cNvPr id="15" name="Text 13"/>
          <p:cNvSpPr/>
          <p:nvPr/>
        </p:nvSpPr>
        <p:spPr>
          <a:xfrm>
            <a:off x="640080" y="3986784"/>
            <a:ext cx="365760" cy="310896"/>
          </a:xfrm>
          <a:prstGeom prst="rect">
            <a:avLst/>
          </a:prstGeom>
          <a:noFill/>
          <a:ln/>
        </p:spPr>
        <p:txBody>
          <a:bodyPr wrap="square" lIns="0" tIns="0" rIns="0" bIns="0" rtlCol="0" anchor="ctr"/>
          <a:lstStyle/>
          <a:p>
            <a:pPr marL="0" indent="0">
              <a:buNone/>
            </a:pPr>
            <a:r>
              <a:rPr lang="en-US" sz="1800" b="1" dirty="0">
                <a:solidFill>
                  <a:srgbClr val="B8621B"/>
                </a:solidFill>
                <a:latin typeface="Cambria" pitchFamily="34" charset="0"/>
                <a:ea typeface="Cambria" pitchFamily="34" charset="-122"/>
                <a:cs typeface="Cambria" pitchFamily="34" charset="-120"/>
              </a:rPr>
              <a:t>4</a:t>
            </a:r>
            <a:endParaRPr lang="en-US" sz="1800" dirty="0"/>
          </a:p>
        </p:txBody>
      </p:sp>
      <p:sp>
        <p:nvSpPr>
          <p:cNvPr id="16" name="Text 14"/>
          <p:cNvSpPr/>
          <p:nvPr/>
        </p:nvSpPr>
        <p:spPr>
          <a:xfrm>
            <a:off x="1097280" y="3950208"/>
            <a:ext cx="10241280" cy="310896"/>
          </a:xfrm>
          <a:prstGeom prst="rect">
            <a:avLst/>
          </a:prstGeom>
          <a:noFill/>
          <a:ln/>
        </p:spPr>
        <p:txBody>
          <a:bodyPr wrap="square" lIns="0" tIns="0" rIns="0" bIns="0" rtlCol="0" anchor="ctr"/>
          <a:lstStyle/>
          <a:p>
            <a:pPr marL="0" indent="0">
              <a:buNone/>
            </a:pPr>
            <a:r>
              <a:rPr lang="en-US" sz="1300" b="1" dirty="0">
                <a:solidFill>
                  <a:srgbClr val="1C1F26"/>
                </a:solidFill>
                <a:latin typeface="Calibri" pitchFamily="34" charset="0"/>
                <a:ea typeface="Calibri" pitchFamily="34" charset="-122"/>
                <a:cs typeface="Calibri" pitchFamily="34" charset="-120"/>
              </a:rPr>
              <a:t>People pinch, 16–25 Sep</a:t>
            </a:r>
            <a:endParaRPr lang="en-US" sz="1300" dirty="0"/>
          </a:p>
        </p:txBody>
      </p:sp>
      <p:sp>
        <p:nvSpPr>
          <p:cNvPr id="17" name="Text 15"/>
          <p:cNvSpPr/>
          <p:nvPr/>
        </p:nvSpPr>
        <p:spPr>
          <a:xfrm>
            <a:off x="1097280" y="4261104"/>
            <a:ext cx="10241280" cy="384048"/>
          </a:xfrm>
          <a:prstGeom prst="rect">
            <a:avLst/>
          </a:prstGeom>
          <a:noFill/>
          <a:ln/>
        </p:spPr>
        <p:txBody>
          <a:bodyPr wrap="square" lIns="0" tIns="0" rIns="0" bIns="0" rtlCol="0" anchor="ctr"/>
          <a:lstStyle/>
          <a:p>
            <a:pPr marL="0" indent="0">
              <a:buNone/>
            </a:pPr>
            <a:r>
              <a:rPr lang="en-US" sz="1150" dirty="0">
                <a:solidFill>
                  <a:srgbClr val="6E7781"/>
                </a:solidFill>
                <a:latin typeface="Calibri" pitchFamily="34" charset="0"/>
                <a:ea typeface="Calibri" pitchFamily="34" charset="-122"/>
                <a:cs typeface="Calibri" pitchFamily="34" charset="-120"/>
              </a:rPr>
              <a:t>2.5 person-weeks needed against 2.4 available.</a:t>
            </a:r>
            <a:endParaRPr lang="en-US" sz="1150" dirty="0"/>
          </a:p>
        </p:txBody>
      </p:sp>
      <p:sp>
        <p:nvSpPr>
          <p:cNvPr id="18" name="Text 16"/>
          <p:cNvSpPr/>
          <p:nvPr/>
        </p:nvSpPr>
        <p:spPr>
          <a:xfrm>
            <a:off x="640080" y="4846320"/>
            <a:ext cx="365760" cy="310896"/>
          </a:xfrm>
          <a:prstGeom prst="rect">
            <a:avLst/>
          </a:prstGeom>
          <a:noFill/>
          <a:ln/>
        </p:spPr>
        <p:txBody>
          <a:bodyPr wrap="square" lIns="0" tIns="0" rIns="0" bIns="0" rtlCol="0" anchor="ctr"/>
          <a:lstStyle/>
          <a:p>
            <a:pPr marL="0" indent="0">
              <a:buNone/>
            </a:pPr>
            <a:r>
              <a:rPr lang="en-US" sz="1800" b="1" dirty="0">
                <a:solidFill>
                  <a:srgbClr val="B8621B"/>
                </a:solidFill>
                <a:latin typeface="Cambria" pitchFamily="34" charset="0"/>
                <a:ea typeface="Cambria" pitchFamily="34" charset="-122"/>
                <a:cs typeface="Cambria" pitchFamily="34" charset="-120"/>
              </a:rPr>
              <a:t>5</a:t>
            </a:r>
            <a:endParaRPr lang="en-US" sz="1800" dirty="0"/>
          </a:p>
        </p:txBody>
      </p:sp>
      <p:sp>
        <p:nvSpPr>
          <p:cNvPr id="19" name="Text 17"/>
          <p:cNvSpPr/>
          <p:nvPr/>
        </p:nvSpPr>
        <p:spPr>
          <a:xfrm>
            <a:off x="1097280" y="4809744"/>
            <a:ext cx="10241280" cy="310896"/>
          </a:xfrm>
          <a:prstGeom prst="rect">
            <a:avLst/>
          </a:prstGeom>
          <a:noFill/>
          <a:ln/>
        </p:spPr>
        <p:txBody>
          <a:bodyPr wrap="square" lIns="0" tIns="0" rIns="0" bIns="0" rtlCol="0" anchor="ctr"/>
          <a:lstStyle/>
          <a:p>
            <a:pPr marL="0" indent="0">
              <a:buNone/>
            </a:pPr>
            <a:r>
              <a:rPr lang="en-US" sz="1300" b="1" dirty="0">
                <a:solidFill>
                  <a:srgbClr val="1C1F26"/>
                </a:solidFill>
                <a:latin typeface="Calibri" pitchFamily="34" charset="0"/>
                <a:ea typeface="Calibri" pitchFamily="34" charset="-122"/>
                <a:cs typeface="Calibri" pitchFamily="34" charset="-120"/>
              </a:rPr>
              <a:t>Plan A's robotics chain has one day of float</a:t>
            </a:r>
            <a:endParaRPr lang="en-US" sz="1300" dirty="0"/>
          </a:p>
        </p:txBody>
      </p:sp>
      <p:sp>
        <p:nvSpPr>
          <p:cNvPr id="20" name="Text 18"/>
          <p:cNvSpPr/>
          <p:nvPr/>
        </p:nvSpPr>
        <p:spPr>
          <a:xfrm>
            <a:off x="1097280" y="5120640"/>
            <a:ext cx="10241280" cy="384048"/>
          </a:xfrm>
          <a:prstGeom prst="rect">
            <a:avLst/>
          </a:prstGeom>
          <a:noFill/>
          <a:ln/>
        </p:spPr>
        <p:txBody>
          <a:bodyPr wrap="square" lIns="0" tIns="0" rIns="0" bIns="0" rtlCol="0" anchor="ctr"/>
          <a:lstStyle/>
          <a:p>
            <a:pPr marL="0" indent="0">
              <a:buNone/>
            </a:pPr>
            <a:r>
              <a:rPr lang="en-US" sz="1150" dirty="0">
                <a:solidFill>
                  <a:srgbClr val="6E7781"/>
                </a:solidFill>
                <a:latin typeface="Calibri" pitchFamily="34" charset="0"/>
                <a:ea typeface="Calibri" pitchFamily="34" charset="-122"/>
                <a:cs typeface="Calibri" pitchFamily="34" charset="-120"/>
              </a:rPr>
              <a:t>15 working days of serial work in 16. The smallest overrun in the backlog history is 13%.</a:t>
            </a:r>
            <a:endParaRPr lang="en-US" sz="1150" dirty="0"/>
          </a:p>
        </p:txBody>
      </p:sp>
      <p:sp>
        <p:nvSpPr>
          <p:cNvPr id="21" name="Text 19"/>
          <p:cNvSpPr/>
          <p:nvPr/>
        </p:nvSpPr>
        <p:spPr>
          <a:xfrm>
            <a:off x="640080" y="5760720"/>
            <a:ext cx="10881360" cy="310896"/>
          </a:xfrm>
          <a:prstGeom prst="rect">
            <a:avLst/>
          </a:prstGeom>
          <a:noFill/>
          <a:ln/>
        </p:spPr>
        <p:txBody>
          <a:bodyPr wrap="square" lIns="0" tIns="0" rIns="0" bIns="0" rtlCol="0" anchor="ctr"/>
          <a:lstStyle/>
          <a:p>
            <a:pPr marL="0" indent="0">
              <a:buNone/>
            </a:pPr>
            <a:r>
              <a:rPr lang="en-US" sz="1150" i="1" dirty="0">
                <a:solidFill>
                  <a:srgbClr val="6E7781"/>
                </a:solidFill>
                <a:latin typeface="Calibri" pitchFamily="34" charset="0"/>
                <a:ea typeface="Calibri" pitchFamily="34" charset="-122"/>
                <a:cs typeface="Calibri" pitchFamily="34" charset="-120"/>
              </a:rPr>
              <a:t>Capacity was never the problem — ~12.1 person-weeks available against ~4.9 of work. Everything above is ordering.</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8F5"/>
        </a:solidFill>
        <a:effectLst/>
      </p:bgPr>
    </p:bg>
    <p:spTree>
      <p:nvGrpSpPr>
        <p:cNvPr id="1" name=""/>
        <p:cNvGrpSpPr/>
        <p:nvPr/>
      </p:nvGrpSpPr>
      <p:grpSpPr>
        <a:xfrm>
          <a:off x="0" y="0"/>
          <a:ext cx="0" cy="0"/>
          <a:chOff x="0" y="0"/>
          <a:chExt cx="0" cy="0"/>
        </a:xfrm>
      </p:grpSpPr>
      <p:sp>
        <p:nvSpPr>
          <p:cNvPr id="2" name="Shape 0"/>
          <p:cNvSpPr/>
          <p:nvPr/>
        </p:nvSpPr>
        <p:spPr>
          <a:xfrm>
            <a:off x="640080" y="384048"/>
            <a:ext cx="384048" cy="384048"/>
          </a:xfrm>
          <a:prstGeom prst="rect">
            <a:avLst/>
          </a:prstGeom>
          <a:solidFill>
            <a:srgbClr val="1C1F26"/>
          </a:solidFill>
          <a:ln/>
        </p:spPr>
        <p:txBody>
          <a:bodyPr/>
          <a:lstStyle/>
          <a:p>
            <a:endParaRPr lang="en-US"/>
          </a:p>
        </p:txBody>
      </p:sp>
      <p:sp>
        <p:nvSpPr>
          <p:cNvPr id="3" name="Text 1"/>
          <p:cNvSpPr/>
          <p:nvPr/>
        </p:nvSpPr>
        <p:spPr>
          <a:xfrm>
            <a:off x="640080" y="38404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E</a:t>
            </a:r>
            <a:endParaRPr lang="en-US" sz="1400" dirty="0"/>
          </a:p>
        </p:txBody>
      </p:sp>
      <p:sp>
        <p:nvSpPr>
          <p:cNvPr id="4" name="Text 2"/>
          <p:cNvSpPr/>
          <p:nvPr/>
        </p:nvSpPr>
        <p:spPr>
          <a:xfrm>
            <a:off x="1207008" y="329184"/>
            <a:ext cx="10314432" cy="493776"/>
          </a:xfrm>
          <a:prstGeom prst="rect">
            <a:avLst/>
          </a:prstGeom>
          <a:noFill/>
          <a:ln/>
        </p:spPr>
        <p:txBody>
          <a:bodyPr wrap="square" lIns="0" tIns="0" rIns="0" bIns="0" rtlCol="0" anchor="ctr"/>
          <a:lstStyle/>
          <a:p>
            <a:pPr marL="0" indent="0">
              <a:buNone/>
            </a:pPr>
            <a:r>
              <a:rPr lang="en-US" sz="2600" b="1" dirty="0">
                <a:solidFill>
                  <a:srgbClr val="1C1F26"/>
                </a:solidFill>
                <a:latin typeface="Cambria" pitchFamily="34" charset="0"/>
                <a:ea typeface="Cambria" pitchFamily="34" charset="-122"/>
                <a:cs typeface="Cambria" pitchFamily="34" charset="-120"/>
              </a:rPr>
              <a:t>What is wrong with the event stream</a:t>
            </a:r>
            <a:endParaRPr lang="en-US" sz="2600" dirty="0"/>
          </a:p>
        </p:txBody>
      </p:sp>
      <p:sp>
        <p:nvSpPr>
          <p:cNvPr id="5" name="Text 3"/>
          <p:cNvSpPr/>
          <p:nvPr/>
        </p:nvSpPr>
        <p:spPr>
          <a:xfrm>
            <a:off x="640080" y="914400"/>
            <a:ext cx="10881360" cy="292608"/>
          </a:xfrm>
          <a:prstGeom prst="rect">
            <a:avLst/>
          </a:prstGeom>
          <a:noFill/>
          <a:ln/>
        </p:spPr>
        <p:txBody>
          <a:bodyPr wrap="square" lIns="0" tIns="0" rIns="0" bIns="0" rtlCol="0" anchor="ctr"/>
          <a:lstStyle/>
          <a:p>
            <a:pPr marL="0" indent="0">
              <a:buNone/>
            </a:pPr>
            <a:r>
              <a:rPr lang="en-US" sz="1300" i="1" dirty="0">
                <a:solidFill>
                  <a:srgbClr val="6E7781"/>
                </a:solidFill>
                <a:latin typeface="Calibri" pitchFamily="34" charset="0"/>
                <a:ea typeface="Calibri" pitchFamily="34" charset="-122"/>
                <a:cs typeface="Calibri" pitchFamily="34" charset="-120"/>
              </a:rPr>
              <a:t>Evidence from cell-events.jsonl — 29 events, March trials.</a:t>
            </a:r>
            <a:endParaRPr lang="en-US" sz="1300" dirty="0"/>
          </a:p>
        </p:txBody>
      </p:sp>
      <p:sp>
        <p:nvSpPr>
          <p:cNvPr id="6" name="Text 4"/>
          <p:cNvSpPr/>
          <p:nvPr/>
        </p:nvSpPr>
        <p:spPr>
          <a:xfrm>
            <a:off x="640080" y="1371600"/>
            <a:ext cx="10515600" cy="292608"/>
          </a:xfrm>
          <a:prstGeom prst="rect">
            <a:avLst/>
          </a:prstGeom>
          <a:noFill/>
          <a:ln/>
        </p:spPr>
        <p:txBody>
          <a:bodyPr wrap="square" lIns="0" tIns="0" rIns="0" bIns="0" rtlCol="0" anchor="ctr"/>
          <a:lstStyle/>
          <a:p>
            <a:pPr marL="0" indent="0">
              <a:buNone/>
            </a:pPr>
            <a:r>
              <a:rPr lang="en-US" sz="1300" b="1" dirty="0">
                <a:solidFill>
                  <a:srgbClr val="1C1F26"/>
                </a:solidFill>
                <a:latin typeface="Calibri" pitchFamily="34" charset="0"/>
                <a:ea typeface="Calibri" pitchFamily="34" charset="-122"/>
                <a:cs typeface="Calibri" pitchFamily="34" charset="-120"/>
              </a:rPr>
              <a:t>No unique event identifier</a:t>
            </a:r>
            <a:endParaRPr lang="en-US" sz="1300" dirty="0"/>
          </a:p>
        </p:txBody>
      </p:sp>
      <p:sp>
        <p:nvSpPr>
          <p:cNvPr id="7" name="Text 5"/>
          <p:cNvSpPr/>
          <p:nvPr/>
        </p:nvSpPr>
        <p:spPr>
          <a:xfrm>
            <a:off x="640080" y="1664208"/>
            <a:ext cx="10515600" cy="512064"/>
          </a:xfrm>
          <a:prstGeom prst="rect">
            <a:avLst/>
          </a:prstGeom>
          <a:noFill/>
          <a:ln/>
        </p:spPr>
        <p:txBody>
          <a:bodyPr wrap="square" lIns="0" tIns="0" rIns="0" bIns="0" rtlCol="0" anchor="ctr"/>
          <a:lstStyle/>
          <a:p>
            <a:pPr marL="0" indent="0">
              <a:buNone/>
            </a:pPr>
            <a:r>
              <a:rPr lang="en-US" sz="1150" dirty="0">
                <a:solidFill>
                  <a:srgbClr val="6E7781"/>
                </a:solidFill>
                <a:latin typeface="Calibri" pitchFamily="34" charset="0"/>
                <a:ea typeface="Calibri" pitchFamily="34" charset="-122"/>
                <a:cs typeface="Calibri" pitchFamily="34" charset="-120"/>
              </a:rPr>
              <a:t>nailing.started for EW-L1-E1 appears twice, 07:14:51 and 07:20:05. Both legitimate — the second follows an e-stop resume. Any content-based dedupe drops a real event.</a:t>
            </a:r>
            <a:endParaRPr lang="en-US" sz="1150" dirty="0"/>
          </a:p>
        </p:txBody>
      </p:sp>
      <p:sp>
        <p:nvSpPr>
          <p:cNvPr id="8" name="Text 6"/>
          <p:cNvSpPr/>
          <p:nvPr/>
        </p:nvSpPr>
        <p:spPr>
          <a:xfrm>
            <a:off x="640080" y="2286000"/>
            <a:ext cx="10515600" cy="292608"/>
          </a:xfrm>
          <a:prstGeom prst="rect">
            <a:avLst/>
          </a:prstGeom>
          <a:noFill/>
          <a:ln/>
        </p:spPr>
        <p:txBody>
          <a:bodyPr wrap="square" lIns="0" tIns="0" rIns="0" bIns="0" rtlCol="0" anchor="ctr"/>
          <a:lstStyle/>
          <a:p>
            <a:pPr marL="0" indent="0">
              <a:buNone/>
            </a:pPr>
            <a:r>
              <a:rPr lang="en-US" sz="1300" b="1" dirty="0">
                <a:solidFill>
                  <a:srgbClr val="1C1F26"/>
                </a:solidFill>
                <a:latin typeface="Calibri" pitchFamily="34" charset="0"/>
                <a:ea typeface="Calibri" pitchFamily="34" charset="-122"/>
                <a:cs typeface="Calibri" pitchFamily="34" charset="-120"/>
              </a:rPr>
              <a:t>No sequence number</a:t>
            </a:r>
            <a:endParaRPr lang="en-US" sz="1300" dirty="0"/>
          </a:p>
        </p:txBody>
      </p:sp>
      <p:sp>
        <p:nvSpPr>
          <p:cNvPr id="9" name="Text 7"/>
          <p:cNvSpPr/>
          <p:nvPr/>
        </p:nvSpPr>
        <p:spPr>
          <a:xfrm>
            <a:off x="640080" y="2578608"/>
            <a:ext cx="10515600" cy="512064"/>
          </a:xfrm>
          <a:prstGeom prst="rect">
            <a:avLst/>
          </a:prstGeom>
          <a:noFill/>
          <a:ln/>
        </p:spPr>
        <p:txBody>
          <a:bodyPr wrap="square" lIns="0" tIns="0" rIns="0" bIns="0" rtlCol="0" anchor="ctr"/>
          <a:lstStyle/>
          <a:p>
            <a:pPr marL="0" indent="0">
              <a:buNone/>
            </a:pPr>
            <a:r>
              <a:rPr lang="en-US" sz="1150" dirty="0">
                <a:solidFill>
                  <a:srgbClr val="6E7781"/>
                </a:solidFill>
                <a:latin typeface="Calibri" pitchFamily="34" charset="0"/>
                <a:ea typeface="Calibri" pitchFamily="34" charset="-122"/>
                <a:cs typeface="Calibri" pitchFamily="34" charset="-120"/>
              </a:rPr>
              <a:t>A gap is undetectable. A quiet cell and a thirty-minute outage look identical. The story asks for "no gaps"; today you cannot observe one.</a:t>
            </a:r>
            <a:endParaRPr lang="en-US" sz="1150" dirty="0"/>
          </a:p>
        </p:txBody>
      </p:sp>
      <p:sp>
        <p:nvSpPr>
          <p:cNvPr id="10" name="Text 8"/>
          <p:cNvSpPr/>
          <p:nvPr/>
        </p:nvSpPr>
        <p:spPr>
          <a:xfrm>
            <a:off x="640080" y="3200400"/>
            <a:ext cx="10515600" cy="292608"/>
          </a:xfrm>
          <a:prstGeom prst="rect">
            <a:avLst/>
          </a:prstGeom>
          <a:noFill/>
          <a:ln/>
        </p:spPr>
        <p:txBody>
          <a:bodyPr wrap="square" lIns="0" tIns="0" rIns="0" bIns="0" rtlCol="0" anchor="ctr"/>
          <a:lstStyle/>
          <a:p>
            <a:pPr marL="0" indent="0">
              <a:buNone/>
            </a:pPr>
            <a:r>
              <a:rPr lang="en-US" sz="1300" b="1" dirty="0">
                <a:solidFill>
                  <a:srgbClr val="1C1F26"/>
                </a:solidFill>
                <a:latin typeface="Calibri" pitchFamily="34" charset="0"/>
                <a:ea typeface="Calibri" pitchFamily="34" charset="-122"/>
                <a:cs typeface="Calibri" pitchFamily="34" charset="-120"/>
              </a:rPr>
              <a:t>Whole-second timestamps</a:t>
            </a:r>
            <a:endParaRPr lang="en-US" sz="1300" dirty="0"/>
          </a:p>
        </p:txBody>
      </p:sp>
      <p:sp>
        <p:nvSpPr>
          <p:cNvPr id="11" name="Text 9"/>
          <p:cNvSpPr/>
          <p:nvPr/>
        </p:nvSpPr>
        <p:spPr>
          <a:xfrm>
            <a:off x="640080" y="3493008"/>
            <a:ext cx="10515600" cy="512064"/>
          </a:xfrm>
          <a:prstGeom prst="rect">
            <a:avLst/>
          </a:prstGeom>
          <a:noFill/>
          <a:ln/>
        </p:spPr>
        <p:txBody>
          <a:bodyPr wrap="square" lIns="0" tIns="0" rIns="0" bIns="0" rtlCol="0" anchor="ctr"/>
          <a:lstStyle/>
          <a:p>
            <a:pPr marL="0" indent="0">
              <a:buNone/>
            </a:pPr>
            <a:r>
              <a:rPr lang="en-US" sz="1150" dirty="0">
                <a:solidFill>
                  <a:srgbClr val="6E7781"/>
                </a:solidFill>
                <a:latin typeface="Calibri" pitchFamily="34" charset="0"/>
                <a:ea typeface="Calibri" pitchFamily="34" charset="-122"/>
                <a:cs typeface="Calibri" pitchFamily="34" charset="-120"/>
              </a:rPr>
              <a:t>stop.requested 07:15:33 → motion.halted 07:15:34. a3's measurement is capped at 1s, and same-second events are unorderable.</a:t>
            </a:r>
            <a:endParaRPr lang="en-US" sz="1150" dirty="0"/>
          </a:p>
        </p:txBody>
      </p:sp>
      <p:sp>
        <p:nvSpPr>
          <p:cNvPr id="12" name="Text 10"/>
          <p:cNvSpPr/>
          <p:nvPr/>
        </p:nvSpPr>
        <p:spPr>
          <a:xfrm>
            <a:off x="640080" y="4114800"/>
            <a:ext cx="10515600" cy="292608"/>
          </a:xfrm>
          <a:prstGeom prst="rect">
            <a:avLst/>
          </a:prstGeom>
          <a:noFill/>
          <a:ln/>
        </p:spPr>
        <p:txBody>
          <a:bodyPr wrap="square" lIns="0" tIns="0" rIns="0" bIns="0" rtlCol="0" anchor="ctr"/>
          <a:lstStyle/>
          <a:p>
            <a:pPr marL="0" indent="0">
              <a:buNone/>
            </a:pPr>
            <a:r>
              <a:rPr lang="en-US" sz="1300" b="1" dirty="0">
                <a:solidFill>
                  <a:srgbClr val="1C1F26"/>
                </a:solidFill>
                <a:latin typeface="Calibri" pitchFamily="34" charset="0"/>
                <a:ea typeface="Calibri" pitchFamily="34" charset="-122"/>
                <a:cs typeface="Calibri" pitchFamily="34" charset="-120"/>
              </a:rPr>
              <a:t>No clock authority</a:t>
            </a:r>
            <a:endParaRPr lang="en-US" sz="1300" dirty="0"/>
          </a:p>
        </p:txBody>
      </p:sp>
      <p:sp>
        <p:nvSpPr>
          <p:cNvPr id="13" name="Text 11"/>
          <p:cNvSpPr/>
          <p:nvPr/>
        </p:nvSpPr>
        <p:spPr>
          <a:xfrm>
            <a:off x="640080" y="4407408"/>
            <a:ext cx="10515600" cy="512064"/>
          </a:xfrm>
          <a:prstGeom prst="rect">
            <a:avLst/>
          </a:prstGeom>
          <a:noFill/>
          <a:ln/>
        </p:spPr>
        <p:txBody>
          <a:bodyPr wrap="square" lIns="0" tIns="0" rIns="0" bIns="0" rtlCol="0" anchor="ctr"/>
          <a:lstStyle/>
          <a:p>
            <a:pPr marL="0" indent="0">
              <a:buNone/>
            </a:pPr>
            <a:r>
              <a:rPr lang="en-US" sz="1150" dirty="0">
                <a:solidFill>
                  <a:srgbClr val="6E7781"/>
                </a:solidFill>
                <a:latin typeface="Calibri" pitchFamily="34" charset="0"/>
                <a:ea typeface="Calibri" pitchFamily="34" charset="-122"/>
                <a:cs typeface="Calibri" pitchFamily="34" charset="-120"/>
              </a:rPr>
              <a:t>An NTP step or a reboot mid-outage moves timestamps backwards. Ordering a reconciled buffer by ts is unsafe.</a:t>
            </a:r>
            <a:endParaRPr lang="en-US" sz="1150" dirty="0"/>
          </a:p>
        </p:txBody>
      </p:sp>
      <p:sp>
        <p:nvSpPr>
          <p:cNvPr id="14" name="Text 12"/>
          <p:cNvSpPr/>
          <p:nvPr/>
        </p:nvSpPr>
        <p:spPr>
          <a:xfrm>
            <a:off x="640080" y="5029200"/>
            <a:ext cx="10515600" cy="292608"/>
          </a:xfrm>
          <a:prstGeom prst="rect">
            <a:avLst/>
          </a:prstGeom>
          <a:noFill/>
          <a:ln/>
        </p:spPr>
        <p:txBody>
          <a:bodyPr wrap="square" lIns="0" tIns="0" rIns="0" bIns="0" rtlCol="0" anchor="ctr"/>
          <a:lstStyle/>
          <a:p>
            <a:pPr marL="0" indent="0">
              <a:buNone/>
            </a:pPr>
            <a:r>
              <a:rPr lang="en-US" sz="1300" b="1" dirty="0">
                <a:solidFill>
                  <a:srgbClr val="1C1F26"/>
                </a:solidFill>
                <a:latin typeface="Calibri" pitchFamily="34" charset="0"/>
                <a:ea typeface="Calibri" pitchFamily="34" charset="-122"/>
                <a:cs typeface="Calibri" pitchFamily="34" charset="-120"/>
              </a:rPr>
              <a:t>run.paused is overloaded</a:t>
            </a:r>
            <a:endParaRPr lang="en-US" sz="1300" dirty="0"/>
          </a:p>
        </p:txBody>
      </p:sp>
      <p:sp>
        <p:nvSpPr>
          <p:cNvPr id="15" name="Text 13"/>
          <p:cNvSpPr/>
          <p:nvPr/>
        </p:nvSpPr>
        <p:spPr>
          <a:xfrm>
            <a:off x="640080" y="5321808"/>
            <a:ext cx="10515600" cy="512064"/>
          </a:xfrm>
          <a:prstGeom prst="rect">
            <a:avLst/>
          </a:prstGeom>
          <a:noFill/>
          <a:ln/>
        </p:spPr>
        <p:txBody>
          <a:bodyPr wrap="square" lIns="0" tIns="0" rIns="0" bIns="0" rtlCol="0" anchor="ctr"/>
          <a:lstStyle/>
          <a:p>
            <a:pPr marL="0" indent="0">
              <a:buNone/>
            </a:pPr>
            <a:r>
              <a:rPr lang="en-US" sz="1150" dirty="0">
                <a:solidFill>
                  <a:srgbClr val="6E7781"/>
                </a:solidFill>
                <a:latin typeface="Calibri" pitchFamily="34" charset="0"/>
                <a:ea typeface="Calibri" pitchFamily="34" charset="-122"/>
                <a:cs typeface="Calibri" pitchFamily="34" charset="-120"/>
              </a:rPr>
              <a:t>reason "estop" and reason "material_reload" share one event type. An audit log must distinguish safety from routine.</a:t>
            </a:r>
            <a:endParaRPr lang="en-US" sz="1150" dirty="0"/>
          </a:p>
        </p:txBody>
      </p:sp>
      <p:sp>
        <p:nvSpPr>
          <p:cNvPr id="16" name="Text 14"/>
          <p:cNvSpPr/>
          <p:nvPr/>
        </p:nvSpPr>
        <p:spPr>
          <a:xfrm>
            <a:off x="640080" y="6035040"/>
            <a:ext cx="10881360" cy="512064"/>
          </a:xfrm>
          <a:prstGeom prst="rect">
            <a:avLst/>
          </a:prstGeom>
          <a:noFill/>
          <a:ln/>
        </p:spPr>
        <p:txBody>
          <a:bodyPr wrap="square" lIns="0" tIns="0" rIns="0" bIns="0" rtlCol="0" anchor="ctr"/>
          <a:lstStyle/>
          <a:p>
            <a:pPr marL="0" indent="0">
              <a:buNone/>
            </a:pPr>
            <a:r>
              <a:rPr lang="en-US" sz="1150" dirty="0">
                <a:solidFill>
                  <a:srgbClr val="1C1F26"/>
                </a:solidFill>
                <a:latin typeface="Calibri" pitchFamily="34" charset="0"/>
                <a:ea typeface="Calibri" pitchFamily="34" charset="-122"/>
                <a:cs typeface="Calibri" pitchFamily="34" charset="-120"/>
              </a:rPr>
              <a:t>Required envelope: eventId · seq · bootId · millisecond ts · monotonicUs · class. Plus at-least-once delivery with idempotent receive. Buffer sizing is trivial once the schema is right — the difficulty was never volume.</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161</TotalTime>
  <Words>3311</Words>
  <Application>Microsoft Macintosh PowerPoint</Application>
  <PresentationFormat>Widescreen</PresentationFormat>
  <Paragraphs>439</Paragraphs>
  <Slides>17</Slides>
  <Notes>17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AUAR — Delivery plan, decisions, and two build slices</dc:title>
  <dc:subject>PptxGenJS Presentation</dc:subject>
  <dc:creator>Software Engineering Lead</dc:creator>
  <cp:lastModifiedBy>Chris Tanseer</cp:lastModifiedBy>
  <cp:revision>4</cp:revision>
  <dcterms:created xsi:type="dcterms:W3CDTF">2026-08-25T17:54:48Z</dcterms:created>
  <dcterms:modified xsi:type="dcterms:W3CDTF">2026-08-25T21:25:34Z</dcterms:modified>
</cp:coreProperties>
</file>